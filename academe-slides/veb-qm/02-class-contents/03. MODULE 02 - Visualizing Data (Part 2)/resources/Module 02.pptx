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510" r:id="rId2"/>
    <p:sldId id="511" r:id="rId3"/>
    <p:sldId id="512" r:id="rId4"/>
    <p:sldId id="520" r:id="rId5"/>
    <p:sldId id="521" r:id="rId6"/>
    <p:sldId id="522" r:id="rId7"/>
    <p:sldId id="523" r:id="rId8"/>
    <p:sldId id="493" r:id="rId9"/>
    <p:sldId id="517" r:id="rId10"/>
    <p:sldId id="518" r:id="rId11"/>
    <p:sldId id="519" r:id="rId12"/>
    <p:sldId id="524" r:id="rId13"/>
    <p:sldId id="525" r:id="rId14"/>
    <p:sldId id="563" r:id="rId15"/>
    <p:sldId id="566" r:id="rId16"/>
    <p:sldId id="564" r:id="rId17"/>
    <p:sldId id="565" r:id="rId18"/>
    <p:sldId id="567" r:id="rId19"/>
    <p:sldId id="526" r:id="rId20"/>
    <p:sldId id="528" r:id="rId21"/>
    <p:sldId id="530" r:id="rId22"/>
    <p:sldId id="531" r:id="rId23"/>
    <p:sldId id="568" r:id="rId24"/>
    <p:sldId id="533" r:id="rId25"/>
    <p:sldId id="534" r:id="rId26"/>
    <p:sldId id="535" r:id="rId27"/>
    <p:sldId id="536" r:id="rId28"/>
    <p:sldId id="538" r:id="rId29"/>
    <p:sldId id="539" r:id="rId30"/>
    <p:sldId id="541" r:id="rId31"/>
    <p:sldId id="542" r:id="rId32"/>
    <p:sldId id="543" r:id="rId33"/>
    <p:sldId id="544" r:id="rId34"/>
    <p:sldId id="545" r:id="rId35"/>
    <p:sldId id="546" r:id="rId36"/>
    <p:sldId id="547" r:id="rId37"/>
    <p:sldId id="569" r:id="rId38"/>
    <p:sldId id="548" r:id="rId39"/>
    <p:sldId id="549" r:id="rId40"/>
    <p:sldId id="550" r:id="rId41"/>
    <p:sldId id="551" r:id="rId42"/>
    <p:sldId id="570" r:id="rId43"/>
    <p:sldId id="571" r:id="rId44"/>
    <p:sldId id="555" r:id="rId45"/>
    <p:sldId id="556" r:id="rId46"/>
    <p:sldId id="558" r:id="rId47"/>
    <p:sldId id="559" r:id="rId48"/>
    <p:sldId id="560" r:id="rId49"/>
    <p:sldId id="561" r:id="rId50"/>
    <p:sldId id="562" r:id="rId51"/>
    <p:sldId id="40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61D"/>
    <a:srgbClr val="FFD33A"/>
    <a:srgbClr val="F8FFB3"/>
    <a:srgbClr val="E7E7E7"/>
    <a:srgbClr val="CBCBCB"/>
    <a:srgbClr val="212020"/>
    <a:srgbClr val="B88BD9"/>
    <a:srgbClr val="EAFF1F"/>
    <a:srgbClr val="F3E4C8"/>
    <a:srgbClr val="343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 autoAdjust="0"/>
    <p:restoredTop sz="92787" autoAdjust="0"/>
  </p:normalViewPr>
  <p:slideViewPr>
    <p:cSldViewPr snapToGrid="0">
      <p:cViewPr>
        <p:scale>
          <a:sx n="200" d="100"/>
          <a:sy n="200" d="100"/>
        </p:scale>
        <p:origin x="-2645" y="-22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5BA0E-AA0B-4037-9619-089EDE7CA236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00CD2-E09E-4B84-9D43-4ABA8F0A23A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399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5D42-EA49-742B-0076-11BF116A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5E4F3-6AAC-6D8C-DD7A-58D5AAC6A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3E432-12BA-E28D-CBF3-39206B55B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FBF13-866D-15F4-8906-38DA7FD34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549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5D42-EA49-742B-0076-11BF116A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5E4F3-6AAC-6D8C-DD7A-58D5AAC6A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3E432-12BA-E28D-CBF3-39206B55B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FBF13-866D-15F4-8906-38DA7FD34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3846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74C8-0FFC-3761-1CE4-21E83044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59519-100A-01D7-4DA0-81F28B4BF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89809-3696-1B99-C0C8-9F7607910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A9466-3AAF-679D-FACC-1A13FCBA6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045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191B-8FCA-1D71-BE76-FD8AA200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670E1-3B51-731E-7A24-936436EC4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DCF7C-9039-9F88-4373-57D0E3F39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F2FB0-F935-EDF6-C987-62B378580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208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2778-5B85-D1CF-754D-19BD0409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66086-42F7-24B0-DD7D-58B9DFFF5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A3C4A-4128-5DAC-1346-4ABA541B0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2E015-5160-A86A-04DB-4FC1293A8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617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DA89A-E38F-7149-4571-177CE2F7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E5EA1-4A38-33C9-C30D-0A6BB8DF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D19A5-8F10-0408-C9E4-AC1E5DFF6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4EC75-52DE-C6DD-E1FE-DA7D10BEC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734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DC44-DF0F-A47B-A581-CA42CD62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1B8B5-ACEC-E215-85BA-A0256CFCB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B7744-4322-7AF6-0DA0-87CF5C769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31E78-96D5-D98F-4FF7-B837E64AA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8351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F580-E80A-1BE1-DA2C-E26CA5BF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CD289-3FA9-5C34-DE68-1FE192184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6B094-9BF6-534F-4C1A-2B4599E97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B628-3B47-CC50-FDDB-EC81C9EE1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44277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1363-D0F9-98B2-5F2E-92DB6100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AE73F-3D11-33A3-C96A-AF59ABB95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32A2F-A414-8B2F-14F5-6DB167516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9942C-CEC8-D3D4-95DA-C14401C2F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4096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3935-3FA9-E918-42AB-6321A9C6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13EAB-AC02-8973-FB08-225B72B84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839B6-7E31-B763-3D27-1CEE527E6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CE83C-4093-CAC1-21CF-F003728EB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8207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2BF9-43BA-1EBD-ED84-9B1FCF8C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471AA-19E8-7426-D071-619B5DCB4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7FDDF-BC89-5152-917C-94540D465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003D2-8A97-0EC2-04EE-CDD38EB93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893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5333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5916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1677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4712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2977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4BD9-82E1-A5EA-B5A1-BFE348ED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28E06-85BE-42F4-0D0E-B857D51AA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20481-9871-DD49-B5D5-86A849931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2D0E-BC05-8F0B-FE85-C6D9A627D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3902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7128-DA89-CBAB-FCA6-417D33A7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01903-11FE-E6C6-1927-0EF34250B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B427B-6311-2F43-4342-EF2B8F96E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E1F8E-B744-DCDC-8D77-88ED844EE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1357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3834-4B3A-885B-892B-A339A019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8D853-1A4E-7AB7-3B46-67A92D0B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A0FFF-AEA3-F5B2-ECAE-EADE21B6A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106BA-58EA-408F-9EEC-86DF9146F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7028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4656-2BDA-49ED-4899-5BEBE8FB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A7534-74C3-17C1-BDAA-86ED1FA8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39719-421A-FBCA-B292-86ABC574A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A67B-1B65-E1F3-14C5-1C236F2DF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4472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B2BA-7F8C-69FC-FC5D-6148BD67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66231-41B4-3E3B-41E6-A5C1A494E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CC980-5365-C731-88E2-CB48A88CA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6FF73-237B-87CA-1C39-212C1BF3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0931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879-4081-6790-5AE4-831EC2A0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11EE2-77FB-31CA-187C-8A47EDAD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92A37-93B7-6CB5-CF27-8A21EBEC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20428-70D9-91E9-902F-AEECE06E7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162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75F4-E10D-28EE-925B-7B807710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66101-4148-A352-CB0E-56F0FA79D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321F3-C314-A6D9-D97F-17E42A675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EBBDA-CEFC-97A0-E7D6-7A922B6A7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6837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7144-BE2F-EF4F-FE9C-1DBA66E0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EAAC9-5AC4-0FF4-9CC8-A654F65E1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7706F-1EBF-0690-5601-C0057E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E8386-FA93-798B-FA45-738DD539B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2521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7851-459D-A600-EADF-25B06D24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B8F8F-0628-5F12-7C17-CD54249AE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882D4-C3C7-3903-CBBF-C106FBA3F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A40A5-721D-9C39-8380-F09AD0631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2796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35F6-5B1F-22F3-60E2-2B175D9D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9E064-C0FA-781C-177E-3DF2F5F07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2C5C4-5D6C-95B6-FDBD-BBB243EC8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ECA5-3244-2D8D-6BD1-9236D9A2A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4685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0EDF-B1EC-4466-3B7B-72908063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6B786-E0A7-2B91-E6AC-1BB121D64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EB5FC-E68E-36E8-4361-58EAFC5F4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9BDA3-1762-79BD-A1AC-50A89E0D8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50783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52DA-6BCE-07DE-3EB2-F00DB8E9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6FA44-A3CE-8454-3F0B-7D25DD162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528E2-9476-1AF2-18C0-8A2A2736F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DB7F4-686A-FFCE-3C2B-CB0749A3D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86914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9C07D-070C-7F1E-60F1-AB2745E8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3F971-7D2E-BD78-6403-D5C74FA9F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4276A-3D35-4975-CCD0-668959F2B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9E5D2-9564-53CB-5275-C929AC0C4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4482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CCAF7-884A-8244-F6A4-E0782CAB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046A3-2EF8-FA85-64EC-65BB83DA9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7FE20-4FE2-DE0D-A260-31E9C85E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09BA-7D4A-32E2-0FCD-AF0C1FFB6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48447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B782-19E1-2DE3-E84D-7114CD5F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870DC-DDB9-4C92-3DF5-169E35EA5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674FD-9512-8DDC-9F30-B4D4CCE82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0310C-19B4-B70D-3012-135071469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29256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1F54-458F-E7CE-6543-91812B31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7C0F5-1520-3875-393D-A9653178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DD993-2151-CA8D-F13D-075757D03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02C2-6307-343D-795C-9DB1607B1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703391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DDA95-C3CA-9B19-CA64-8996A800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CEE6B-12B6-29DB-2D91-267A34D15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BE3A3-D6B3-5437-BA0F-E67D84E6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87A32-FBEC-A13D-C081-6DBEF6DFD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43931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C9C8-744B-9FD3-FE07-449FA0D4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7A446-3B62-11A0-0FCB-2C07127B9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EE41A-B8AB-1DCC-A648-52218D11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D80A-E58D-30F3-A015-009D665C0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216227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651E-561C-9CCE-E5CC-01009265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9F511-1BE7-C1E7-C2DA-1B2FABF8B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C4B34-8B36-1D7E-F5C1-318F69BD4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9832-EE8C-1B10-9789-E79322712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37174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580B-E496-DE0D-CDD3-5EF77E8D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CA493-BBB9-39ED-F4C3-C23763232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DE25C-4720-1CD1-74E5-EAA67BBFC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DBF68-A3DC-2C4B-1396-B05F8E0DA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2264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8628-0AA3-1EDA-C40F-02A6356B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BD449-F303-3E61-7FF2-B910CCF3A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AF42E-F4E7-8161-ED29-AFB1FA1FA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B691-DADB-F8B9-D58F-EB077FFA3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72815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54D0-A706-D39C-83CE-A519CD39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DD458-CA00-EEEC-9814-47A6A0786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4490E-E6D9-7583-94BC-D40ED5F0E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520D3-A9C8-8ABA-B73D-42F761480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09158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2053-2108-6B5B-C3B3-0CE654D9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7CF5C-C298-C325-03CB-2B5506EBE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74923-6894-5AE1-B400-596284B73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0222D-AFB9-E680-0498-EA43104DD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51007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1F32-9891-F5D5-4E73-DC500311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1ECDD-02BE-C580-0A35-AAB38E394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0E6F3-6DB2-598D-39EE-112D98EC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0C6A-E4ED-EE6B-7459-8223A5AA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93608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1F32-9891-F5D5-4E73-DC500311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1ECDD-02BE-C580-0A35-AAB38E394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0E6F3-6DB2-598D-39EE-112D98EC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0C6A-E4ED-EE6B-7459-8223A5AA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871764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1F32-9891-F5D5-4E73-DC500311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1ECDD-02BE-C580-0A35-AAB38E394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0E6F3-6DB2-598D-39EE-112D98EC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0C6A-E4ED-EE6B-7459-8223A5AA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59427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1F32-9891-F5D5-4E73-DC500311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1ECDD-02BE-C580-0A35-AAB38E394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0E6F3-6DB2-598D-39EE-112D98EC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0C6A-E4ED-EE6B-7459-8223A5AA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800CD2-E09E-4B84-9D43-4ABA8F0A23AC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879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3C87-2ECA-44C6-B359-0E5E6A450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CAB70-65FE-438A-9663-C69CC2E61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4E75A-0E73-4021-B2A5-0ECF67D3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803C-2E6C-4549-8276-62EC15F8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8EE8-7E30-46B5-B0CB-DDEE1160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02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C6DD-5ED2-45DA-B1C0-5DD9F55A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81D5E-A351-4C38-898F-E6F6DE8A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B824-0F31-4415-8EAE-4757A1C5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9D34-C441-40C2-8A7D-50494CBE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0A93-4B17-4FA6-BBC5-22595886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685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1367-F6B0-45A7-8687-977FCE93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0ABD-FA47-40A4-9D2C-B31B5950F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D4AEE-37E5-470C-A782-3B564A8A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F3833-4326-4188-BD8D-4AED0CB3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5EF2-2F44-4554-8F2F-F45646B5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026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70AA-BAAD-4CCA-8FA9-B10A62DB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8696-DCAB-486B-9C10-CE6D7A1A6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41CB2-A3F2-4D8F-9D71-E8F15E9F7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751FE-0B5F-407E-A287-50391EC8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EA7D4-5C33-4CB1-A277-074E0D0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9CB64-0E29-4E9E-B462-5811AAAA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054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2B5A-857E-4166-B856-66B469C6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BD2D0-1AD6-41A3-A95B-94FF1AC2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0EF70-22CB-464F-9707-05AA44F30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6E5B7-5975-4FE7-81C6-67FA39D96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5FB9E-3946-46E5-A56D-8513F8B6A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98E59-A908-46CC-868A-0748DF60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92ACD-750D-483A-B028-5C0995B5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C3FBB-66B4-4A76-B304-49E65528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40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F799-B7D0-4DB6-B4F5-30CCA630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277E-3EFB-4007-A152-495E9491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6CF62-E407-4930-841B-41971092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ED712-F569-4D02-B9A0-B5013EB8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89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DEA147-F731-42D9-9E14-31FE37D6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E43B8-578A-40CD-BD22-11B2D6E2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88520-FB85-4E49-9C4C-1299393B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303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5E37-01F0-4B74-956E-C09546A7A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3ABA7-F7EA-4178-88AA-24CD3E46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DBEFA-4ED5-4A81-956E-289A68631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F7AAC-849C-42FE-AAA0-46B68F16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5A79-78C9-4DC2-BDE9-EE71E5D4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77E3B-B882-4F7C-A310-FEAC7C93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644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6E2E-5E31-4639-9B74-6CA6D4EC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F2CEE-2177-448B-BFD6-66873F481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4617B-A621-4009-8708-73833504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5966B-3DA0-4007-AD6B-F122F00D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128BF-4F14-4978-9EDA-A8E99E8B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667D9-74BD-4985-ACCC-A6ABB308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512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8C01-4D6E-4423-A6D9-C7A0EABE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174CC-E7E3-48EC-AFA2-D6D2E67EB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A4250-D3DD-4EAC-8AC2-5613444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CF42-A838-4562-A484-7734F736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0316-788E-4EFE-ABA0-DEE336C8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58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93E31-4DE5-45F0-A207-F24FAD289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0451B-15E7-4889-887D-F31716998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2A6E-813B-4E99-B1AF-41759DE0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29227-54A6-4E9B-AD79-F16FEF4E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C8EB-3431-4E93-A2A2-681FEA84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082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D20C9-086C-4F9B-B8CF-0DC4954C5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9BFC4-1346-4546-9E66-712F983B5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977F1-D61B-4A72-A6A0-61FC0A83C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17B23-67B6-4886-9449-ED9003FB629F}" type="datetimeFigureOut">
              <a:rPr lang="en-PH" smtClean="0"/>
              <a:t>01/03/2026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FDE6-1EAD-4C61-B13C-C49E90471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4E5D6-6CDF-4A97-AB3A-76AFE72D0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9CDED-4B21-4AC0-B153-3EB80A9994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821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251B-C8B0-9DCF-4AFA-C230EBE9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6693BFA-417B-5D74-28AB-F1F75CC5914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6AA7CEC0-B6B7-1030-F366-9E99291E272A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E6AB078-CAA4-9A00-90F6-C2633F7EF24E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AE2BD0E-7D79-5A0E-3332-A01FF32E06AB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5C0EA86-D6A9-73A4-2FC4-40022B504F6C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33283364-915D-524F-6526-7111B562DF18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151256B-827F-B1EC-913E-0AA8358BDD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3C018AE-B3FD-56CA-936C-F245CB38AA46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A200A0-35C1-A816-5709-8206D2DA51C2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E4C6464-A2D4-7BA7-6C99-C09CDF90F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C3C6B1C3-3D88-7473-C760-8BFADCC064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60D0C76F-2DEA-79BE-ADB8-99531D53F480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80EFE43B-7EE0-3C58-3D65-DFBBAE42844F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BA91D315-2CB4-8D61-893E-A38E257B95D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02.01 – TWO-WAY TABLE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70EDA7-E08C-2458-2FE5-9155F430ECD1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8B7132-E914-3099-3BB7-C12B967F6F28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A94DE088-89F0-5910-CC15-5B86C5057E6D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75C762-8196-7836-D745-9CA782D080E7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A80737-BB0B-F427-7167-D39DFBFDE8D3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90D17A-8CA7-4B76-85F5-427D22E431E9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3" name="TextBox 10">
              <a:extLst>
                <a:ext uri="{FF2B5EF4-FFF2-40B4-BE49-F238E27FC236}">
                  <a16:creationId xmlns:a16="http://schemas.microsoft.com/office/drawing/2014/main" id="{A8100D9A-0AE9-BD98-1E04-5A4A9E0D2B6B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67FBB494-10AE-4EF0-36BF-FB4C7ED57C52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286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9CFA-3E06-35FF-B157-DA8646F0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68DAB8-CBE8-5B1F-92B5-30D8AC04481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522A66-D966-6AD0-2C20-01AA68095B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952D-021C-D055-2519-18B2E28FD3A8}"/>
              </a:ext>
            </a:extLst>
          </p:cNvPr>
          <p:cNvSpPr txBox="1">
            <a:spLocks/>
          </p:cNvSpPr>
          <p:nvPr/>
        </p:nvSpPr>
        <p:spPr>
          <a:xfrm>
            <a:off x="1993580" y="980933"/>
            <a:ext cx="5885500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tables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data from one variable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E4D4CAA-DF92-497E-AF97-F7A344F535DC}"/>
              </a:ext>
            </a:extLst>
          </p:cNvPr>
          <p:cNvSpPr txBox="1">
            <a:spLocks/>
          </p:cNvSpPr>
          <p:nvPr/>
        </p:nvSpPr>
        <p:spPr>
          <a:xfrm>
            <a:off x="1993580" y="1652001"/>
            <a:ext cx="8333312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Two-way tables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data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categorical variables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6FC09B6F-5B04-4554-9438-CF371478B5CA}"/>
              </a:ext>
            </a:extLst>
          </p:cNvPr>
          <p:cNvSpPr txBox="1">
            <a:spLocks/>
          </p:cNvSpPr>
          <p:nvPr/>
        </p:nvSpPr>
        <p:spPr>
          <a:xfrm>
            <a:off x="1993580" y="2351135"/>
            <a:ext cx="3180400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tables have: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FA0685EF-2D2A-44D2-AE0E-D1D67D7DDA45}"/>
              </a:ext>
            </a:extLst>
          </p:cNvPr>
          <p:cNvSpPr txBox="1">
            <a:spLocks/>
          </p:cNvSpPr>
          <p:nvPr/>
        </p:nvSpPr>
        <p:spPr>
          <a:xfrm>
            <a:off x="2779396" y="3022205"/>
            <a:ext cx="5351144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Times New Roman" panose="02020603050405020304" pitchFamily="18" charset="0"/>
              <a:buChar char="⁃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independent variable (individuals)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DC10EDC7-56EC-45B5-9285-9B4317D8E102}"/>
              </a:ext>
            </a:extLst>
          </p:cNvPr>
          <p:cNvSpPr txBox="1">
            <a:spLocks/>
          </p:cNvSpPr>
          <p:nvPr/>
        </p:nvSpPr>
        <p:spPr>
          <a:xfrm>
            <a:off x="2779396" y="3566160"/>
            <a:ext cx="5351144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Times New Roman" panose="02020603050405020304" pitchFamily="18" charset="0"/>
              <a:buChar char="⁃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variables (measured values)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EFA2E1A1-4387-43F3-9F3F-ADE63F7CB632}"/>
              </a:ext>
            </a:extLst>
          </p:cNvPr>
          <p:cNvSpPr txBox="1">
            <a:spLocks/>
          </p:cNvSpPr>
          <p:nvPr/>
        </p:nvSpPr>
        <p:spPr>
          <a:xfrm>
            <a:off x="1993580" y="4447728"/>
            <a:ext cx="6533200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Two-way tables have: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019F2F4-423F-405F-B353-4B06197FEFA1}"/>
              </a:ext>
            </a:extLst>
          </p:cNvPr>
          <p:cNvSpPr txBox="1">
            <a:spLocks/>
          </p:cNvSpPr>
          <p:nvPr/>
        </p:nvSpPr>
        <p:spPr>
          <a:xfrm>
            <a:off x="2779396" y="4925295"/>
            <a:ext cx="6022308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Times New Roman" panose="02020603050405020304" pitchFamily="18" charset="0"/>
              <a:buChar char="⁃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independent categories affecting the data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BCC894E3-40DB-469E-9741-2C9279996F7A}"/>
              </a:ext>
            </a:extLst>
          </p:cNvPr>
          <p:cNvSpPr txBox="1">
            <a:spLocks/>
          </p:cNvSpPr>
          <p:nvPr/>
        </p:nvSpPr>
        <p:spPr>
          <a:xfrm>
            <a:off x="1993579" y="5551883"/>
            <a:ext cx="8797590" cy="404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is best understood by comparing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tables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EBE3B1-8BB1-FFE3-16E6-55E03EADB41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12AAC1-E0D7-9AFE-F677-D4CD87F24F55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F062354C-ACC8-612B-8CAC-B06CCA06DF4A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046BBE-7504-55E5-563D-587549C9D3F9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8E23AF-9391-83DC-444F-17A60575C274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735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1" grpId="0"/>
      <p:bldP spid="22" grpId="0"/>
      <p:bldP spid="25" grpId="0"/>
      <p:bldP spid="26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9CFA-3E06-35FF-B157-DA8646F0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68DAB8-CBE8-5B1F-92B5-30D8AC04481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522A66-D966-6AD0-2C20-01AA68095B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4E4D562-16C7-416D-A99D-B5D638BD1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05633"/>
              </p:ext>
            </p:extLst>
          </p:nvPr>
        </p:nvGraphicFramePr>
        <p:xfrm>
          <a:off x="8592597" y="1018540"/>
          <a:ext cx="2540001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114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508852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₱482,000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₱421,500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₱513,000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₱544,000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₱678,000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₱721,000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₱704,500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₱596,000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₱634,000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₱815,500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₱942,000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  <p:sp>
        <p:nvSpPr>
          <p:cNvPr id="20" name="Subtitle 2">
            <a:extLst>
              <a:ext uri="{FF2B5EF4-FFF2-40B4-BE49-F238E27FC236}">
                <a16:creationId xmlns:a16="http://schemas.microsoft.com/office/drawing/2014/main" id="{F125A015-7F0F-4D80-BFD2-66B8B5AE82F8}"/>
              </a:ext>
            </a:extLst>
          </p:cNvPr>
          <p:cNvSpPr txBox="1">
            <a:spLocks/>
          </p:cNvSpPr>
          <p:nvPr/>
        </p:nvSpPr>
        <p:spPr>
          <a:xfrm>
            <a:off x="228600" y="1720147"/>
            <a:ext cx="8158406" cy="777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Suppose a small coffee shop opened in early 2019 in the Philippines. 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9E39167-CFE4-4539-BC47-EEBC984509D2}"/>
              </a:ext>
            </a:extLst>
          </p:cNvPr>
          <p:cNvSpPr txBox="1">
            <a:spLocks/>
          </p:cNvSpPr>
          <p:nvPr/>
        </p:nvSpPr>
        <p:spPr>
          <a:xfrm>
            <a:off x="228600" y="2930806"/>
            <a:ext cx="8158406" cy="777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By the end of 2022, it had been operating for four years, and its revenue steadily increased each year.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FC45B04E-A6B2-4101-A78A-14731DCC4E8B}"/>
              </a:ext>
            </a:extLst>
          </p:cNvPr>
          <p:cNvSpPr txBox="1">
            <a:spLocks/>
          </p:cNvSpPr>
          <p:nvPr/>
        </p:nvSpPr>
        <p:spPr>
          <a:xfrm>
            <a:off x="228600" y="4143016"/>
            <a:ext cx="8158407" cy="105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 we total the revenue earned for each month across all four years, we can summarize the data in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one-way table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774BFF-79B4-0E62-0A0B-C46C9D8FF1BF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A381F7-AA1E-0C81-17CB-DC2941759D0E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8778E4CF-75AC-D4EC-601E-77F7439BB82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493D0E-E158-8C34-4DF6-F1EDA4725C42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25D9EB-6837-E90E-CB25-C21A0ABC4D2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678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5F86-5DA4-CDC6-7081-37E6CF62C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8DAB8-CBE8-5B1F-92B5-30D8AC04481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22A66-D966-6AD0-2C20-01AA68095B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25A015-7F0F-4D80-BFD2-66B8B5AE82F8}"/>
              </a:ext>
            </a:extLst>
          </p:cNvPr>
          <p:cNvSpPr txBox="1">
            <a:spLocks/>
          </p:cNvSpPr>
          <p:nvPr/>
        </p:nvSpPr>
        <p:spPr>
          <a:xfrm>
            <a:off x="3720814" y="1205083"/>
            <a:ext cx="8158406" cy="77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left side;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are  the individuals (also called the independent variable).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9E39167-CFE4-4539-BC47-EEBC984509D2}"/>
              </a:ext>
            </a:extLst>
          </p:cNvPr>
          <p:cNvSpPr txBox="1">
            <a:spLocks/>
          </p:cNvSpPr>
          <p:nvPr/>
        </p:nvSpPr>
        <p:spPr>
          <a:xfrm>
            <a:off x="3620029" y="2286172"/>
            <a:ext cx="8158406" cy="428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variable (also called the dependent variable)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9F060B2-2906-4626-90DD-3A9C0C04B579}"/>
              </a:ext>
            </a:extLst>
          </p:cNvPr>
          <p:cNvSpPr txBox="1">
            <a:spLocks/>
          </p:cNvSpPr>
          <p:nvPr/>
        </p:nvSpPr>
        <p:spPr>
          <a:xfrm>
            <a:off x="3720814" y="3003867"/>
            <a:ext cx="8158406" cy="777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revenue the coffee shop earned only depends on one thing: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E265898-8A7A-4EBC-BC27-FEBB388888CA}"/>
              </a:ext>
            </a:extLst>
          </p:cNvPr>
          <p:cNvSpPr txBox="1">
            <a:spLocks/>
          </p:cNvSpPr>
          <p:nvPr/>
        </p:nvSpPr>
        <p:spPr>
          <a:xfrm>
            <a:off x="5802025" y="4200689"/>
            <a:ext cx="3794411" cy="428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ask questions like: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54C53B4-D466-49DE-A2C1-31BEC40C7644}"/>
              </a:ext>
            </a:extLst>
          </p:cNvPr>
          <p:cNvSpPr txBox="1">
            <a:spLocks/>
          </p:cNvSpPr>
          <p:nvPr/>
        </p:nvSpPr>
        <p:spPr>
          <a:xfrm>
            <a:off x="3720813" y="4742344"/>
            <a:ext cx="7956836" cy="428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“How much revenue was earned in July?”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54D834F3-DD85-4A6A-8F73-7034ED6FF8E1}"/>
              </a:ext>
            </a:extLst>
          </p:cNvPr>
          <p:cNvSpPr txBox="1">
            <a:spLocks/>
          </p:cNvSpPr>
          <p:nvPr/>
        </p:nvSpPr>
        <p:spPr>
          <a:xfrm>
            <a:off x="3720814" y="5245738"/>
            <a:ext cx="7956836" cy="428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“Which month had the highest total revenue?”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51177A-C16B-1685-EC56-EE4CD17C52B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4369FF-6A4D-6E91-2930-FCBAD69C5905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F46F7D81-727F-E6F9-0657-85575B122CC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6EBB57-39E5-C6D6-B30E-59791753126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120B5F-D575-2429-95D2-B7B34B9ECBF4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E16C87-FF34-108D-6EFD-EB8C22EC4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51821"/>
              </p:ext>
            </p:extLst>
          </p:nvPr>
        </p:nvGraphicFramePr>
        <p:xfrm>
          <a:off x="618927" y="1018539"/>
          <a:ext cx="2540001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114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508852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₱482,000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₱421,500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₱513,000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₱544,000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₱678,000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₱721,000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₱704,500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₱596,000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₱634,000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₱815,500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₱942,000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936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13" grpId="0"/>
      <p:bldP spid="7" grpId="0"/>
      <p:bldP spid="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62D1-DDB0-1926-2864-12A2D0DA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68DAB8-CBE8-5B1F-92B5-30D8AC04481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522A66-D966-6AD0-2C20-01AA68095B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22F88D-2CB5-BA17-354B-A4F53CEB3661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79798A-4211-9F0E-8778-DB70C18D4DD0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BB98D853-DDAF-D12B-B22B-8DDBE4736826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C86DC0-180C-8D56-2E04-E025850EA97D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71179-5213-E344-5CFC-948651F05F7B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1CAFE621-309F-4466-301C-389E4597EAF7}"/>
              </a:ext>
            </a:extLst>
          </p:cNvPr>
          <p:cNvSpPr txBox="1">
            <a:spLocks/>
          </p:cNvSpPr>
          <p:nvPr/>
        </p:nvSpPr>
        <p:spPr>
          <a:xfrm>
            <a:off x="3720814" y="1018540"/>
            <a:ext cx="8158406" cy="313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represent this as a bar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84797-5F26-EE05-5021-0E4355420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659" y="1365874"/>
            <a:ext cx="7008715" cy="50228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6FB737-A24D-AE60-9A79-B3A9D26B3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27989"/>
              </p:ext>
            </p:extLst>
          </p:nvPr>
        </p:nvGraphicFramePr>
        <p:xfrm>
          <a:off x="618927" y="1018539"/>
          <a:ext cx="2540001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114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508852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₱482,000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₱421,500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₱513,000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₱544,000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₱678,000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₱721,000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₱704,500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₱596,000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₱634,000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₱815,500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₱942,000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548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9833-8E01-5594-6875-54E1B634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68DAB8-CBE8-5B1F-92B5-30D8AC04481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522A66-D966-6AD0-2C20-01AA68095B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A25A999-BF3A-4F4B-9EA1-004B401CCC57}"/>
              </a:ext>
            </a:extLst>
          </p:cNvPr>
          <p:cNvSpPr txBox="1">
            <a:spLocks/>
          </p:cNvSpPr>
          <p:nvPr/>
        </p:nvSpPr>
        <p:spPr>
          <a:xfrm>
            <a:off x="3337560" y="4324351"/>
            <a:ext cx="875121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certainly gives us information about which months tend to be best for business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3DADB-6676-435B-A82F-CC037DEEFAFA}"/>
              </a:ext>
            </a:extLst>
          </p:cNvPr>
          <p:cNvSpPr txBox="1">
            <a:spLocks/>
          </p:cNvSpPr>
          <p:nvPr/>
        </p:nvSpPr>
        <p:spPr>
          <a:xfrm>
            <a:off x="3337560" y="4725459"/>
            <a:ext cx="875121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seem to be best.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5BB387A-5B7A-4AC5-B1FA-44BD2D1854B1}"/>
              </a:ext>
            </a:extLst>
          </p:cNvPr>
          <p:cNvSpPr txBox="1">
            <a:spLocks/>
          </p:cNvSpPr>
          <p:nvPr/>
        </p:nvSpPr>
        <p:spPr>
          <a:xfrm>
            <a:off x="3337560" y="5191126"/>
            <a:ext cx="8751210" cy="552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since the data is summarized, adding the revenue for January for all four years into one figure, and for February, for March, for April, etc.,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7E6243-D78C-BBF8-4DD1-7355821507EA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B86BA5-4C46-18B9-CB78-3E43AB91441A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3880506B-1EC5-FDF4-15DA-88156F9BB04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AF6A13-B3A7-5CEE-2DF1-CE1907B8BF79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00C68B-E54D-F481-200D-F5543965672E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22" name="Subtitle 2">
            <a:extLst>
              <a:ext uri="{FF2B5EF4-FFF2-40B4-BE49-F238E27FC236}">
                <a16:creationId xmlns:a16="http://schemas.microsoft.com/office/drawing/2014/main" id="{9039EE73-6656-5AAE-C935-DAB146ECED7B}"/>
              </a:ext>
            </a:extLst>
          </p:cNvPr>
          <p:cNvSpPr txBox="1">
            <a:spLocks/>
          </p:cNvSpPr>
          <p:nvPr/>
        </p:nvSpPr>
        <p:spPr>
          <a:xfrm>
            <a:off x="3720814" y="1018540"/>
            <a:ext cx="8158406" cy="313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represent this as a bar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E0A36-76BD-B9F4-A4A9-1B5642A60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954" y="1365874"/>
            <a:ext cx="3916422" cy="280672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63DDA0D1-8D36-BC2F-7D09-2066265293BA}"/>
              </a:ext>
            </a:extLst>
          </p:cNvPr>
          <p:cNvSpPr txBox="1">
            <a:spLocks/>
          </p:cNvSpPr>
          <p:nvPr/>
        </p:nvSpPr>
        <p:spPr>
          <a:xfrm>
            <a:off x="3337560" y="5877866"/>
            <a:ext cx="875121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one-way data doesn’t give us any insight into how the business has grown over time.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8DCAC2F-F6F2-E1BD-64F9-9D0CC00B3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27989"/>
              </p:ext>
            </p:extLst>
          </p:nvPr>
        </p:nvGraphicFramePr>
        <p:xfrm>
          <a:off x="618927" y="1018539"/>
          <a:ext cx="2540001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114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508852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₱482,000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₱421,500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₱513,000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₱544,000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₱678,000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₱721,000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₱704,500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₱596,000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₱634,000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₱815,500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₱942,000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194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1901-456D-4F2C-7421-785D561E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35781EF-2CBF-CA46-1F52-76897D203CF8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A9143E-80EC-B846-9CBB-A797781CA7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4718302-8044-A097-B025-30CB4C5AA592}"/>
              </a:ext>
            </a:extLst>
          </p:cNvPr>
          <p:cNvSpPr txBox="1">
            <a:spLocks/>
          </p:cNvSpPr>
          <p:nvPr/>
        </p:nvSpPr>
        <p:spPr>
          <a:xfrm>
            <a:off x="2016797" y="4750753"/>
            <a:ext cx="8158406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In a two-way table, each value depends on </a:t>
            </a:r>
            <a:r>
              <a:rPr lang="en-US" sz="1800" b="1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two variables</a:t>
            </a:r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 instead of one.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153E036-64C2-F2CA-B7B4-06577DE52FE8}"/>
              </a:ext>
            </a:extLst>
          </p:cNvPr>
          <p:cNvSpPr txBox="1">
            <a:spLocks/>
          </p:cNvSpPr>
          <p:nvPr/>
        </p:nvSpPr>
        <p:spPr>
          <a:xfrm>
            <a:off x="2016797" y="5149270"/>
            <a:ext cx="8158406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In a one-way table, revenue depends only on the </a:t>
            </a:r>
            <a:r>
              <a:rPr lang="en-US" sz="1800" b="1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month</a:t>
            </a:r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8F7F29D-CA9E-422E-C4CC-A9CBE9AC7C57}"/>
              </a:ext>
            </a:extLst>
          </p:cNvPr>
          <p:cNvSpPr txBox="1">
            <a:spLocks/>
          </p:cNvSpPr>
          <p:nvPr/>
        </p:nvSpPr>
        <p:spPr>
          <a:xfrm>
            <a:off x="2016797" y="5946304"/>
            <a:ext cx="8158406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We can graph the two-way table data in several ways.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A643E35-B217-F3E0-305D-E09F8BDB7485}"/>
              </a:ext>
            </a:extLst>
          </p:cNvPr>
          <p:cNvSpPr txBox="1">
            <a:spLocks/>
          </p:cNvSpPr>
          <p:nvPr/>
        </p:nvSpPr>
        <p:spPr>
          <a:xfrm>
            <a:off x="2016797" y="5547787"/>
            <a:ext cx="8158406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In a two-way table, revenue depends on both the </a:t>
            </a:r>
            <a:r>
              <a:rPr lang="en-US" sz="1800" b="1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year</a:t>
            </a:r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 and the </a:t>
            </a:r>
            <a:r>
              <a:rPr lang="en-US" sz="1800" b="1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month</a:t>
            </a:r>
            <a:r>
              <a:rPr lang="en-US" sz="1800" dirty="0">
                <a:latin typeface="Times New Roman" panose="02020603050405020304" pitchFamily="18" charset="0"/>
                <a:ea typeface="CMU Concrete" panose="02000603000000000000" pitchFamily="2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F7BAF9-2594-8B67-D734-65E135B09BB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9D2FF5-E895-8D76-12B3-9341558FAA80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509E3D6F-F816-372E-4D95-36F595479736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A92A53-0697-B442-97D9-F59B658A008E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AA2C2A6-56BD-3E0B-069B-9F825A72C00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C83787-B5F6-EB2D-87F3-FB84D66F0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863549"/>
              </p:ext>
            </p:extLst>
          </p:nvPr>
        </p:nvGraphicFramePr>
        <p:xfrm>
          <a:off x="3358541" y="633247"/>
          <a:ext cx="5474914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197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4672935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₱482,000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₱421,500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₱513,000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₱544,000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₱602,500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₱678,000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₱721,000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₱704,500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₱596,000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₱634,000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₱815,500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₱942,000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8C7F02-8C2F-58D2-0700-82B4D1B39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73827"/>
              </p:ext>
            </p:extLst>
          </p:nvPr>
        </p:nvGraphicFramePr>
        <p:xfrm>
          <a:off x="3358542" y="633246"/>
          <a:ext cx="5474913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8897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169004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169004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169004">
                  <a:extLst>
                    <a:ext uri="{9D8B030D-6E8A-4147-A177-3AD203B41FA5}">
                      <a16:colId xmlns:a16="http://schemas.microsoft.com/office/drawing/2014/main" val="1431432321"/>
                    </a:ext>
                  </a:extLst>
                </a:gridCol>
                <a:gridCol w="1169004">
                  <a:extLst>
                    <a:ext uri="{9D8B030D-6E8A-4147-A177-3AD203B41FA5}">
                      <a16:colId xmlns:a16="http://schemas.microsoft.com/office/drawing/2014/main" val="1078332372"/>
                    </a:ext>
                  </a:extLst>
                </a:gridCol>
              </a:tblGrid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170,500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273,500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289,500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29939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347,000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91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5B5D-0EB6-10AF-A030-1F470999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46F247-1C69-C16E-7FB8-3B783BF5DF25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B27D52-3016-2AB8-12F2-DF1DF41FFD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ONE-WAY VS TWO-WAY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3CA7B30-00DD-1A3B-D8ED-80C0A2C8C5AD}"/>
              </a:ext>
            </a:extLst>
          </p:cNvPr>
          <p:cNvSpPr txBox="1">
            <a:spLocks/>
          </p:cNvSpPr>
          <p:nvPr/>
        </p:nvSpPr>
        <p:spPr>
          <a:xfrm>
            <a:off x="6298768" y="942549"/>
            <a:ext cx="5255126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as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January 2014 to December 2017.</a:t>
            </a:r>
            <a:endParaRPr lang="en-US" sz="16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C144A-C27F-5105-0A1F-EB2F2F07F8F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0D77AC-1D24-C7B0-554E-89C193FD1CBE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B65ABCB8-1C8A-CFE3-298C-CEDB4E4EE347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686BB8-36DE-1BF1-D307-C557E43DDF69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D5A0BA-8B6C-0DA2-8EB6-7D7A1016F999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8" name="Subtitle 2">
            <a:extLst>
              <a:ext uri="{FF2B5EF4-FFF2-40B4-BE49-F238E27FC236}">
                <a16:creationId xmlns:a16="http://schemas.microsoft.com/office/drawing/2014/main" id="{7A2111F2-1063-C42B-49A2-2A34B53B45A8}"/>
              </a:ext>
            </a:extLst>
          </p:cNvPr>
          <p:cNvSpPr txBox="1">
            <a:spLocks/>
          </p:cNvSpPr>
          <p:nvPr/>
        </p:nvSpPr>
        <p:spPr>
          <a:xfrm>
            <a:off x="625075" y="5867684"/>
            <a:ext cx="10693759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giving the coffee shop’s revenue data in a two-way table, we get so much more insight into the business.</a:t>
            </a:r>
            <a:endParaRPr lang="en-US" sz="16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03DD98-266F-C24F-8766-527E1EC0C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83469"/>
              </p:ext>
            </p:extLst>
          </p:nvPr>
        </p:nvGraphicFramePr>
        <p:xfrm>
          <a:off x="395786" y="1416924"/>
          <a:ext cx="5117911" cy="41960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73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01584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092777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92777">
                  <a:extLst>
                    <a:ext uri="{9D8B030D-6E8A-4147-A177-3AD203B41FA5}">
                      <a16:colId xmlns:a16="http://schemas.microsoft.com/office/drawing/2014/main" val="1431432321"/>
                    </a:ext>
                  </a:extLst>
                </a:gridCol>
                <a:gridCol w="1092777">
                  <a:extLst>
                    <a:ext uri="{9D8B030D-6E8A-4147-A177-3AD203B41FA5}">
                      <a16:colId xmlns:a16="http://schemas.microsoft.com/office/drawing/2014/main" val="1078332372"/>
                    </a:ext>
                  </a:extLst>
                </a:gridCol>
              </a:tblGrid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170,500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273,500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289,500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347,000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C28B908-EB6F-07F3-D3D5-9E241A13D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955" y="1416924"/>
            <a:ext cx="5906056" cy="419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01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5DC4-91A4-7F45-2053-7A7F9399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D9F312-42C5-2D6A-ADCF-6FF5322D2090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0FEDD4-C991-7430-2EE8-6D2942F03F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TOTALS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107303-428F-7CBB-7638-8F5563703B2F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E1A230-99C9-7BEA-C8A6-75F016633D7A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DD41081B-5C34-8159-F74F-3C56BB2785FF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C5779B-4860-2A8C-B033-11D68C9B9FA9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843FAA-E547-ACED-5AF2-BE2E6C650340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4C822AC1-9D65-DF23-841B-FDDAF617FD14}"/>
              </a:ext>
            </a:extLst>
          </p:cNvPr>
          <p:cNvSpPr txBox="1">
            <a:spLocks/>
          </p:cNvSpPr>
          <p:nvPr/>
        </p:nvSpPr>
        <p:spPr>
          <a:xfrm>
            <a:off x="495299" y="831497"/>
            <a:ext cx="1120140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two-way table, data can be summarized by rows and columns, with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lower right-hand corner.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786578-4421-D9C7-4858-B4FFF7D2C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44887"/>
              </p:ext>
            </p:extLst>
          </p:nvPr>
        </p:nvGraphicFramePr>
        <p:xfrm>
          <a:off x="7899258" y="1398184"/>
          <a:ext cx="979129" cy="41960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9129">
                  <a:extLst>
                    <a:ext uri="{9D8B030D-6E8A-4147-A177-3AD203B41FA5}">
                      <a16:colId xmlns:a16="http://schemas.microsoft.com/office/drawing/2014/main" val="1431432321"/>
                    </a:ext>
                  </a:extLst>
                </a:gridCol>
              </a:tblGrid>
              <a:tr h="3244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482,000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421,500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513,000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544,000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₱602,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678,000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721,000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704,500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596,000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634,000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815,500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2263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2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942,000</a:t>
                      </a:r>
                    </a:p>
                  </a:txBody>
                  <a:tcPr marL="109414" marR="109414" marT="54707" marB="54707"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2E5221-BA23-CD06-5D2F-B79DCE314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0759"/>
              </p:ext>
            </p:extLst>
          </p:nvPr>
        </p:nvGraphicFramePr>
        <p:xfrm>
          <a:off x="3313610" y="5594246"/>
          <a:ext cx="5564778" cy="322774"/>
        </p:xfrm>
        <a:graphic>
          <a:graphicData uri="http://schemas.openxmlformats.org/drawingml/2006/table">
            <a:tbl>
              <a:tblPr firstRow="1" bandRow="1">
                <a:solidFill>
                  <a:srgbClr val="CBCBCB"/>
                </a:solidFill>
                <a:tableStyleId>{073A0DAA-6AF3-43AB-8588-CEC1D06C72B9}</a:tableStyleId>
              </a:tblPr>
              <a:tblGrid>
                <a:gridCol w="736420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911842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979129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979129">
                  <a:extLst>
                    <a:ext uri="{9D8B030D-6E8A-4147-A177-3AD203B41FA5}">
                      <a16:colId xmlns:a16="http://schemas.microsoft.com/office/drawing/2014/main" val="1431432321"/>
                    </a:ext>
                  </a:extLst>
                </a:gridCol>
                <a:gridCol w="979129">
                  <a:extLst>
                    <a:ext uri="{9D8B030D-6E8A-4147-A177-3AD203B41FA5}">
                      <a16:colId xmlns:a16="http://schemas.microsoft.com/office/drawing/2014/main" val="2776310118"/>
                    </a:ext>
                  </a:extLst>
                </a:gridCol>
                <a:gridCol w="979129">
                  <a:extLst>
                    <a:ext uri="{9D8B030D-6E8A-4147-A177-3AD203B41FA5}">
                      <a16:colId xmlns:a16="http://schemas.microsoft.com/office/drawing/2014/main" val="1078332372"/>
                    </a:ext>
                  </a:extLst>
                </a:gridCol>
              </a:tblGrid>
              <a:tr h="3008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₱911,000</a:t>
                      </a:r>
                      <a:endParaRPr lang="en-US" sz="115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₱1,603,000</a:t>
                      </a:r>
                      <a:endParaRPr lang="en-US" sz="115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₱2,16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2,000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₱2,978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,000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₱7,654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,000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</a:tbl>
          </a:graphicData>
        </a:graphic>
      </p:graphicFrame>
      <p:sp>
        <p:nvSpPr>
          <p:cNvPr id="14" name="Subtitle 2">
            <a:extLst>
              <a:ext uri="{FF2B5EF4-FFF2-40B4-BE49-F238E27FC236}">
                <a16:creationId xmlns:a16="http://schemas.microsoft.com/office/drawing/2014/main" id="{A2CA0C52-31A5-D255-95BE-1A747F3B3B5C}"/>
              </a:ext>
            </a:extLst>
          </p:cNvPr>
          <p:cNvSpPr txBox="1">
            <a:spLocks/>
          </p:cNvSpPr>
          <p:nvPr/>
        </p:nvSpPr>
        <p:spPr>
          <a:xfrm>
            <a:off x="179507" y="2805116"/>
            <a:ext cx="2880360" cy="11297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two-way table, we can see the revenue totals for each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the right side of the table.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0A2A956-B56C-9FB9-F932-0CFC760584D7}"/>
              </a:ext>
            </a:extLst>
          </p:cNvPr>
          <p:cNvSpPr txBox="1">
            <a:spLocks/>
          </p:cNvSpPr>
          <p:nvPr/>
        </p:nvSpPr>
        <p:spPr>
          <a:xfrm>
            <a:off x="139282" y="4094853"/>
            <a:ext cx="2960809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totals match the values in the one-way table.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B1F2A7F-9C63-5797-E240-257C356C47A6}"/>
              </a:ext>
            </a:extLst>
          </p:cNvPr>
          <p:cNvSpPr txBox="1">
            <a:spLocks/>
          </p:cNvSpPr>
          <p:nvPr/>
        </p:nvSpPr>
        <p:spPr>
          <a:xfrm>
            <a:off x="9132130" y="2805116"/>
            <a:ext cx="2762689" cy="8485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see the revenue totals for each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the bottom of the table.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66083D3-3297-1028-AECB-3B00106714EA}"/>
              </a:ext>
            </a:extLst>
          </p:cNvPr>
          <p:cNvSpPr txBox="1">
            <a:spLocks/>
          </p:cNvSpPr>
          <p:nvPr/>
        </p:nvSpPr>
        <p:spPr>
          <a:xfrm>
            <a:off x="9082599" y="3868060"/>
            <a:ext cx="2861750" cy="775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month for the business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best year is now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6CC850-1193-9F8E-4047-2C7666103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422195"/>
              </p:ext>
            </p:extLst>
          </p:nvPr>
        </p:nvGraphicFramePr>
        <p:xfrm>
          <a:off x="3313609" y="1398184"/>
          <a:ext cx="4585648" cy="41960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8070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910194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979128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979128">
                  <a:extLst>
                    <a:ext uri="{9D8B030D-6E8A-4147-A177-3AD203B41FA5}">
                      <a16:colId xmlns:a16="http://schemas.microsoft.com/office/drawing/2014/main" val="1431432321"/>
                    </a:ext>
                  </a:extLst>
                </a:gridCol>
                <a:gridCol w="979128">
                  <a:extLst>
                    <a:ext uri="{9D8B030D-6E8A-4147-A177-3AD203B41FA5}">
                      <a16:colId xmlns:a16="http://schemas.microsoft.com/office/drawing/2014/main" val="1078332372"/>
                    </a:ext>
                  </a:extLst>
                </a:gridCol>
              </a:tblGrid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170,500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68247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48751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66748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94116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90862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273,500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2645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67800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28342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289,500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  <a:tr h="32277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₱</a:t>
                      </a: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347,000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0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79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7F08-88F7-D05F-0644-44FA6748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5CDD5E-4951-F64B-A824-BA489D919A7E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797C3F-5B51-299D-7652-1A805CE45E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TOTALS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F358AD-4E6E-D6CC-180B-15DC7E813A88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7FB7CD-5271-8A87-D8E4-1FAA69CBAF37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539E392B-CCAC-1C41-8382-CBEA0C73834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48DC91-F092-7D98-5B06-E1501A0091B4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B07E39-9252-3B16-899F-AA5C721C82B4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BF297409-AD32-0A8D-EBA1-4728AD5E45E9}"/>
              </a:ext>
            </a:extLst>
          </p:cNvPr>
          <p:cNvSpPr txBox="1">
            <a:spLocks/>
          </p:cNvSpPr>
          <p:nvPr/>
        </p:nvSpPr>
        <p:spPr>
          <a:xfrm>
            <a:off x="1295399" y="5922455"/>
            <a:ext cx="960120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also do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all of this data over time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53656-B858-F0C7-AE3A-711084E71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75" y="712696"/>
            <a:ext cx="7156050" cy="504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24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1F2C-9FE0-7112-3282-32E4CB9E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63245-9ECB-CBF8-12D6-0E017CBAC1E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D1FF04-D677-3A7C-60F1-583F9BC7DD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TOTALS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7A8AB0-DB4D-AF06-2FE2-3FBF435B6A8C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6E4B01-E1CC-9D2E-26C8-04EA34FAAC2C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84D8BEF9-F6AF-C973-D257-D7F9547CBF81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7C5261-B1DC-7426-021C-A5C8E7648C28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251083-9125-7F9D-FCF7-1990D27853C4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68BE2090-23B6-9D03-C047-1A9C86A047FE}"/>
              </a:ext>
            </a:extLst>
          </p:cNvPr>
          <p:cNvSpPr txBox="1">
            <a:spLocks/>
          </p:cNvSpPr>
          <p:nvPr/>
        </p:nvSpPr>
        <p:spPr>
          <a:xfrm>
            <a:off x="2304064" y="682005"/>
            <a:ext cx="7583869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also 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bar graph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illustrating the revenue totals with side-by-side color coded bars for each year …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0D4D3-9A04-2701-A8F2-E7BB3F1AC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015" y="1414694"/>
            <a:ext cx="7201965" cy="494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8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8532-1CBB-5604-CEC6-6F9BE97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0FB28F-7BFE-9CED-DDCA-AB97F3589CDC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168AB8A-E79F-FB3D-0FD4-67ABD29EAC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TOTALS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7EFD1-7CF5-F87D-1C6F-7C33C20AF3D9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79643D-7143-B40F-84A3-98C9C0BA7D04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5851935C-55C0-9DF3-4AB4-2F7311F20FDD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C2F1DA-9BBD-5218-0004-00DCC8BB363C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550918-7D5B-94F7-F7DB-B233C19F6C61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2F919502-C430-583F-289F-374F4D97458B}"/>
              </a:ext>
            </a:extLst>
          </p:cNvPr>
          <p:cNvSpPr txBox="1">
            <a:spLocks/>
          </p:cNvSpPr>
          <p:nvPr/>
        </p:nvSpPr>
        <p:spPr>
          <a:xfrm>
            <a:off x="2304064" y="682005"/>
            <a:ext cx="7583869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or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depicting color-coded line graphs for each year.</a:t>
            </a:r>
            <a:endParaRPr lang="en-US" sz="1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0214D-1969-64BF-5988-330FBB568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81" y="1364010"/>
            <a:ext cx="7205633" cy="501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80A4A-6F62-3EB0-0FCB-F46847AC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46F88B6-6123-3AF9-82C0-FDF36D708E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CACCEFB9-BBB2-F448-14F5-407B2416F124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7F2730D-C468-09C6-CA73-0F6790901905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3E77873-393A-FEB4-BDD0-F170B12AD6DC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AAA8DA7-E429-A2AA-64BD-F9F7F4665B32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C5217E0-315C-2670-1D3C-04293C96632A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EC205DE-25B9-1F73-ED06-C8336E259F7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6E25467-E711-DD03-F25E-14228464A8EB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BE4505-FD5F-7D08-4DC8-59400B40F2F7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1DDEC24-5E5A-ECA1-D2C7-A1BE8CB8D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C5C382C2-4809-7AED-1EF3-43B94C7D76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AEA3E304-B93D-6398-4E73-1CE1BF6A6A44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F2474465-8EA8-8642-D16B-304FFAA84D1D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BE89FB46-D285-8C5A-401E-F30DC6F1518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02.02 – VENN DIAGRAM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612F1E-C49C-91CF-885C-98654C3D1F3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8E3279E-D741-DF57-26B3-9019B0B35751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E03075F9-E97E-CF3B-C71D-F92081CAA37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61559E-82D7-65EB-D0A5-88C3E872520F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182915-0AA0-C73D-D4CF-370320FC7BE5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63A9504-220E-7D65-603B-ADF83B772CE6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3" name="TextBox 10">
              <a:extLst>
                <a:ext uri="{FF2B5EF4-FFF2-40B4-BE49-F238E27FC236}">
                  <a16:creationId xmlns:a16="http://schemas.microsoft.com/office/drawing/2014/main" id="{599219F5-C135-6D65-CC48-F568AFCED2E4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08162680-4FDF-98D6-8052-3BFEBEAFD762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75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VENN DIAGRAM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A45D5C9-01B2-9648-CD52-E803D6D843F6}"/>
              </a:ext>
            </a:extLst>
          </p:cNvPr>
          <p:cNvSpPr txBox="1">
            <a:spLocks/>
          </p:cNvSpPr>
          <p:nvPr/>
        </p:nvSpPr>
        <p:spPr>
          <a:xfrm>
            <a:off x="2247022" y="743471"/>
            <a:ext cx="769795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Venn diagram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visually shows how groups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overlap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71BFAC3D-1398-4690-9257-0CF95DD41E58}"/>
              </a:ext>
            </a:extLst>
          </p:cNvPr>
          <p:cNvSpPr txBox="1">
            <a:spLocks/>
          </p:cNvSpPr>
          <p:nvPr/>
        </p:nvSpPr>
        <p:spPr>
          <a:xfrm>
            <a:off x="1929271" y="1277080"/>
            <a:ext cx="833345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It’s another way to represent data from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two-way table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D839515-7C4A-832F-0B1F-359BD559DC90}"/>
              </a:ext>
            </a:extLst>
          </p:cNvPr>
          <p:cNvGrpSpPr/>
          <p:nvPr/>
        </p:nvGrpSpPr>
        <p:grpSpPr>
          <a:xfrm>
            <a:off x="3067588" y="1810689"/>
            <a:ext cx="6056824" cy="4632208"/>
            <a:chOff x="3389783" y="1790756"/>
            <a:chExt cx="5412428" cy="41393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86DD014-F26A-86EB-4E7B-FDE356E7B4CD}"/>
                </a:ext>
              </a:extLst>
            </p:cNvPr>
            <p:cNvGrpSpPr/>
            <p:nvPr/>
          </p:nvGrpSpPr>
          <p:grpSpPr>
            <a:xfrm>
              <a:off x="3389783" y="1790756"/>
              <a:ext cx="5412428" cy="3603348"/>
              <a:chOff x="1491926" y="351379"/>
              <a:chExt cx="6521037" cy="434140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380A518-9962-C7AB-D4C3-EE3F40F89CE3}"/>
                  </a:ext>
                </a:extLst>
              </p:cNvPr>
              <p:cNvGrpSpPr/>
              <p:nvPr/>
            </p:nvGrpSpPr>
            <p:grpSpPr>
              <a:xfrm>
                <a:off x="1491926" y="351379"/>
                <a:ext cx="836439" cy="817102"/>
                <a:chOff x="1491926" y="351379"/>
                <a:chExt cx="836439" cy="817102"/>
              </a:xfrm>
            </p:grpSpPr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89A21CF1-FC03-5E2D-53EE-402ADECD58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114C2A6A-00EB-859A-51F7-0BED13A93A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1926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700FCF6-974C-9F1A-87FA-06ED7E7C29A7}"/>
                  </a:ext>
                </a:extLst>
              </p:cNvPr>
              <p:cNvGrpSpPr/>
              <p:nvPr/>
            </p:nvGrpSpPr>
            <p:grpSpPr>
              <a:xfrm>
                <a:off x="1491926" y="1538767"/>
                <a:ext cx="836439" cy="817102"/>
                <a:chOff x="1491926" y="1538767"/>
                <a:chExt cx="836439" cy="817102"/>
              </a:xfrm>
            </p:grpSpPr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93BF1E44-2BFA-01CE-F347-5536686264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5169B937-5BEF-5DCB-4E66-1F95E7ACF6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1926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4EDBFB5-2085-8A58-E5BF-07DADF33CB36}"/>
                  </a:ext>
                </a:extLst>
              </p:cNvPr>
              <p:cNvGrpSpPr/>
              <p:nvPr/>
            </p:nvGrpSpPr>
            <p:grpSpPr>
              <a:xfrm>
                <a:off x="1523882" y="2713536"/>
                <a:ext cx="804483" cy="804483"/>
                <a:chOff x="1523882" y="2713536"/>
                <a:chExt cx="804483" cy="804483"/>
              </a:xfrm>
            </p:grpSpPr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50556E0C-96D2-EA98-AF69-1941942F4B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97D0BB9C-E2C3-2934-6138-EBB0359B3C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8079" y="3227108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C7C9A48-4802-57EE-665C-EE5B51AAB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3882" y="387568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E23935B-B9E4-2548-5F1F-2C08E5B2E629}"/>
                  </a:ext>
                </a:extLst>
              </p:cNvPr>
              <p:cNvGrpSpPr/>
              <p:nvPr/>
            </p:nvGrpSpPr>
            <p:grpSpPr>
              <a:xfrm>
                <a:off x="2895482" y="351379"/>
                <a:ext cx="804483" cy="804483"/>
                <a:chOff x="2895482" y="351379"/>
                <a:chExt cx="804483" cy="804483"/>
              </a:xfrm>
            </p:grpSpPr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1B63ABAB-DFE8-A23C-AB9C-C6748E8917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548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22AEAA9A-4AF3-6CB0-8915-4BCB85B55C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9679" y="864951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43B0655-E5D5-BD61-ABD4-A4CCC94F0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482" y="1538767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CF534FA-9389-0D73-ED75-112FC6C0CC64}"/>
                  </a:ext>
                </a:extLst>
              </p:cNvPr>
              <p:cNvGrpSpPr/>
              <p:nvPr/>
            </p:nvGrpSpPr>
            <p:grpSpPr>
              <a:xfrm>
                <a:off x="2863526" y="2713536"/>
                <a:ext cx="836439" cy="817102"/>
                <a:chOff x="2863526" y="2713536"/>
                <a:chExt cx="836439" cy="817102"/>
              </a:xfrm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E02B5354-A396-DFAC-DE00-59CCA0CA22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548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77655998-58D7-27B4-B91C-0DE8AA1325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9679" y="3227108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513D860E-C73B-FC9E-9B51-B1CA36B226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3526" y="3096441"/>
                  <a:ext cx="434197" cy="434197"/>
                </a:xfrm>
                <a:prstGeom prst="rect">
                  <a:avLst/>
                </a:prstGeom>
              </p:spPr>
            </p:pic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81170C4-F624-4D04-ED8C-486A38D1C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482" y="387568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547E90C-CBF9-3716-BD46-D57CC08E639E}"/>
                  </a:ext>
                </a:extLst>
              </p:cNvPr>
              <p:cNvGrpSpPr/>
              <p:nvPr/>
            </p:nvGrpSpPr>
            <p:grpSpPr>
              <a:xfrm>
                <a:off x="4269236" y="351379"/>
                <a:ext cx="836439" cy="817102"/>
                <a:chOff x="4269236" y="351379"/>
                <a:chExt cx="836439" cy="817102"/>
              </a:xfrm>
            </p:grpSpPr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2B4EA5FA-1819-B010-2569-BF491F33B5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9237FDCA-5F5A-AEEB-CCA7-31E84C2C17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389" y="864951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C5385BF4-418F-4A32-10DC-53714D8067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302C427-0F7D-34B7-32F3-5695AA41D094}"/>
                  </a:ext>
                </a:extLst>
              </p:cNvPr>
              <p:cNvGrpSpPr/>
              <p:nvPr/>
            </p:nvGrpSpPr>
            <p:grpSpPr>
              <a:xfrm>
                <a:off x="4269236" y="1538767"/>
                <a:ext cx="836439" cy="817102"/>
                <a:chOff x="4269236" y="1538767"/>
                <a:chExt cx="836439" cy="817102"/>
              </a:xfrm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7AC6CDB2-DAC3-2F65-D9A1-632204E2A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94B2A0E-D803-CD8A-4E2B-04DA734EEF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389" y="2052339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94043D25-71C4-5A75-C91C-0CDF79DA9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8025503-6CDA-EA86-5759-28FFACA5B6FB}"/>
                  </a:ext>
                </a:extLst>
              </p:cNvPr>
              <p:cNvGrpSpPr/>
              <p:nvPr/>
            </p:nvGrpSpPr>
            <p:grpSpPr>
              <a:xfrm>
                <a:off x="4269236" y="2713536"/>
                <a:ext cx="836439" cy="817102"/>
                <a:chOff x="4269236" y="2713536"/>
                <a:chExt cx="836439" cy="817102"/>
              </a:xfrm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88B81989-8403-DF4F-4021-E8A5F3EC63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BBBCA4FD-974E-3F84-CB30-C8BAAF4163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309644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1CF2233-0AB6-91AB-4649-7911C44F36B4}"/>
                  </a:ext>
                </a:extLst>
              </p:cNvPr>
              <p:cNvGrpSpPr/>
              <p:nvPr/>
            </p:nvGrpSpPr>
            <p:grpSpPr>
              <a:xfrm>
                <a:off x="4269236" y="3875686"/>
                <a:ext cx="836439" cy="817102"/>
                <a:chOff x="4269236" y="3875686"/>
                <a:chExt cx="836439" cy="817102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B932ED40-D27B-BDDF-96D4-31C230D19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72D7A407-8410-8399-4903-403D230BD9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425859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F4B43F5-F18D-9FBD-8C48-47964049ABE9}"/>
                  </a:ext>
                </a:extLst>
              </p:cNvPr>
              <p:cNvGrpSpPr/>
              <p:nvPr/>
            </p:nvGrpSpPr>
            <p:grpSpPr>
              <a:xfrm>
                <a:off x="5706902" y="351379"/>
                <a:ext cx="836439" cy="817102"/>
                <a:chOff x="5706902" y="351379"/>
                <a:chExt cx="836439" cy="817102"/>
              </a:xfrm>
            </p:grpSpPr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3ED796FE-4977-E1A6-2A59-46F6C0B11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60459C89-616C-E4F4-A485-C89BE7A095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06902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78C1EDA-3DAA-4162-C47F-6D05AB23AEAF}"/>
                  </a:ext>
                </a:extLst>
              </p:cNvPr>
              <p:cNvGrpSpPr/>
              <p:nvPr/>
            </p:nvGrpSpPr>
            <p:grpSpPr>
              <a:xfrm>
                <a:off x="5738858" y="1538767"/>
                <a:ext cx="804483" cy="804483"/>
                <a:chOff x="5738858" y="1538767"/>
                <a:chExt cx="804483" cy="804483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0A89F37C-6291-619C-8629-D48B49B60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3B069374-F84E-0B3D-0B1F-2B4592F51A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73055" y="2052339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F24B308-37C1-231B-7DF5-CF3BF257A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8858" y="271353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9B6276C-F56B-09E0-C771-6AF69BB75CA3}"/>
                  </a:ext>
                </a:extLst>
              </p:cNvPr>
              <p:cNvGrpSpPr/>
              <p:nvPr/>
            </p:nvGrpSpPr>
            <p:grpSpPr>
              <a:xfrm>
                <a:off x="5706902" y="3875686"/>
                <a:ext cx="836439" cy="817102"/>
                <a:chOff x="5706902" y="3875686"/>
                <a:chExt cx="836439" cy="817102"/>
              </a:xfrm>
            </p:grpSpPr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86EF8D81-E881-81F4-12B1-C383771F25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F53A34EF-6DD1-40E9-0284-9F93787DA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06902" y="4258591"/>
                  <a:ext cx="434197" cy="434197"/>
                </a:xfrm>
                <a:prstGeom prst="rect">
                  <a:avLst/>
                </a:prstGeom>
              </p:spPr>
            </p:pic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AB77765-3699-9405-2D03-078D9AD2F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8480" y="351379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83B0B58-0AB6-E5C5-DD8E-B12DE6CF7057}"/>
                  </a:ext>
                </a:extLst>
              </p:cNvPr>
              <p:cNvGrpSpPr/>
              <p:nvPr/>
            </p:nvGrpSpPr>
            <p:grpSpPr>
              <a:xfrm>
                <a:off x="7176524" y="1538767"/>
                <a:ext cx="836439" cy="817102"/>
                <a:chOff x="7176524" y="1538767"/>
                <a:chExt cx="836439" cy="817102"/>
              </a:xfrm>
            </p:grpSpPr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9E1B8F7D-7336-7AA8-6937-4FE84F710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61AF9FB8-9DD4-1F0B-8F3F-53D16B74BD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2052339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98AF29B6-8935-6988-656F-3B4C0ADC9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6524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08CDD03-ED4E-D19A-E592-C0E245C54724}"/>
                  </a:ext>
                </a:extLst>
              </p:cNvPr>
              <p:cNvGrpSpPr/>
              <p:nvPr/>
            </p:nvGrpSpPr>
            <p:grpSpPr>
              <a:xfrm>
                <a:off x="7176524" y="2713536"/>
                <a:ext cx="836439" cy="817102"/>
                <a:chOff x="7176524" y="2713536"/>
                <a:chExt cx="836439" cy="817102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F5E9098B-78EA-81AE-BFB0-3B2BF93B01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5CE2F87C-AB6A-5667-1BA5-81C1D81DB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3227108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EDF5C130-B047-129E-53BD-54F0AE26D8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6524" y="309644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D7C6D83-EF83-B63D-2847-8A70E4F81D94}"/>
                  </a:ext>
                </a:extLst>
              </p:cNvPr>
              <p:cNvGrpSpPr/>
              <p:nvPr/>
            </p:nvGrpSpPr>
            <p:grpSpPr>
              <a:xfrm>
                <a:off x="7208480" y="3875686"/>
                <a:ext cx="804483" cy="804483"/>
                <a:chOff x="7208480" y="3875686"/>
                <a:chExt cx="804483" cy="804483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04521A2B-D585-536B-73F0-D0B330137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07D8B2EA-2213-2C9D-9468-7F45CBC39F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4389258"/>
                  <a:ext cx="290911" cy="29091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5DA7DE7-FC69-3157-A482-D7170313C93E}"/>
                </a:ext>
              </a:extLst>
            </p:cNvPr>
            <p:cNvGrpSpPr/>
            <p:nvPr/>
          </p:nvGrpSpPr>
          <p:grpSpPr>
            <a:xfrm>
              <a:off x="4536197" y="5589988"/>
              <a:ext cx="3119600" cy="340147"/>
              <a:chOff x="4281119" y="5569039"/>
              <a:chExt cx="3119600" cy="340147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257756E-5A53-96E9-E157-A4349FF1CD17}"/>
                  </a:ext>
                </a:extLst>
              </p:cNvPr>
              <p:cNvGrpSpPr/>
              <p:nvPr/>
            </p:nvGrpSpPr>
            <p:grpSpPr>
              <a:xfrm>
                <a:off x="4281119" y="5589549"/>
                <a:ext cx="1493630" cy="319637"/>
                <a:chOff x="3517048" y="5715083"/>
                <a:chExt cx="1493630" cy="319637"/>
              </a:xfrm>
            </p:grpSpPr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227ECBEB-D490-EF80-483A-F68CB5C50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7048" y="5715083"/>
                  <a:ext cx="319637" cy="319637"/>
                </a:xfrm>
                <a:prstGeom prst="rect">
                  <a:avLst/>
                </a:prstGeom>
              </p:spPr>
            </p:pic>
            <p:sp>
              <p:nvSpPr>
                <p:cNvPr id="72" name="Subtitle 2">
                  <a:extLst>
                    <a:ext uri="{FF2B5EF4-FFF2-40B4-BE49-F238E27FC236}">
                      <a16:creationId xmlns:a16="http://schemas.microsoft.com/office/drawing/2014/main" id="{6EFAC6B6-778B-6A59-3743-7DC930043C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98138" y="5748178"/>
                  <a:ext cx="1212540" cy="272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dirty="0">
                      <a:solidFill>
                        <a:srgbClr val="FFD33A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Popcorn</a:t>
                  </a:r>
                  <a:endParaRPr lang="en-US" b="1" dirty="0">
                    <a:solidFill>
                      <a:srgbClr val="FFD33A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38A3218D-D1B4-F563-8725-1628942A7228}"/>
                  </a:ext>
                </a:extLst>
              </p:cNvPr>
              <p:cNvGrpSpPr/>
              <p:nvPr/>
            </p:nvGrpSpPr>
            <p:grpSpPr>
              <a:xfrm>
                <a:off x="6388933" y="5569039"/>
                <a:ext cx="1011786" cy="334134"/>
                <a:chOff x="6388933" y="5569039"/>
                <a:chExt cx="1011786" cy="334134"/>
              </a:xfrm>
            </p:grpSpPr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738809DA-5754-C6D1-D024-F6C3E20293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8933" y="5569039"/>
                  <a:ext cx="334134" cy="334134"/>
                </a:xfrm>
                <a:prstGeom prst="rect">
                  <a:avLst/>
                </a:prstGeom>
              </p:spPr>
            </p:pic>
            <p:sp>
              <p:nvSpPr>
                <p:cNvPr id="73" name="Subtitle 2">
                  <a:extLst>
                    <a:ext uri="{FF2B5EF4-FFF2-40B4-BE49-F238E27FC236}">
                      <a16:creationId xmlns:a16="http://schemas.microsoft.com/office/drawing/2014/main" id="{59D98405-6852-2722-586E-6D94ADF00E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70023" y="5622451"/>
                  <a:ext cx="730696" cy="272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dirty="0">
                      <a:solidFill>
                        <a:srgbClr val="C4061D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Soda</a:t>
                  </a:r>
                  <a:endParaRPr lang="en-US" b="1" dirty="0">
                    <a:solidFill>
                      <a:srgbClr val="C4061D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6874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VENN DIAGRAM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A45D5C9-01B2-9648-CD52-E803D6D843F6}"/>
              </a:ext>
            </a:extLst>
          </p:cNvPr>
          <p:cNvSpPr txBox="1">
            <a:spLocks/>
          </p:cNvSpPr>
          <p:nvPr/>
        </p:nvSpPr>
        <p:spPr>
          <a:xfrm>
            <a:off x="2247022" y="743471"/>
            <a:ext cx="769795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Venn diagram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visually shows how groups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overlap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71BFAC3D-1398-4690-9257-0CF95DD41E58}"/>
              </a:ext>
            </a:extLst>
          </p:cNvPr>
          <p:cNvSpPr txBox="1">
            <a:spLocks/>
          </p:cNvSpPr>
          <p:nvPr/>
        </p:nvSpPr>
        <p:spPr>
          <a:xfrm>
            <a:off x="1929271" y="1277080"/>
            <a:ext cx="833345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It’s another way to represent data from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two-way table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6866A03-D496-4FD0-7385-3BAD894A3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64866"/>
              </p:ext>
            </p:extLst>
          </p:nvPr>
        </p:nvGraphicFramePr>
        <p:xfrm>
          <a:off x="7189794" y="3275060"/>
          <a:ext cx="4427614" cy="158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9765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80256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17834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906936">
                  <a:extLst>
                    <a:ext uri="{9D8B030D-6E8A-4147-A177-3AD203B41FA5}">
                      <a16:colId xmlns:a16="http://schemas.microsoft.com/office/drawing/2014/main" val="3979125638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 Soda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Popcorn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No Popcorn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445157"/>
                  </a:ext>
                </a:extLst>
              </a:tr>
            </a:tbl>
          </a:graphicData>
        </a:graphic>
      </p:graphicFrame>
      <p:grpSp>
        <p:nvGrpSpPr>
          <p:cNvPr id="77" name="Group 76">
            <a:extLst>
              <a:ext uri="{FF2B5EF4-FFF2-40B4-BE49-F238E27FC236}">
                <a16:creationId xmlns:a16="http://schemas.microsoft.com/office/drawing/2014/main" id="{C625A394-4A78-EC0F-B6B7-33E12D978E2A}"/>
              </a:ext>
            </a:extLst>
          </p:cNvPr>
          <p:cNvGrpSpPr/>
          <p:nvPr/>
        </p:nvGrpSpPr>
        <p:grpSpPr>
          <a:xfrm>
            <a:off x="574592" y="1810689"/>
            <a:ext cx="6056824" cy="4632208"/>
            <a:chOff x="3389783" y="1790756"/>
            <a:chExt cx="5412428" cy="4139379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BFFFF6A-47B7-8857-AC4B-011E3E3FD5E3}"/>
                </a:ext>
              </a:extLst>
            </p:cNvPr>
            <p:cNvGrpSpPr/>
            <p:nvPr/>
          </p:nvGrpSpPr>
          <p:grpSpPr>
            <a:xfrm>
              <a:off x="3389783" y="1790756"/>
              <a:ext cx="5412428" cy="3603348"/>
              <a:chOff x="1491926" y="351379"/>
              <a:chExt cx="6521037" cy="434140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AAE7216-ABFE-C576-8E35-6862C845E20E}"/>
                  </a:ext>
                </a:extLst>
              </p:cNvPr>
              <p:cNvGrpSpPr/>
              <p:nvPr/>
            </p:nvGrpSpPr>
            <p:grpSpPr>
              <a:xfrm>
                <a:off x="1491926" y="351379"/>
                <a:ext cx="836439" cy="817102"/>
                <a:chOff x="1491926" y="351379"/>
                <a:chExt cx="836439" cy="817102"/>
              </a:xfrm>
            </p:grpSpPr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10DC19DB-00C0-E16C-D5DC-215176C60B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40" name="Picture 139">
                  <a:extLst>
                    <a:ext uri="{FF2B5EF4-FFF2-40B4-BE49-F238E27FC236}">
                      <a16:creationId xmlns:a16="http://schemas.microsoft.com/office/drawing/2014/main" id="{D08BB969-2D36-4A9E-FF70-2F7C5D8D69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1926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FE7FDF56-FB5C-3742-2DDE-E99A7C61ED83}"/>
                  </a:ext>
                </a:extLst>
              </p:cNvPr>
              <p:cNvGrpSpPr/>
              <p:nvPr/>
            </p:nvGrpSpPr>
            <p:grpSpPr>
              <a:xfrm>
                <a:off x="1491926" y="1538767"/>
                <a:ext cx="836439" cy="817102"/>
                <a:chOff x="1491926" y="1538767"/>
                <a:chExt cx="836439" cy="817102"/>
              </a:xfrm>
            </p:grpSpPr>
            <p:pic>
              <p:nvPicPr>
                <p:cNvPr id="137" name="Picture 136">
                  <a:extLst>
                    <a:ext uri="{FF2B5EF4-FFF2-40B4-BE49-F238E27FC236}">
                      <a16:creationId xmlns:a16="http://schemas.microsoft.com/office/drawing/2014/main" id="{417CD009-3A9D-B561-6AD4-8DEBF2E9D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38" name="Picture 137">
                  <a:extLst>
                    <a:ext uri="{FF2B5EF4-FFF2-40B4-BE49-F238E27FC236}">
                      <a16:creationId xmlns:a16="http://schemas.microsoft.com/office/drawing/2014/main" id="{F67CC35E-BD29-3188-302B-62DA047718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91926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8BAE0EB2-6EFD-DD51-3A47-AE0DE70B35A1}"/>
                  </a:ext>
                </a:extLst>
              </p:cNvPr>
              <p:cNvGrpSpPr/>
              <p:nvPr/>
            </p:nvGrpSpPr>
            <p:grpSpPr>
              <a:xfrm>
                <a:off x="1523882" y="2713536"/>
                <a:ext cx="804483" cy="804483"/>
                <a:chOff x="1523882" y="2713536"/>
                <a:chExt cx="804483" cy="804483"/>
              </a:xfrm>
            </p:grpSpPr>
            <p:pic>
              <p:nvPicPr>
                <p:cNvPr id="135" name="Picture 134">
                  <a:extLst>
                    <a:ext uri="{FF2B5EF4-FFF2-40B4-BE49-F238E27FC236}">
                      <a16:creationId xmlns:a16="http://schemas.microsoft.com/office/drawing/2014/main" id="{F0AD3BD6-F08C-3E40-E68C-AE2BCED4B0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388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BF4E6558-C4D3-E051-65B5-F568CF40E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8079" y="3227108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C5339F18-03D3-F54B-34E5-CBC6762AC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3882" y="387568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3FA75844-3131-1D49-A42C-5BFB461B62C5}"/>
                  </a:ext>
                </a:extLst>
              </p:cNvPr>
              <p:cNvGrpSpPr/>
              <p:nvPr/>
            </p:nvGrpSpPr>
            <p:grpSpPr>
              <a:xfrm>
                <a:off x="2895482" y="351379"/>
                <a:ext cx="804483" cy="804483"/>
                <a:chOff x="2895482" y="351379"/>
                <a:chExt cx="804483" cy="804483"/>
              </a:xfrm>
            </p:grpSpPr>
            <p:pic>
              <p:nvPicPr>
                <p:cNvPr id="133" name="Picture 132">
                  <a:extLst>
                    <a:ext uri="{FF2B5EF4-FFF2-40B4-BE49-F238E27FC236}">
                      <a16:creationId xmlns:a16="http://schemas.microsoft.com/office/drawing/2014/main" id="{F0942113-CD58-53EE-9C23-8F9BB67D6D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548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17FEEB30-53C8-783F-189B-02B9CBA4F2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9679" y="864951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D4E08788-05CA-5ADA-176C-1832C3F55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482" y="1538767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7D54B579-9B9D-4FD3-E771-D749EF1779D1}"/>
                  </a:ext>
                </a:extLst>
              </p:cNvPr>
              <p:cNvGrpSpPr/>
              <p:nvPr/>
            </p:nvGrpSpPr>
            <p:grpSpPr>
              <a:xfrm>
                <a:off x="2863526" y="2713536"/>
                <a:ext cx="836439" cy="817102"/>
                <a:chOff x="2863526" y="2713536"/>
                <a:chExt cx="836439" cy="817102"/>
              </a:xfrm>
            </p:grpSpPr>
            <p:pic>
              <p:nvPicPr>
                <p:cNvPr id="130" name="Picture 129">
                  <a:extLst>
                    <a:ext uri="{FF2B5EF4-FFF2-40B4-BE49-F238E27FC236}">
                      <a16:creationId xmlns:a16="http://schemas.microsoft.com/office/drawing/2014/main" id="{734F2BCA-24F9-1810-DCB3-6916E843F6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548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31" name="Picture 130">
                  <a:extLst>
                    <a:ext uri="{FF2B5EF4-FFF2-40B4-BE49-F238E27FC236}">
                      <a16:creationId xmlns:a16="http://schemas.microsoft.com/office/drawing/2014/main" id="{08716E23-1DBD-FD4C-B7C4-89A9DBDA8B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9679" y="3227108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132" name="Picture 131">
                  <a:extLst>
                    <a:ext uri="{FF2B5EF4-FFF2-40B4-BE49-F238E27FC236}">
                      <a16:creationId xmlns:a16="http://schemas.microsoft.com/office/drawing/2014/main" id="{0A99A632-01C1-8390-FC4E-E7A357EF25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3526" y="3096441"/>
                  <a:ext cx="434197" cy="434197"/>
                </a:xfrm>
                <a:prstGeom prst="rect">
                  <a:avLst/>
                </a:prstGeom>
              </p:spPr>
            </p:pic>
          </p:grpSp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1A2EE0DF-A0C1-0CC4-A7E8-023CC0C8E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5482" y="387568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3867A2B-F725-CCAF-19C3-04C939ADA592}"/>
                  </a:ext>
                </a:extLst>
              </p:cNvPr>
              <p:cNvGrpSpPr/>
              <p:nvPr/>
            </p:nvGrpSpPr>
            <p:grpSpPr>
              <a:xfrm>
                <a:off x="4269236" y="351379"/>
                <a:ext cx="836439" cy="817102"/>
                <a:chOff x="4269236" y="351379"/>
                <a:chExt cx="836439" cy="817102"/>
              </a:xfrm>
            </p:grpSpPr>
            <p:pic>
              <p:nvPicPr>
                <p:cNvPr id="127" name="Picture 126">
                  <a:extLst>
                    <a:ext uri="{FF2B5EF4-FFF2-40B4-BE49-F238E27FC236}">
                      <a16:creationId xmlns:a16="http://schemas.microsoft.com/office/drawing/2014/main" id="{87527B3A-8B4E-0A23-EBF8-6D15AF2573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28" name="Picture 127">
                  <a:extLst>
                    <a:ext uri="{FF2B5EF4-FFF2-40B4-BE49-F238E27FC236}">
                      <a16:creationId xmlns:a16="http://schemas.microsoft.com/office/drawing/2014/main" id="{9B735D50-B200-B228-53EE-74B950519D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389" y="864951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129" name="Picture 128">
                  <a:extLst>
                    <a:ext uri="{FF2B5EF4-FFF2-40B4-BE49-F238E27FC236}">
                      <a16:creationId xmlns:a16="http://schemas.microsoft.com/office/drawing/2014/main" id="{59E57289-7222-3C3B-03F4-4A6600614D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1B5E950-CDFF-6DA5-241D-2E1051461DD8}"/>
                  </a:ext>
                </a:extLst>
              </p:cNvPr>
              <p:cNvGrpSpPr/>
              <p:nvPr/>
            </p:nvGrpSpPr>
            <p:grpSpPr>
              <a:xfrm>
                <a:off x="4269236" y="1538767"/>
                <a:ext cx="836439" cy="817102"/>
                <a:chOff x="4269236" y="1538767"/>
                <a:chExt cx="836439" cy="817102"/>
              </a:xfrm>
            </p:grpSpPr>
            <p:pic>
              <p:nvPicPr>
                <p:cNvPr id="124" name="Picture 123">
                  <a:extLst>
                    <a:ext uri="{FF2B5EF4-FFF2-40B4-BE49-F238E27FC236}">
                      <a16:creationId xmlns:a16="http://schemas.microsoft.com/office/drawing/2014/main" id="{B378708C-54A2-E0AF-A712-D528BC4D57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C90F5064-10CE-7741-3481-5122C99C2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389" y="2052339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58B8821B-A60F-AFEE-D5EE-ED8C994F57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5591DECF-56DA-EE3F-39AD-8FB9587FCE28}"/>
                  </a:ext>
                </a:extLst>
              </p:cNvPr>
              <p:cNvGrpSpPr/>
              <p:nvPr/>
            </p:nvGrpSpPr>
            <p:grpSpPr>
              <a:xfrm>
                <a:off x="4269236" y="2713536"/>
                <a:ext cx="836439" cy="817102"/>
                <a:chOff x="4269236" y="2713536"/>
                <a:chExt cx="836439" cy="817102"/>
              </a:xfrm>
            </p:grpSpPr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985F3435-8616-C957-952C-5B6ED968F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7830B253-5C40-92AA-58FE-BA7F8890B8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309644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C22787-325F-D860-1099-6BFD08611E9C}"/>
                  </a:ext>
                </a:extLst>
              </p:cNvPr>
              <p:cNvGrpSpPr/>
              <p:nvPr/>
            </p:nvGrpSpPr>
            <p:grpSpPr>
              <a:xfrm>
                <a:off x="4269236" y="3875686"/>
                <a:ext cx="836439" cy="817102"/>
                <a:chOff x="4269236" y="3875686"/>
                <a:chExt cx="836439" cy="817102"/>
              </a:xfrm>
            </p:grpSpPr>
            <p:pic>
              <p:nvPicPr>
                <p:cNvPr id="120" name="Picture 119">
                  <a:extLst>
                    <a:ext uri="{FF2B5EF4-FFF2-40B4-BE49-F238E27FC236}">
                      <a16:creationId xmlns:a16="http://schemas.microsoft.com/office/drawing/2014/main" id="{209BC789-4138-FF3C-849C-0FDF8AF81A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1192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21" name="Picture 120">
                  <a:extLst>
                    <a:ext uri="{FF2B5EF4-FFF2-40B4-BE49-F238E27FC236}">
                      <a16:creationId xmlns:a16="http://schemas.microsoft.com/office/drawing/2014/main" id="{90C35FE6-33FA-DD97-C7B1-ECCD3E92F8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69236" y="425859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5DC0B796-8DFB-112D-6340-B94A8B2002E3}"/>
                  </a:ext>
                </a:extLst>
              </p:cNvPr>
              <p:cNvGrpSpPr/>
              <p:nvPr/>
            </p:nvGrpSpPr>
            <p:grpSpPr>
              <a:xfrm>
                <a:off x="5706902" y="351379"/>
                <a:ext cx="836439" cy="817102"/>
                <a:chOff x="5706902" y="351379"/>
                <a:chExt cx="836439" cy="817102"/>
              </a:xfrm>
            </p:grpSpPr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C848E29D-A846-DAEE-1047-BF77403DA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351379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19" name="Picture 118">
                  <a:extLst>
                    <a:ext uri="{FF2B5EF4-FFF2-40B4-BE49-F238E27FC236}">
                      <a16:creationId xmlns:a16="http://schemas.microsoft.com/office/drawing/2014/main" id="{EB66E96B-406B-D7BF-CBBA-3C43A72DC3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06902" y="734284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20ED126F-55A0-700E-BFA5-8F0A3C83BA1F}"/>
                  </a:ext>
                </a:extLst>
              </p:cNvPr>
              <p:cNvGrpSpPr/>
              <p:nvPr/>
            </p:nvGrpSpPr>
            <p:grpSpPr>
              <a:xfrm>
                <a:off x="5738858" y="1538767"/>
                <a:ext cx="804483" cy="804483"/>
                <a:chOff x="5738858" y="1538767"/>
                <a:chExt cx="804483" cy="804483"/>
              </a:xfrm>
            </p:grpSpPr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A003108C-3060-94B1-1B15-20C2B1D71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17" name="Picture 116">
                  <a:extLst>
                    <a:ext uri="{FF2B5EF4-FFF2-40B4-BE49-F238E27FC236}">
                      <a16:creationId xmlns:a16="http://schemas.microsoft.com/office/drawing/2014/main" id="{AAFBE04C-2010-5A2B-3B38-9096961714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73055" y="2052339"/>
                  <a:ext cx="290911" cy="290911"/>
                </a:xfrm>
                <a:prstGeom prst="rect">
                  <a:avLst/>
                </a:prstGeom>
              </p:spPr>
            </p:pic>
          </p:grpSp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F6F127E1-AC6B-FB6F-5579-FBFF2876FE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8858" y="2713536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1CEB39B-9FA6-D2A9-6C88-D0F649567083}"/>
                  </a:ext>
                </a:extLst>
              </p:cNvPr>
              <p:cNvGrpSpPr/>
              <p:nvPr/>
            </p:nvGrpSpPr>
            <p:grpSpPr>
              <a:xfrm>
                <a:off x="5706902" y="3875686"/>
                <a:ext cx="836439" cy="817102"/>
                <a:chOff x="5706902" y="3875686"/>
                <a:chExt cx="836439" cy="817102"/>
              </a:xfrm>
            </p:grpSpPr>
            <p:pic>
              <p:nvPicPr>
                <p:cNvPr id="114" name="Picture 113">
                  <a:extLst>
                    <a:ext uri="{FF2B5EF4-FFF2-40B4-BE49-F238E27FC236}">
                      <a16:creationId xmlns:a16="http://schemas.microsoft.com/office/drawing/2014/main" id="{DD1F399D-598A-D50C-C68C-CA0FA2BD8D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8858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15" name="Picture 114">
                  <a:extLst>
                    <a:ext uri="{FF2B5EF4-FFF2-40B4-BE49-F238E27FC236}">
                      <a16:creationId xmlns:a16="http://schemas.microsoft.com/office/drawing/2014/main" id="{CC9EA983-E077-98FC-F86E-14E4A2B92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06902" y="4258591"/>
                  <a:ext cx="434197" cy="434197"/>
                </a:xfrm>
                <a:prstGeom prst="rect">
                  <a:avLst/>
                </a:prstGeom>
              </p:spPr>
            </p:pic>
          </p:grp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B5E0F6DF-EFAF-A3C4-1B15-D304E3F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8480" y="351379"/>
                <a:ext cx="804483" cy="804483"/>
              </a:xfrm>
              <a:prstGeom prst="rect">
                <a:avLst/>
              </a:prstGeom>
            </p:spPr>
          </p:pic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2A9770DF-E5BF-2134-E351-C32AEF6313BE}"/>
                  </a:ext>
                </a:extLst>
              </p:cNvPr>
              <p:cNvGrpSpPr/>
              <p:nvPr/>
            </p:nvGrpSpPr>
            <p:grpSpPr>
              <a:xfrm>
                <a:off x="7176524" y="1538767"/>
                <a:ext cx="836439" cy="817102"/>
                <a:chOff x="7176524" y="1538767"/>
                <a:chExt cx="836439" cy="817102"/>
              </a:xfrm>
            </p:grpSpPr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D58DBAE3-A9F3-AFE5-0FEE-6BE2925E01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1538767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49B1E788-99F9-3AE6-7ABC-B4B1CED407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2052339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6F50CF19-FB73-6B08-7C4C-00B71BA066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6524" y="1921672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DAFA4196-FE97-E7FE-DCA1-F1FA8583D302}"/>
                  </a:ext>
                </a:extLst>
              </p:cNvPr>
              <p:cNvGrpSpPr/>
              <p:nvPr/>
            </p:nvGrpSpPr>
            <p:grpSpPr>
              <a:xfrm>
                <a:off x="7176524" y="2713536"/>
                <a:ext cx="836439" cy="817102"/>
                <a:chOff x="7176524" y="2713536"/>
                <a:chExt cx="836439" cy="817102"/>
              </a:xfrm>
            </p:grpSpPr>
            <p:pic>
              <p:nvPicPr>
                <p:cNvPr id="108" name="Picture 107">
                  <a:extLst>
                    <a:ext uri="{FF2B5EF4-FFF2-40B4-BE49-F238E27FC236}">
                      <a16:creationId xmlns:a16="http://schemas.microsoft.com/office/drawing/2014/main" id="{7A80DB7D-1095-8942-31D7-526780BE57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271353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4F924594-75E4-1B35-F3E4-221FB2D8F6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3227108"/>
                  <a:ext cx="290911" cy="290911"/>
                </a:xfrm>
                <a:prstGeom prst="rect">
                  <a:avLst/>
                </a:prstGeom>
              </p:spPr>
            </p:pic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586CEFDA-51ED-6676-257B-6E5A551FD7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6524" y="3096441"/>
                  <a:ext cx="434197" cy="434197"/>
                </a:xfrm>
                <a:prstGeom prst="rect">
                  <a:avLst/>
                </a:prstGeom>
              </p:spPr>
            </p:pic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A4E14CA-AF46-2231-C3B1-6499BDC0ED55}"/>
                  </a:ext>
                </a:extLst>
              </p:cNvPr>
              <p:cNvGrpSpPr/>
              <p:nvPr/>
            </p:nvGrpSpPr>
            <p:grpSpPr>
              <a:xfrm>
                <a:off x="7208480" y="3875686"/>
                <a:ext cx="804483" cy="804483"/>
                <a:chOff x="7208480" y="3875686"/>
                <a:chExt cx="804483" cy="804483"/>
              </a:xfrm>
            </p:grpSpPr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DCB6C6AD-63FE-A867-3A1C-D87BE8C2C0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480" y="3875686"/>
                  <a:ext cx="804483" cy="804483"/>
                </a:xfrm>
                <a:prstGeom prst="rect">
                  <a:avLst/>
                </a:prstGeom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3CC15814-44BC-4574-10EB-188CEE20D1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42677" y="4389258"/>
                  <a:ext cx="290911" cy="29091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B00DE86-4A19-7FDF-26DF-EB1EE8C05DB3}"/>
                </a:ext>
              </a:extLst>
            </p:cNvPr>
            <p:cNvGrpSpPr/>
            <p:nvPr/>
          </p:nvGrpSpPr>
          <p:grpSpPr>
            <a:xfrm>
              <a:off x="4536197" y="5589988"/>
              <a:ext cx="3119600" cy="340147"/>
              <a:chOff x="4281119" y="5569039"/>
              <a:chExt cx="3119600" cy="340147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6D0050F9-7B58-5D62-E93C-B35CE6B475AE}"/>
                  </a:ext>
                </a:extLst>
              </p:cNvPr>
              <p:cNvGrpSpPr/>
              <p:nvPr/>
            </p:nvGrpSpPr>
            <p:grpSpPr>
              <a:xfrm>
                <a:off x="4281119" y="5589549"/>
                <a:ext cx="1493630" cy="319637"/>
                <a:chOff x="3517048" y="5715083"/>
                <a:chExt cx="1493630" cy="319637"/>
              </a:xfrm>
            </p:grpSpPr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677E9293-B28A-21C6-BB08-2B8A012B5C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17048" y="5715083"/>
                  <a:ext cx="319637" cy="319637"/>
                </a:xfrm>
                <a:prstGeom prst="rect">
                  <a:avLst/>
                </a:prstGeom>
              </p:spPr>
            </p:pic>
            <p:sp>
              <p:nvSpPr>
                <p:cNvPr id="85" name="Subtitle 2">
                  <a:extLst>
                    <a:ext uri="{FF2B5EF4-FFF2-40B4-BE49-F238E27FC236}">
                      <a16:creationId xmlns:a16="http://schemas.microsoft.com/office/drawing/2014/main" id="{102BEB32-830D-6793-9642-E5642E06F78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98138" y="5748178"/>
                  <a:ext cx="1212540" cy="272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dirty="0">
                      <a:solidFill>
                        <a:srgbClr val="FFD33A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Popcorn</a:t>
                  </a:r>
                  <a:endParaRPr lang="en-US" b="1" dirty="0">
                    <a:solidFill>
                      <a:srgbClr val="FFD33A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ECDCBA3A-0E24-EBF2-AB23-16A94D94B5D2}"/>
                  </a:ext>
                </a:extLst>
              </p:cNvPr>
              <p:cNvGrpSpPr/>
              <p:nvPr/>
            </p:nvGrpSpPr>
            <p:grpSpPr>
              <a:xfrm>
                <a:off x="6388933" y="5569039"/>
                <a:ext cx="1011786" cy="334134"/>
                <a:chOff x="6388933" y="5569039"/>
                <a:chExt cx="1011786" cy="334134"/>
              </a:xfrm>
            </p:grpSpPr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7F244725-2CDF-09C6-5291-72B22FAC5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8933" y="5569039"/>
                  <a:ext cx="334134" cy="334134"/>
                </a:xfrm>
                <a:prstGeom prst="rect">
                  <a:avLst/>
                </a:prstGeom>
              </p:spPr>
            </p:pic>
            <p:sp>
              <p:nvSpPr>
                <p:cNvPr id="83" name="Subtitle 2">
                  <a:extLst>
                    <a:ext uri="{FF2B5EF4-FFF2-40B4-BE49-F238E27FC236}">
                      <a16:creationId xmlns:a16="http://schemas.microsoft.com/office/drawing/2014/main" id="{4BA0ACDB-8202-8603-7F4C-22833B4DE9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70023" y="5622451"/>
                  <a:ext cx="730696" cy="272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ctr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dirty="0">
                      <a:solidFill>
                        <a:srgbClr val="C4061D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Soda</a:t>
                  </a:r>
                  <a:endParaRPr lang="en-US" b="1" dirty="0">
                    <a:solidFill>
                      <a:srgbClr val="C4061D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35363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VENN DIAGRAM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3121DC-982B-4596-4605-CB790B693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88115"/>
              </p:ext>
            </p:extLst>
          </p:nvPr>
        </p:nvGraphicFramePr>
        <p:xfrm>
          <a:off x="3661956" y="714843"/>
          <a:ext cx="4427614" cy="158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9765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80256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17834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906936">
                  <a:extLst>
                    <a:ext uri="{9D8B030D-6E8A-4147-A177-3AD203B41FA5}">
                      <a16:colId xmlns:a16="http://schemas.microsoft.com/office/drawing/2014/main" val="3979125638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 Soda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Popcorn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No Popcorn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44515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818C772-966F-F5B7-13DA-F2713CBB0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99" y="2403121"/>
            <a:ext cx="6520927" cy="40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15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THREE-CIRCLE VENN DIAGRAM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FECAFD91-DCDD-4A7A-9172-49549CACD85A}"/>
              </a:ext>
            </a:extLst>
          </p:cNvPr>
          <p:cNvSpPr txBox="1">
            <a:spLocks/>
          </p:cNvSpPr>
          <p:nvPr/>
        </p:nvSpPr>
        <p:spPr>
          <a:xfrm>
            <a:off x="1485108" y="969966"/>
            <a:ext cx="9221775" cy="455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 b="1" dirty="0">
                <a:latin typeface="Cambria" panose="02040503050406030204" pitchFamily="18" charset="0"/>
                <a:ea typeface="Cambria" panose="02040503050406030204" pitchFamily="18" charset="0"/>
              </a:rPr>
              <a:t>Favorite Game Genre (Action, Strategy, Racing)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63172B3-C3C9-42CE-962E-7829C7192B81}"/>
              </a:ext>
            </a:extLst>
          </p:cNvPr>
          <p:cNvSpPr txBox="1">
            <a:spLocks/>
          </p:cNvSpPr>
          <p:nvPr/>
        </p:nvSpPr>
        <p:spPr>
          <a:xfrm>
            <a:off x="2209470" y="1735050"/>
            <a:ext cx="7773053" cy="39319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4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Action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Strategy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2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Racing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5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Action and Strategy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Action and Racing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4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Strategy and Racing only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6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all three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none</a:t>
            </a: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403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THREE-CIRCLE VENN DIAGRAM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161FA95-1390-398B-124E-0F8897F526FE}"/>
              </a:ext>
            </a:extLst>
          </p:cNvPr>
          <p:cNvSpPr txBox="1">
            <a:spLocks/>
          </p:cNvSpPr>
          <p:nvPr/>
        </p:nvSpPr>
        <p:spPr>
          <a:xfrm>
            <a:off x="370263" y="2728898"/>
            <a:ext cx="4645241" cy="22841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4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Action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Strategy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Racing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5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Action and Strategy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Action and Racing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4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Strategy and Racing only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6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all three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3 students like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none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C7CACD-D3A4-AF1C-CC35-FB07275184A8}"/>
              </a:ext>
            </a:extLst>
          </p:cNvPr>
          <p:cNvSpPr txBox="1">
            <a:spLocks/>
          </p:cNvSpPr>
          <p:nvPr/>
        </p:nvSpPr>
        <p:spPr>
          <a:xfrm>
            <a:off x="1485108" y="969966"/>
            <a:ext cx="9221775" cy="455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 b="1" dirty="0">
                <a:latin typeface="Cambria" panose="02040503050406030204" pitchFamily="18" charset="0"/>
                <a:ea typeface="Cambria" panose="02040503050406030204" pitchFamily="18" charset="0"/>
              </a:rPr>
              <a:t>Favorite Game Genre (Action, Strategy, Racing)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63E51-24F9-13BE-8BB9-805431C86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331" y="1555373"/>
            <a:ext cx="6727351" cy="466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98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B4C0-D970-2F3A-7802-449F968A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1004D85-4F65-1DA9-2096-B414E55DB1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E5767C4C-1A73-6C36-2B7C-2953C03D2C0D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9D094E7-5F8B-BD0F-5416-94F5FEA5D5A5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9C2F731-0B51-1E4E-9067-AB8D7EDC72B0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7F3F504-CEB4-6658-0DAA-2B47458E861D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7A33609-667E-37DA-0689-F81A2A3FEBBF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3925471-DB61-2BBD-93CB-D84F4A7668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8124D80F-5F1A-9612-6277-AF48F486C445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6A9014-4998-19B9-1F2B-F7785E3475B9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0792C6E6-3148-F923-7B8E-23949B667155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EB80BF4-667F-A432-419B-7F165F09C433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20028D-EA7B-4F59-E75E-7EAC45BB0135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0F6C77-298F-296D-6D27-EFA2798BB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B54D4586-4AAE-97DE-11CD-E786F3296F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F28CD418-3B55-58C0-1AAA-C5D12B640415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9D71DDC1-7314-2D89-4805-5FB54567F8A9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F647EA05-3C72-57FA-9A9C-D37794D12CB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02.03 – FREQUENCY TABLES AND DOT PLOTS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01ABBB-93C0-1B09-793D-454A404097DA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6B0B32-86F0-873A-3012-811F827B1616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8ADBE5FA-B24A-6CC3-57CA-6A60AB3D1302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05F30FE-7429-2A6F-0457-45BB314DB389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8371B6-84AE-AA8D-2EB9-C0B54D94022C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163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D8186-9978-8AB5-BBB3-9F4A5F0C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91BE0-EC4C-F267-0197-7F192ADD73CF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78D7-0ECB-385B-A3E1-511902E11A3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TABLES AND DOT PLOTS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2F2697-D597-24B6-F692-1B78000266FA}"/>
              </a:ext>
            </a:extLst>
          </p:cNvPr>
          <p:cNvSpPr txBox="1">
            <a:spLocks/>
          </p:cNvSpPr>
          <p:nvPr/>
        </p:nvSpPr>
        <p:spPr>
          <a:xfrm>
            <a:off x="1601128" y="677175"/>
            <a:ext cx="8989740" cy="313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how often or how rarely something occurs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31F006-CD5C-FD55-2449-A284AC323FD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95800C-5F2F-4A5A-D5A3-EEF873E54BD3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9FD72404-EA44-6672-F92B-8CE27EFCC7B7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1C29B8-0C7B-2C0C-8905-B9C7356A5D8C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4339FA-D44F-3987-8A8C-9C6D2F508154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4A74A493-0A35-E308-1BD5-7B54591C7FCF}"/>
              </a:ext>
            </a:extLst>
          </p:cNvPr>
          <p:cNvSpPr txBox="1">
            <a:spLocks/>
          </p:cNvSpPr>
          <p:nvPr/>
        </p:nvSpPr>
        <p:spPr>
          <a:xfrm>
            <a:off x="1601129" y="1057126"/>
            <a:ext cx="8989740" cy="313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also be used to display the frequency of small data sets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703DA8-D051-1023-E5CE-686AFECC300F}"/>
              </a:ext>
            </a:extLst>
          </p:cNvPr>
          <p:cNvSpPr txBox="1">
            <a:spLocks/>
          </p:cNvSpPr>
          <p:nvPr/>
        </p:nvSpPr>
        <p:spPr>
          <a:xfrm>
            <a:off x="1191277" y="1705061"/>
            <a:ext cx="9809435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pets in neighborhood by type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categorized by type using a frequency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22C25-65B5-5A45-5714-B4B5EF86DFE7}"/>
              </a:ext>
            </a:extLst>
          </p:cNvPr>
          <p:cNvSpPr txBox="1"/>
          <p:nvPr/>
        </p:nvSpPr>
        <p:spPr>
          <a:xfrm>
            <a:off x="3048557" y="5093884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data could also be represented using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0D51857-7E97-B84B-93D8-3073FD2C8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830151"/>
              </p:ext>
            </p:extLst>
          </p:nvPr>
        </p:nvGraphicFramePr>
        <p:xfrm>
          <a:off x="4933573" y="2191697"/>
          <a:ext cx="2324848" cy="27093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2424">
                  <a:extLst>
                    <a:ext uri="{9D8B030D-6E8A-4147-A177-3AD203B41FA5}">
                      <a16:colId xmlns:a16="http://schemas.microsoft.com/office/drawing/2014/main" val="1391363385"/>
                    </a:ext>
                  </a:extLst>
                </a:gridCol>
                <a:gridCol w="1162424">
                  <a:extLst>
                    <a:ext uri="{9D8B030D-6E8A-4147-A177-3AD203B41FA5}">
                      <a16:colId xmlns:a16="http://schemas.microsoft.com/office/drawing/2014/main" val="3067654971"/>
                    </a:ext>
                  </a:extLst>
                </a:gridCol>
              </a:tblGrid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86165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72480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069925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081032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253277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775280"/>
                  </a:ext>
                </a:extLst>
              </a:tr>
              <a:tr h="387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919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79FBDC7-AED7-9774-86F8-7EF6CA0795B5}"/>
              </a:ext>
            </a:extLst>
          </p:cNvPr>
          <p:cNvSpPr txBox="1"/>
          <p:nvPr/>
        </p:nvSpPr>
        <p:spPr>
          <a:xfrm>
            <a:off x="2250137" y="5656067"/>
            <a:ext cx="7691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the dot plot, the counts in the frequency table are converted into dots.</a:t>
            </a:r>
          </a:p>
        </p:txBody>
      </p:sp>
    </p:spTree>
    <p:extLst>
      <p:ext uri="{BB962C8B-B14F-4D97-AF65-F5344CB8AC3E}">
        <p14:creationId xmlns:p14="http://schemas.microsoft.com/office/powerpoint/2010/main" val="13879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7" grpId="0"/>
      <p:bldP spid="20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5FC2-85E6-B07F-9F1B-9C255860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5AF63-7E52-D972-F1AF-BB7F9F4C14DC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5445-41A2-C689-E1A1-BDDC64DDE5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TABLES AND DOT PLOTS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7AA750-7E70-62F5-8D84-0EE8F0406CF1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19B424-2682-8D1D-C7B0-B0B6047D6522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E4D9A0BC-64EE-A84E-FC5B-7453A2C03F9B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D1B115-D1AF-D417-ABC3-111FC7968E98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6AAC51-6E3E-469F-2336-1744E399749B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3C7F16-5765-8388-F0E3-8B7C7F5435B4}"/>
              </a:ext>
            </a:extLst>
          </p:cNvPr>
          <p:cNvSpPr txBox="1"/>
          <p:nvPr/>
        </p:nvSpPr>
        <p:spPr>
          <a:xfrm>
            <a:off x="2250140" y="663013"/>
            <a:ext cx="7691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the dot plot, the counts in the frequency table are converted into dots.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924A1-2A90-E4F3-0729-813424DFAD36}"/>
              </a:ext>
            </a:extLst>
          </p:cNvPr>
          <p:cNvSpPr txBox="1"/>
          <p:nvPr/>
        </p:nvSpPr>
        <p:spPr>
          <a:xfrm>
            <a:off x="1307724" y="5553178"/>
            <a:ext cx="957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plots are similar to bar graphs because frequency can be seen easily from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of the dots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E1758-7F0A-E320-4171-3BD61F0BCDB1}"/>
              </a:ext>
            </a:extLst>
          </p:cNvPr>
          <p:cNvSpPr txBox="1"/>
          <p:nvPr/>
        </p:nvSpPr>
        <p:spPr>
          <a:xfrm>
            <a:off x="1307724" y="6036882"/>
            <a:ext cx="957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convert between a list of data, a frequency table, and a dot plot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C61F73-C615-AD0A-9A5B-F4DC3FDF2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07286"/>
              </p:ext>
            </p:extLst>
          </p:nvPr>
        </p:nvGraphicFramePr>
        <p:xfrm>
          <a:off x="258566" y="720700"/>
          <a:ext cx="1477996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8998">
                  <a:extLst>
                    <a:ext uri="{9D8B030D-6E8A-4147-A177-3AD203B41FA5}">
                      <a16:colId xmlns:a16="http://schemas.microsoft.com/office/drawing/2014/main" val="1391363385"/>
                    </a:ext>
                  </a:extLst>
                </a:gridCol>
                <a:gridCol w="738998">
                  <a:extLst>
                    <a:ext uri="{9D8B030D-6E8A-4147-A177-3AD203B41FA5}">
                      <a16:colId xmlns:a16="http://schemas.microsoft.com/office/drawing/2014/main" val="3067654971"/>
                    </a:ext>
                  </a:extLst>
                </a:gridCol>
              </a:tblGrid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86165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72480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069925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081032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253277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775280"/>
                  </a:ext>
                </a:extLst>
              </a:tr>
              <a:tr h="254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9193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E9A5FA6-5B0E-69BF-16BA-FF9359D4D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26" y="1112519"/>
            <a:ext cx="6495143" cy="444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67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742F-D360-1E94-F013-C7953A7B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60D8FB-92E6-3FAE-B888-A895C6EF84AE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9DD7-9BA7-0F21-CE5A-2D3743D484E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TABLES AND DOT PLOTS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39E58A-DE7F-B21C-4D15-6B23985C6FA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8F4E01-6B13-7F6E-1F57-3C749F947193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0FC14683-6E4E-0E38-ED66-D94C255F648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FC626E-C369-CF11-5D0C-A062804A29B0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F98131-CD7F-EF59-DA0D-48C6ED91CF86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6DC3E68-B80C-2693-D2BF-59B94D8A17A0}"/>
              </a:ext>
            </a:extLst>
          </p:cNvPr>
          <p:cNvSpPr txBox="1"/>
          <p:nvPr/>
        </p:nvSpPr>
        <p:spPr>
          <a:xfrm>
            <a:off x="330573" y="580218"/>
            <a:ext cx="11530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represented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these forms can be converted into one another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EBB0D-E0B7-4C25-B77C-6C916479FD11}"/>
              </a:ext>
            </a:extLst>
          </p:cNvPr>
          <p:cNvSpPr txBox="1"/>
          <p:nvPr/>
        </p:nvSpPr>
        <p:spPr>
          <a:xfrm>
            <a:off x="330573" y="1008184"/>
            <a:ext cx="11530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12 students participated in a short spelling quiz where scores ranged from 0 to 15: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7BB3A-BD4E-A944-772B-E36D0D964502}"/>
              </a:ext>
            </a:extLst>
          </p:cNvPr>
          <p:cNvSpPr txBox="1"/>
          <p:nvPr/>
        </p:nvSpPr>
        <p:spPr>
          <a:xfrm>
            <a:off x="330573" y="1434870"/>
            <a:ext cx="11530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14, 12, 15, 10, 14, 13, 15, 9, 12, 14, 11, 13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0913E-1364-8451-A43A-A97514DC76A4}"/>
              </a:ext>
            </a:extLst>
          </p:cNvPr>
          <p:cNvSpPr txBox="1"/>
          <p:nvPr/>
        </p:nvSpPr>
        <p:spPr>
          <a:xfrm>
            <a:off x="330573" y="2037618"/>
            <a:ext cx="11530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frequency table can be created to show how many times each score occurred.</a:t>
            </a:r>
          </a:p>
        </p:txBody>
      </p:sp>
    </p:spTree>
    <p:extLst>
      <p:ext uri="{BB962C8B-B14F-4D97-AF65-F5344CB8AC3E}">
        <p14:creationId xmlns:p14="http://schemas.microsoft.com/office/powerpoint/2010/main" val="292727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7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2771-C126-5EE8-BA4C-DE6609F9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C929D-BB69-9D6B-F281-15147101C98E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6A2E8-1393-CFCE-649D-607EF6E9C36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TABLES AND DOT PLOTS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574EAB-ABFD-89AD-DE4D-6E7C17E4049D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B0CD85-70F2-9E46-C56D-02C380338467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45B6BAAC-9907-0239-250D-0CCF1BF50F66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62CC3E-B203-22AC-8A3A-0D03A5505A61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F1F28A-5BF0-2821-9E3E-82E4C52240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0360E0A-81AD-681F-FD34-79F5B4A98B08}"/>
              </a:ext>
            </a:extLst>
          </p:cNvPr>
          <p:cNvSpPr txBox="1"/>
          <p:nvPr/>
        </p:nvSpPr>
        <p:spPr>
          <a:xfrm>
            <a:off x="330573" y="580218"/>
            <a:ext cx="11530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represented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these forms can be converted into one another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EBBCB-60C6-7298-15F4-FD6BB9A80D28}"/>
              </a:ext>
            </a:extLst>
          </p:cNvPr>
          <p:cNvSpPr txBox="1"/>
          <p:nvPr/>
        </p:nvSpPr>
        <p:spPr>
          <a:xfrm>
            <a:off x="4343014" y="2401194"/>
            <a:ext cx="74418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12 students participated in a short spelling quiz where scores ranged from 0 to 15: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3673A-B04B-5221-C3EB-32DD27068E1B}"/>
              </a:ext>
            </a:extLst>
          </p:cNvPr>
          <p:cNvSpPr txBox="1"/>
          <p:nvPr/>
        </p:nvSpPr>
        <p:spPr>
          <a:xfrm>
            <a:off x="4343014" y="3190390"/>
            <a:ext cx="74418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14, 12, 15, 10, 14, 13, 15, 9, 12, 14, 11, 13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4B3E9-CB4E-D0BC-B344-4F30BA103FD9}"/>
              </a:ext>
            </a:extLst>
          </p:cNvPr>
          <p:cNvSpPr txBox="1"/>
          <p:nvPr/>
        </p:nvSpPr>
        <p:spPr>
          <a:xfrm>
            <a:off x="4343014" y="3794921"/>
            <a:ext cx="7441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frequency table can be created to show how many times each score occurred.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9D0323B-64D8-4F23-3BB3-CC8F92B4D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69391"/>
              </p:ext>
            </p:extLst>
          </p:nvPr>
        </p:nvGraphicFramePr>
        <p:xfrm>
          <a:off x="1237190" y="1096182"/>
          <a:ext cx="2720661" cy="51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91092">
                  <a:extLst>
                    <a:ext uri="{9D8B030D-6E8A-4147-A177-3AD203B41FA5}">
                      <a16:colId xmlns:a16="http://schemas.microsoft.com/office/drawing/2014/main" val="395919783"/>
                    </a:ext>
                  </a:extLst>
                </a:gridCol>
                <a:gridCol w="929569">
                  <a:extLst>
                    <a:ext uri="{9D8B030D-6E8A-4147-A177-3AD203B41FA5}">
                      <a16:colId xmlns:a16="http://schemas.microsoft.com/office/drawing/2014/main" val="2935135706"/>
                    </a:ext>
                  </a:extLst>
                </a:gridCol>
              </a:tblGrid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Quiz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2816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830542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9567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8720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5116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82667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3553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495767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901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37940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84692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185131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90424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3444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35238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92965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163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45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F60F-6AC0-2A53-5C9D-845C9CF7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F411A-36B2-3551-44B4-A326781526D7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AC85F-D71E-30FC-F4E4-8B2D8D75F7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TABLES AND DOT PLOTS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6AADCF-0083-9F07-C22B-1657A6168CBA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279C03-865F-CBC7-DEEA-DA6C2F1B0B10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E65D1E04-EDC7-A840-AF7D-DF5E97626D6D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EA41BC-6C0B-4E0A-515F-8AFA9F3123B5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4D17A5-C57C-8290-C3F3-EC47DD5E7BD5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CE057B-3E1D-0132-6D2C-3655BCB06819}"/>
              </a:ext>
            </a:extLst>
          </p:cNvPr>
          <p:cNvSpPr txBox="1"/>
          <p:nvPr/>
        </p:nvSpPr>
        <p:spPr>
          <a:xfrm>
            <a:off x="4378885" y="2079857"/>
            <a:ext cx="6506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data from the frequency table can be turned into a dot plot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42E8CC-2C88-1AD4-6AAB-59E0D60F1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77073"/>
              </p:ext>
            </p:extLst>
          </p:nvPr>
        </p:nvGraphicFramePr>
        <p:xfrm>
          <a:off x="438268" y="955565"/>
          <a:ext cx="2720661" cy="51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91092">
                  <a:extLst>
                    <a:ext uri="{9D8B030D-6E8A-4147-A177-3AD203B41FA5}">
                      <a16:colId xmlns:a16="http://schemas.microsoft.com/office/drawing/2014/main" val="395919783"/>
                    </a:ext>
                  </a:extLst>
                </a:gridCol>
                <a:gridCol w="929569">
                  <a:extLst>
                    <a:ext uri="{9D8B030D-6E8A-4147-A177-3AD203B41FA5}">
                      <a16:colId xmlns:a16="http://schemas.microsoft.com/office/drawing/2014/main" val="2935135706"/>
                    </a:ext>
                  </a:extLst>
                </a:gridCol>
              </a:tblGrid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Quiz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2816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830542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9567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8720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5116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82667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3553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495767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901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37940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84692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185131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904249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3444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35238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92965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16332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2408896-C800-06AE-10C6-074AEB1A3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263" y="2718811"/>
            <a:ext cx="8299698" cy="188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97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6ABD-8D6C-5D5A-2523-5754C41B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C0AAFED-DEDF-D677-D2BD-7F02311014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68ABEBFF-4755-7449-EDD7-B01645621F10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E2E14D7-8DB7-CC85-AAFA-FBCB0CDEAC70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3D84C94-CDEE-393F-F3F4-289C01A1CCE7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A520FB1-63EA-0260-02B4-25C26D3F3D61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6C72D24-0F8C-6CDA-7AFC-D29F12BB82FF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2D2ADC7-9CBF-213E-A425-970285EB85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6194A74-197A-AE6C-D1FC-82C60B89DE66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094304-EAAE-9692-EBDC-A630E0C220E2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241F4B3C-A8F0-A70B-F436-C7AC8F405598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A8094041-C48E-4A17-37F0-CF2E5443EAEB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B2060B-9FF1-BAE4-70AA-4A6A2AF0D955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354F225-8EEC-3731-E3B9-5BC2CE301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B05FEA43-D44B-DC9F-9C9F-C61ED78A0C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A0DC086C-5335-9BE0-4AF8-8096EE5698BA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DE6EFCBB-8D2F-3371-C05A-979375FF7B01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A666FCF1-24C8-EA94-EF4E-DDA1E2D469B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02.04 – RELATIVE FREQUENCY TABLES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8FD85E-4E6F-31F2-D056-70C034CD50F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80EE43-EC19-93F1-E6F3-1859F0758F1C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C82CD6BE-21C4-3767-CCF6-2C0DC07BA686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18F440-42BF-E540-41B7-D63C7467CC87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EBAB9C-766F-341E-3F12-F93B52CBA403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699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D8EB-9222-DBE9-4CB8-12C8698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1776FC-6E62-3874-31D9-7ACA64875EA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4D539E-92B5-5B14-E7FB-79A1C57EF9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A45D5C9-01B2-9648-CD52-E803D6D843F6}"/>
              </a:ext>
            </a:extLst>
          </p:cNvPr>
          <p:cNvSpPr txBox="1">
            <a:spLocks/>
          </p:cNvSpPr>
          <p:nvPr/>
        </p:nvSpPr>
        <p:spPr>
          <a:xfrm>
            <a:off x="4021900" y="2962360"/>
            <a:ext cx="4148185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paperback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books,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4383B-7A5B-F814-0FAF-498FCFA49F58}"/>
              </a:ext>
            </a:extLst>
          </p:cNvPr>
          <p:cNvSpPr txBox="1">
            <a:spLocks/>
          </p:cNvSpPr>
          <p:nvPr/>
        </p:nvSpPr>
        <p:spPr>
          <a:xfrm>
            <a:off x="3583270" y="4039530"/>
            <a:ext cx="502545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percentage are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nonfcition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8D00073-4A82-3655-2900-65F135D863BD}"/>
              </a:ext>
            </a:extLst>
          </p:cNvPr>
          <p:cNvSpPr txBox="1">
            <a:spLocks/>
          </p:cNvSpPr>
          <p:nvPr/>
        </p:nvSpPr>
        <p:spPr>
          <a:xfrm>
            <a:off x="3583270" y="3631659"/>
            <a:ext cx="502545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percentage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A0F924-AF56-C1B1-F404-39AD92F200E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647DE-9A7D-240A-6223-59CE5391B51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9D6BBE7-2753-43AA-0A84-A9DF7E030F8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375FB3-13CA-CE9D-D14F-B3E0BB5F582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B76E14-1024-2464-491F-5C5EF2163DF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222F71BD-8014-E5E4-BE7C-C924151B1F65}"/>
              </a:ext>
            </a:extLst>
          </p:cNvPr>
          <p:cNvSpPr txBox="1">
            <a:spLocks/>
          </p:cNvSpPr>
          <p:nvPr/>
        </p:nvSpPr>
        <p:spPr>
          <a:xfrm>
            <a:off x="2635268" y="5185567"/>
            <a:ext cx="6921463" cy="827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percentages, convert the two-way table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6866A03-D496-4FD0-7385-3BAD894A3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96491"/>
              </p:ext>
            </p:extLst>
          </p:nvPr>
        </p:nvGraphicFramePr>
        <p:xfrm>
          <a:off x="3486345" y="974878"/>
          <a:ext cx="521929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770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373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sp>
        <p:nvSpPr>
          <p:cNvPr id="31" name="Subtitle 2">
            <a:extLst>
              <a:ext uri="{FF2B5EF4-FFF2-40B4-BE49-F238E27FC236}">
                <a16:creationId xmlns:a16="http://schemas.microsoft.com/office/drawing/2014/main" id="{62B0F536-0EFD-840B-97B4-CDB7B5ECA76B}"/>
              </a:ext>
            </a:extLst>
          </p:cNvPr>
          <p:cNvSpPr txBox="1">
            <a:spLocks/>
          </p:cNvSpPr>
          <p:nvPr/>
        </p:nvSpPr>
        <p:spPr>
          <a:xfrm>
            <a:off x="5774561" y="1501415"/>
            <a:ext cx="64286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529E88B3-F8C7-4262-795A-5B6B120A6332}"/>
              </a:ext>
            </a:extLst>
          </p:cNvPr>
          <p:cNvSpPr txBox="1">
            <a:spLocks/>
          </p:cNvSpPr>
          <p:nvPr/>
        </p:nvSpPr>
        <p:spPr>
          <a:xfrm>
            <a:off x="7551620" y="1501416"/>
            <a:ext cx="642866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53C2B5B3-268F-4096-AEC1-11E535706C57}"/>
              </a:ext>
            </a:extLst>
          </p:cNvPr>
          <p:cNvSpPr txBox="1">
            <a:spLocks/>
          </p:cNvSpPr>
          <p:nvPr/>
        </p:nvSpPr>
        <p:spPr>
          <a:xfrm>
            <a:off x="7551620" y="1968620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64F6CE5D-42EB-61C2-FE61-106407C5691F}"/>
              </a:ext>
            </a:extLst>
          </p:cNvPr>
          <p:cNvSpPr txBox="1">
            <a:spLocks/>
          </p:cNvSpPr>
          <p:nvPr/>
        </p:nvSpPr>
        <p:spPr>
          <a:xfrm>
            <a:off x="5774561" y="1968619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1000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0D67-8646-F247-4824-35DB576C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BAC4EB0-58D1-C58C-2AC5-A4B12DFB9C76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3FBB1-8947-1B60-B4E6-DE1B850D8E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D5BBBF-903B-08C3-9B63-57FE9FC5CD0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057FDB1-8EBE-3ED0-B563-099BAC2ED089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2BACCD97-C8F8-C971-F0D9-B54ED53F34E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C83630-0EFC-A137-0E8D-1559DD49DB90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3B4C71-4128-46AD-44E4-91085DC9F92E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43" name="Subtitle 2">
            <a:extLst>
              <a:ext uri="{FF2B5EF4-FFF2-40B4-BE49-F238E27FC236}">
                <a16:creationId xmlns:a16="http://schemas.microsoft.com/office/drawing/2014/main" id="{3F86A888-BDA3-B515-FC8C-E064AA9AC0FA}"/>
              </a:ext>
            </a:extLst>
          </p:cNvPr>
          <p:cNvSpPr txBox="1">
            <a:spLocks/>
          </p:cNvSpPr>
          <p:nvPr/>
        </p:nvSpPr>
        <p:spPr>
          <a:xfrm>
            <a:off x="1814751" y="4532904"/>
            <a:ext cx="299989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18 + 6 = 24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EDE114F3-DB77-F3EC-E893-E0CA70314045}"/>
              </a:ext>
            </a:extLst>
          </p:cNvPr>
          <p:cNvSpPr txBox="1">
            <a:spLocks/>
          </p:cNvSpPr>
          <p:nvPr/>
        </p:nvSpPr>
        <p:spPr>
          <a:xfrm>
            <a:off x="1341845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Fiction: 18/24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75%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4F40EC59-7219-5131-604A-021ECFB7E72C}"/>
              </a:ext>
            </a:extLst>
          </p:cNvPr>
          <p:cNvSpPr txBox="1">
            <a:spLocks/>
          </p:cNvSpPr>
          <p:nvPr/>
        </p:nvSpPr>
        <p:spPr>
          <a:xfrm>
            <a:off x="1341845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Nonfiction: 6/24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09B0021B-CAD6-E95D-7942-722C22CFB5BA}"/>
              </a:ext>
            </a:extLst>
          </p:cNvPr>
          <p:cNvSpPr txBox="1">
            <a:spLocks/>
          </p:cNvSpPr>
          <p:nvPr/>
        </p:nvSpPr>
        <p:spPr>
          <a:xfrm>
            <a:off x="2144508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Paperback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83EEA834-926B-4172-BBAD-8985EC3DB783}"/>
              </a:ext>
            </a:extLst>
          </p:cNvPr>
          <p:cNvSpPr txBox="1">
            <a:spLocks/>
          </p:cNvSpPr>
          <p:nvPr/>
        </p:nvSpPr>
        <p:spPr>
          <a:xfrm>
            <a:off x="7512416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Hardcover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B7D5D556-E371-9D4A-C481-306A6D915E00}"/>
              </a:ext>
            </a:extLst>
          </p:cNvPr>
          <p:cNvSpPr txBox="1">
            <a:spLocks/>
          </p:cNvSpPr>
          <p:nvPr/>
        </p:nvSpPr>
        <p:spPr>
          <a:xfrm>
            <a:off x="7479839" y="4532904"/>
            <a:ext cx="260022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12 + 4 = 16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E06802C1-ECCC-D669-3399-AB141F526986}"/>
              </a:ext>
            </a:extLst>
          </p:cNvPr>
          <p:cNvSpPr txBox="1">
            <a:spLocks/>
          </p:cNvSpPr>
          <p:nvPr/>
        </p:nvSpPr>
        <p:spPr>
          <a:xfrm>
            <a:off x="6807099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Fiction: 12/16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75%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2DC32CCC-EED3-FF4A-9130-2C2B582A8A55}"/>
              </a:ext>
            </a:extLst>
          </p:cNvPr>
          <p:cNvSpPr txBox="1">
            <a:spLocks/>
          </p:cNvSpPr>
          <p:nvPr/>
        </p:nvSpPr>
        <p:spPr>
          <a:xfrm>
            <a:off x="6807099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Nonfiction: 4/16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ubtitle 2">
            <a:extLst>
              <a:ext uri="{FF2B5EF4-FFF2-40B4-BE49-F238E27FC236}">
                <a16:creationId xmlns:a16="http://schemas.microsoft.com/office/drawing/2014/main" id="{8D0BD6E8-C27E-1CAD-A743-743616E374C0}"/>
              </a:ext>
            </a:extLst>
          </p:cNvPr>
          <p:cNvSpPr txBox="1">
            <a:spLocks/>
          </p:cNvSpPr>
          <p:nvPr/>
        </p:nvSpPr>
        <p:spPr>
          <a:xfrm>
            <a:off x="2635268" y="2808762"/>
            <a:ext cx="6921463" cy="827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percentages, convert the two-way table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996826-23C2-70CE-CD7E-A99DECC72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770687"/>
              </p:ext>
            </p:extLst>
          </p:nvPr>
        </p:nvGraphicFramePr>
        <p:xfrm>
          <a:off x="3486345" y="974878"/>
          <a:ext cx="521929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770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373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468CB6AB-6D0D-B35A-FDD3-F3E8102D0AC2}"/>
              </a:ext>
            </a:extLst>
          </p:cNvPr>
          <p:cNvSpPr txBox="1">
            <a:spLocks/>
          </p:cNvSpPr>
          <p:nvPr/>
        </p:nvSpPr>
        <p:spPr>
          <a:xfrm>
            <a:off x="5774561" y="1501415"/>
            <a:ext cx="64286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F599EA-2052-CDE9-5927-0EE6E4B756F9}"/>
              </a:ext>
            </a:extLst>
          </p:cNvPr>
          <p:cNvSpPr txBox="1">
            <a:spLocks/>
          </p:cNvSpPr>
          <p:nvPr/>
        </p:nvSpPr>
        <p:spPr>
          <a:xfrm>
            <a:off x="7551620" y="1501416"/>
            <a:ext cx="642866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186561-369F-F91E-ACDA-A3CB074206C8}"/>
              </a:ext>
            </a:extLst>
          </p:cNvPr>
          <p:cNvSpPr txBox="1">
            <a:spLocks/>
          </p:cNvSpPr>
          <p:nvPr/>
        </p:nvSpPr>
        <p:spPr>
          <a:xfrm>
            <a:off x="7551620" y="1968620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07E78E-17B2-C636-E7D2-EDD8B1DB5CDA}"/>
              </a:ext>
            </a:extLst>
          </p:cNvPr>
          <p:cNvSpPr txBox="1">
            <a:spLocks/>
          </p:cNvSpPr>
          <p:nvPr/>
        </p:nvSpPr>
        <p:spPr>
          <a:xfrm>
            <a:off x="5774561" y="1968619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560CB4-67AF-B9E3-0D0B-765616777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488086"/>
              </p:ext>
            </p:extLst>
          </p:nvPr>
        </p:nvGraphicFramePr>
        <p:xfrm>
          <a:off x="3486346" y="2328891"/>
          <a:ext cx="5219298" cy="383734"/>
        </p:xfrm>
        <a:graphic>
          <a:graphicData uri="http://schemas.openxmlformats.org/drawingml/2006/table">
            <a:tbl>
              <a:tblPr firstRow="1" bandRow="1">
                <a:solidFill>
                  <a:srgbClr val="CBCBCB"/>
                </a:solidFill>
                <a:tableStyleId>{073A0DAA-6AF3-43AB-8588-CEC1D06C72B9}</a:tableStyleId>
              </a:tblPr>
              <a:tblGrid>
                <a:gridCol w="167810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2394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008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Column Total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08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2" grpId="0"/>
      <p:bldP spid="46" grpId="0"/>
      <p:bldP spid="47" grpId="0"/>
      <p:bldP spid="48" grpId="0"/>
      <p:bldP spid="49" grpId="0"/>
      <p:bldP spid="3" grpId="0" animBg="1"/>
      <p:bldP spid="4" grpId="0" animBg="1"/>
      <p:bldP spid="5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2359-814E-739F-248C-0C6EACA7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CA3BA1C-7F23-91EA-82E4-8B1AA34E97F2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BB216D-4274-5B78-E8EA-3A08409C62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33D687-B75B-CD97-D427-99E393E5EAD2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D63B15-27D9-D9D3-53AD-E5ABFE17EA69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D650F94E-D6A2-2106-46A3-39C648E4C9D5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E65B08-38EE-C55A-5A56-4093167C6818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88CE70-C5F6-11DA-EC04-D2CDD71DA2E9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A62E7BCB-68E1-E05C-8B99-2DA630E2005C}"/>
              </a:ext>
            </a:extLst>
          </p:cNvPr>
          <p:cNvSpPr txBox="1">
            <a:spLocks/>
          </p:cNvSpPr>
          <p:nvPr/>
        </p:nvSpPr>
        <p:spPr>
          <a:xfrm>
            <a:off x="1705627" y="1085024"/>
            <a:ext cx="878074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create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9B6BF7-7329-5C3A-69A1-D051CFAA2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215528"/>
              </p:ext>
            </p:extLst>
          </p:nvPr>
        </p:nvGraphicFramePr>
        <p:xfrm>
          <a:off x="4193454" y="1938493"/>
          <a:ext cx="3805092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3783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311309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Drama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155192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89510"/>
                  </a:ext>
                </a:extLst>
              </a:tr>
              <a:tr h="28253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Column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544787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8C32913E-1263-D261-F477-AAA49F6D8E0F}"/>
              </a:ext>
            </a:extLst>
          </p:cNvPr>
          <p:cNvSpPr txBox="1">
            <a:spLocks/>
          </p:cNvSpPr>
          <p:nvPr/>
        </p:nvSpPr>
        <p:spPr>
          <a:xfrm>
            <a:off x="6872226" y="2474877"/>
            <a:ext cx="96113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A0F6BC6-B24E-058E-5F64-8AE8D5439955}"/>
              </a:ext>
            </a:extLst>
          </p:cNvPr>
          <p:cNvSpPr txBox="1">
            <a:spLocks/>
          </p:cNvSpPr>
          <p:nvPr/>
        </p:nvSpPr>
        <p:spPr>
          <a:xfrm>
            <a:off x="6872226" y="2933906"/>
            <a:ext cx="961135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62891F-4AC0-92ED-B01F-9A183B2F0443}"/>
              </a:ext>
            </a:extLst>
          </p:cNvPr>
          <p:cNvSpPr txBox="1">
            <a:spLocks/>
          </p:cNvSpPr>
          <p:nvPr/>
        </p:nvSpPr>
        <p:spPr>
          <a:xfrm>
            <a:off x="6872226" y="3392935"/>
            <a:ext cx="96113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B36CF72-0A06-45A5-F8D5-ED70E2F14ADF}"/>
              </a:ext>
            </a:extLst>
          </p:cNvPr>
          <p:cNvSpPr txBox="1">
            <a:spLocks/>
          </p:cNvSpPr>
          <p:nvPr/>
        </p:nvSpPr>
        <p:spPr>
          <a:xfrm>
            <a:off x="6872226" y="3851964"/>
            <a:ext cx="961135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A7E6708-147C-0146-0083-551DD5562CF7}"/>
              </a:ext>
            </a:extLst>
          </p:cNvPr>
          <p:cNvSpPr txBox="1">
            <a:spLocks/>
          </p:cNvSpPr>
          <p:nvPr/>
        </p:nvSpPr>
        <p:spPr>
          <a:xfrm>
            <a:off x="6872226" y="4310993"/>
            <a:ext cx="96113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5484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6223-0C5A-0084-0740-73858348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D27D80D-27A2-DBA0-4DB6-15AA4E6D0C8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388989-F7F8-796C-2B23-81BDE8764FE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COLUMN-RELATIVE FREQUENCY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D060A8-0425-9EA7-EAB4-ABF17A9A693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DE1E2-9B32-EAC3-91CE-76974F07A950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ED1885A8-CC57-B0BC-113E-D02C75C61C96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AE8AD9-7EF4-1C3F-E031-B08659EAB00E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080BC8-F5B3-ACBE-F569-9729414B39B3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A15BD751-E46B-AB98-55DD-9A9197C3F885}"/>
              </a:ext>
            </a:extLst>
          </p:cNvPr>
          <p:cNvSpPr txBox="1">
            <a:spLocks/>
          </p:cNvSpPr>
          <p:nvPr/>
        </p:nvSpPr>
        <p:spPr>
          <a:xfrm>
            <a:off x="1705627" y="4185921"/>
            <a:ext cx="878074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convert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percentages: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3DE2DED-65C5-7068-4B58-B0065553C58A}"/>
              </a:ext>
            </a:extLst>
          </p:cNvPr>
          <p:cNvSpPr txBox="1">
            <a:spLocks/>
          </p:cNvSpPr>
          <p:nvPr/>
        </p:nvSpPr>
        <p:spPr>
          <a:xfrm>
            <a:off x="1705627" y="4815687"/>
            <a:ext cx="878074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totals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1.00 (100%)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89A0973-B7C7-04EA-4F3D-60A3C2D75D0D}"/>
              </a:ext>
            </a:extLst>
          </p:cNvPr>
          <p:cNvSpPr txBox="1">
            <a:spLocks/>
          </p:cNvSpPr>
          <p:nvPr/>
        </p:nvSpPr>
        <p:spPr>
          <a:xfrm>
            <a:off x="1705627" y="5216435"/>
            <a:ext cx="878074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do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necessarily total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1.00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A7EC5D3-5ECC-F84B-6E69-83C751E73742}"/>
              </a:ext>
            </a:extLst>
          </p:cNvPr>
          <p:cNvSpPr txBox="1">
            <a:spLocks/>
          </p:cNvSpPr>
          <p:nvPr/>
        </p:nvSpPr>
        <p:spPr>
          <a:xfrm>
            <a:off x="1705627" y="5880263"/>
            <a:ext cx="878074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column-relative frequency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5F000F-AD80-203D-E93D-CD6500EB1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89700"/>
              </p:ext>
            </p:extLst>
          </p:nvPr>
        </p:nvGraphicFramePr>
        <p:xfrm>
          <a:off x="5871405" y="1421372"/>
          <a:ext cx="521929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770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373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A65CD98-A2F3-FF56-9CAA-AE8FDE5F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357433"/>
              </p:ext>
            </p:extLst>
          </p:nvPr>
        </p:nvGraphicFramePr>
        <p:xfrm>
          <a:off x="5871406" y="2775385"/>
          <a:ext cx="5219298" cy="383734"/>
        </p:xfrm>
        <a:graphic>
          <a:graphicData uri="http://schemas.openxmlformats.org/drawingml/2006/table">
            <a:tbl>
              <a:tblPr firstRow="1" bandRow="1">
                <a:solidFill>
                  <a:srgbClr val="CBCBCB"/>
                </a:solidFill>
                <a:tableStyleId>{073A0DAA-6AF3-43AB-8588-CEC1D06C72B9}</a:tableStyleId>
              </a:tblPr>
              <a:tblGrid>
                <a:gridCol w="1678109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2394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008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Column Total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414" marR="109414" marT="54707" marB="54707"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210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39226C-5CED-4AB7-3A0E-FE4A93F7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36510"/>
              </p:ext>
            </p:extLst>
          </p:nvPr>
        </p:nvGraphicFramePr>
        <p:xfrm>
          <a:off x="1388837" y="955682"/>
          <a:ext cx="3805092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3783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311309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Drama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155192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89510"/>
                  </a:ext>
                </a:extLst>
              </a:tr>
              <a:tr h="28253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Column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54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17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245F7-CFAE-3C94-201C-5C72FC92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0598EC-32AA-C362-2FEE-5D4E4E0E3000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F53632-86C1-BC87-6CC3-A5F3077DC8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ROW-RELATIVE FREQUENCY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265F32-02C2-1732-9B70-22E9410943EE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61F398-405D-2A7A-CB7B-5118C5458E8E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B0546354-BB1D-6668-7D9C-04C7442B25A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E6F3F0-3E67-186B-CC04-20A0AB94B4CC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8FCECD-0897-5A21-2E0E-353D003A658B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35" name="Subtitle 2">
            <a:extLst>
              <a:ext uri="{FF2B5EF4-FFF2-40B4-BE49-F238E27FC236}">
                <a16:creationId xmlns:a16="http://schemas.microsoft.com/office/drawing/2014/main" id="{A9648023-E102-B8AA-D84B-077BA6FEAB7A}"/>
              </a:ext>
            </a:extLst>
          </p:cNvPr>
          <p:cNvSpPr txBox="1">
            <a:spLocks/>
          </p:cNvSpPr>
          <p:nvPr/>
        </p:nvSpPr>
        <p:spPr>
          <a:xfrm>
            <a:off x="1705627" y="2963069"/>
            <a:ext cx="8780743" cy="4100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columns, we can convert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percentages.</a:t>
            </a:r>
            <a:endParaRPr lang="en-US" sz="2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AF7342-60D4-5399-7797-9C0C260B7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37802"/>
              </p:ext>
            </p:extLst>
          </p:nvPr>
        </p:nvGraphicFramePr>
        <p:xfrm>
          <a:off x="3486345" y="974878"/>
          <a:ext cx="521929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770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373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sp>
        <p:nvSpPr>
          <p:cNvPr id="11" name="Subtitle 2">
            <a:extLst>
              <a:ext uri="{FF2B5EF4-FFF2-40B4-BE49-F238E27FC236}">
                <a16:creationId xmlns:a16="http://schemas.microsoft.com/office/drawing/2014/main" id="{C63699D8-27EC-E4BA-5814-5C459993C17D}"/>
              </a:ext>
            </a:extLst>
          </p:cNvPr>
          <p:cNvSpPr txBox="1">
            <a:spLocks/>
          </p:cNvSpPr>
          <p:nvPr/>
        </p:nvSpPr>
        <p:spPr>
          <a:xfrm>
            <a:off x="5774567" y="1501415"/>
            <a:ext cx="642865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80E09BD-6CBC-4F63-CBF5-1607D6B6C177}"/>
              </a:ext>
            </a:extLst>
          </p:cNvPr>
          <p:cNvSpPr txBox="1">
            <a:spLocks/>
          </p:cNvSpPr>
          <p:nvPr/>
        </p:nvSpPr>
        <p:spPr>
          <a:xfrm>
            <a:off x="7512416" y="1501416"/>
            <a:ext cx="642866" cy="313909"/>
          </a:xfrm>
          <a:prstGeom prst="rect">
            <a:avLst/>
          </a:prstGeom>
          <a:solidFill>
            <a:srgbClr val="CBCBCB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105686E-D78B-4E34-DC52-8465095B8EE5}"/>
              </a:ext>
            </a:extLst>
          </p:cNvPr>
          <p:cNvSpPr txBox="1">
            <a:spLocks/>
          </p:cNvSpPr>
          <p:nvPr/>
        </p:nvSpPr>
        <p:spPr>
          <a:xfrm>
            <a:off x="7512416" y="1968620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E68EEFF-59E8-5E4F-ABD1-3F5335631B8B}"/>
              </a:ext>
            </a:extLst>
          </p:cNvPr>
          <p:cNvSpPr txBox="1">
            <a:spLocks/>
          </p:cNvSpPr>
          <p:nvPr/>
        </p:nvSpPr>
        <p:spPr>
          <a:xfrm>
            <a:off x="5774567" y="1968619"/>
            <a:ext cx="642866" cy="313909"/>
          </a:xfrm>
          <a:prstGeom prst="rect">
            <a:avLst/>
          </a:prstGeom>
          <a:solidFill>
            <a:srgbClr val="E7E7E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D31EEF2-D1C7-7757-F892-4D038FB6CCE5}"/>
              </a:ext>
            </a:extLst>
          </p:cNvPr>
          <p:cNvSpPr txBox="1">
            <a:spLocks/>
          </p:cNvSpPr>
          <p:nvPr/>
        </p:nvSpPr>
        <p:spPr>
          <a:xfrm>
            <a:off x="1814751" y="4532904"/>
            <a:ext cx="299989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18 + 12 = 30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EFC9867-1B79-E396-82E9-70F608653801}"/>
              </a:ext>
            </a:extLst>
          </p:cNvPr>
          <p:cNvSpPr txBox="1">
            <a:spLocks/>
          </p:cNvSpPr>
          <p:nvPr/>
        </p:nvSpPr>
        <p:spPr>
          <a:xfrm>
            <a:off x="1341845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Paperback: 18/30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A9A761E-2A4C-46E7-8734-8F7EDC57158D}"/>
              </a:ext>
            </a:extLst>
          </p:cNvPr>
          <p:cNvSpPr txBox="1">
            <a:spLocks/>
          </p:cNvSpPr>
          <p:nvPr/>
        </p:nvSpPr>
        <p:spPr>
          <a:xfrm>
            <a:off x="1341845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Hardcover: 12/30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4DA6120-0E69-37B7-A569-B36FC8E4455D}"/>
              </a:ext>
            </a:extLst>
          </p:cNvPr>
          <p:cNvSpPr txBox="1">
            <a:spLocks/>
          </p:cNvSpPr>
          <p:nvPr/>
        </p:nvSpPr>
        <p:spPr>
          <a:xfrm>
            <a:off x="2144508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Fiction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9368E24-BE79-888A-CBF2-283563B6CBBD}"/>
              </a:ext>
            </a:extLst>
          </p:cNvPr>
          <p:cNvSpPr txBox="1">
            <a:spLocks/>
          </p:cNvSpPr>
          <p:nvPr/>
        </p:nvSpPr>
        <p:spPr>
          <a:xfrm>
            <a:off x="7512416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Nonfiction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AC1A56F-45A9-1FBC-9DE4-44C1CF455BA1}"/>
              </a:ext>
            </a:extLst>
          </p:cNvPr>
          <p:cNvSpPr txBox="1">
            <a:spLocks/>
          </p:cNvSpPr>
          <p:nvPr/>
        </p:nvSpPr>
        <p:spPr>
          <a:xfrm>
            <a:off x="7479839" y="4532904"/>
            <a:ext cx="260022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6 + 4 = 10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8654AA2-2A80-C527-28FC-45DB3D1A9B28}"/>
              </a:ext>
            </a:extLst>
          </p:cNvPr>
          <p:cNvSpPr txBox="1">
            <a:spLocks/>
          </p:cNvSpPr>
          <p:nvPr/>
        </p:nvSpPr>
        <p:spPr>
          <a:xfrm>
            <a:off x="6807099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Paperback: 6/10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512AE770-0D82-4285-63C2-30104B3E31A7}"/>
              </a:ext>
            </a:extLst>
          </p:cNvPr>
          <p:cNvSpPr txBox="1">
            <a:spLocks/>
          </p:cNvSpPr>
          <p:nvPr/>
        </p:nvSpPr>
        <p:spPr>
          <a:xfrm>
            <a:off x="6807099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Hardcover: 4/10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4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8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E8B9-9A5B-BDA1-1FCB-B0B6BDDF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72C8D1-2FA1-CAAB-325C-521E00D9BD07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7B5E95-F244-CF85-C837-90E6480247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ROW-RELATIVE FREQUENCY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74C1FA-4E26-5036-5178-272065C58D9D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3FDF63-AE71-2C8B-861C-62D66EE17ECF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BC946BFC-CD04-EE02-7ACE-3A79D4BA507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61E04C-1790-1877-4E28-AA6CA6CBD0FD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47BC1E-8B2A-C5AF-83BD-F12A2508E8D7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F418A56F-59E0-2ED5-A176-46DDE1290398}"/>
              </a:ext>
            </a:extLst>
          </p:cNvPr>
          <p:cNvSpPr txBox="1">
            <a:spLocks/>
          </p:cNvSpPr>
          <p:nvPr/>
        </p:nvSpPr>
        <p:spPr>
          <a:xfrm>
            <a:off x="1705627" y="2963069"/>
            <a:ext cx="8780743" cy="4100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columns, we can convert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percentages.</a:t>
            </a:r>
            <a:endParaRPr lang="en-US" sz="28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B6AC364-8605-CAFD-7C49-324754BC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294248"/>
              </p:ext>
            </p:extLst>
          </p:nvPr>
        </p:nvGraphicFramePr>
        <p:xfrm>
          <a:off x="7861295" y="954294"/>
          <a:ext cx="1688705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8705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Row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C96B07-5083-CAD4-737A-B12144291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470872"/>
              </p:ext>
            </p:extLst>
          </p:nvPr>
        </p:nvGraphicFramePr>
        <p:xfrm>
          <a:off x="2641996" y="954294"/>
          <a:ext cx="5219299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770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75373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</a:tbl>
          </a:graphicData>
        </a:graphic>
      </p:graphicFrame>
      <p:sp>
        <p:nvSpPr>
          <p:cNvPr id="38" name="Subtitle 2">
            <a:extLst>
              <a:ext uri="{FF2B5EF4-FFF2-40B4-BE49-F238E27FC236}">
                <a16:creationId xmlns:a16="http://schemas.microsoft.com/office/drawing/2014/main" id="{82031A2C-D849-0278-9504-699913C80FF1}"/>
              </a:ext>
            </a:extLst>
          </p:cNvPr>
          <p:cNvSpPr txBox="1">
            <a:spLocks/>
          </p:cNvSpPr>
          <p:nvPr/>
        </p:nvSpPr>
        <p:spPr>
          <a:xfrm>
            <a:off x="1814751" y="4532904"/>
            <a:ext cx="299989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18 + 12 = 30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32B32D77-7115-E4CA-2396-1DBB068E4701}"/>
              </a:ext>
            </a:extLst>
          </p:cNvPr>
          <p:cNvSpPr txBox="1">
            <a:spLocks/>
          </p:cNvSpPr>
          <p:nvPr/>
        </p:nvSpPr>
        <p:spPr>
          <a:xfrm>
            <a:off x="1341845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Paperback: 18/30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C4F25CD0-30C4-7230-E454-E7A7CBC6A7D0}"/>
              </a:ext>
            </a:extLst>
          </p:cNvPr>
          <p:cNvSpPr txBox="1">
            <a:spLocks/>
          </p:cNvSpPr>
          <p:nvPr/>
        </p:nvSpPr>
        <p:spPr>
          <a:xfrm>
            <a:off x="1341845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Hardcover: 12/30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D98104D2-4F05-5B8F-8CC1-6C9D99A4CCBC}"/>
              </a:ext>
            </a:extLst>
          </p:cNvPr>
          <p:cNvSpPr txBox="1">
            <a:spLocks/>
          </p:cNvSpPr>
          <p:nvPr/>
        </p:nvSpPr>
        <p:spPr>
          <a:xfrm>
            <a:off x="2144508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Fiction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7DC16E35-4CD5-7051-C7BF-B429C393A66E}"/>
              </a:ext>
            </a:extLst>
          </p:cNvPr>
          <p:cNvSpPr txBox="1">
            <a:spLocks/>
          </p:cNvSpPr>
          <p:nvPr/>
        </p:nvSpPr>
        <p:spPr>
          <a:xfrm>
            <a:off x="7512416" y="4122858"/>
            <a:ext cx="253507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Nonfiction books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717079BE-A3D1-4785-83A3-B6A47CC9B0F3}"/>
              </a:ext>
            </a:extLst>
          </p:cNvPr>
          <p:cNvSpPr txBox="1">
            <a:spLocks/>
          </p:cNvSpPr>
          <p:nvPr/>
        </p:nvSpPr>
        <p:spPr>
          <a:xfrm>
            <a:off x="7479839" y="4532904"/>
            <a:ext cx="260022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Total = 6 + 4 = 10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1E51DBD5-93B7-9506-0CC5-02753F9BAFAA}"/>
              </a:ext>
            </a:extLst>
          </p:cNvPr>
          <p:cNvSpPr txBox="1">
            <a:spLocks/>
          </p:cNvSpPr>
          <p:nvPr/>
        </p:nvSpPr>
        <p:spPr>
          <a:xfrm>
            <a:off x="6807099" y="5150365"/>
            <a:ext cx="394570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Paperback: 6/10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76959900-5CA0-4F94-0D04-4AF221098107}"/>
              </a:ext>
            </a:extLst>
          </p:cNvPr>
          <p:cNvSpPr txBox="1">
            <a:spLocks/>
          </p:cNvSpPr>
          <p:nvPr/>
        </p:nvSpPr>
        <p:spPr>
          <a:xfrm>
            <a:off x="6807099" y="5582541"/>
            <a:ext cx="385426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Hardcover: 4/10 =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40%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931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7761-8260-B8A3-F7BB-FC0C9DDB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2DE95D3-1479-E841-08B9-926A56B0549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6A9118-5B6E-0695-7F1C-CA732BA101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RELATIVE FREQUENCY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2E82AF-D13E-6179-CC24-24ECEC761AF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C1D1FD-9BEA-0F42-7DE7-B17AA918B923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0AA4AF3D-1C4A-01DD-0EA6-69BCFB1F182D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4ADF89-63C9-BECE-FBC2-E2433834AA76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C5942A-14C4-755D-6722-0FB2A4BA8F28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0B2F77C8-48EF-1FF9-71EB-5508297E07DE}"/>
              </a:ext>
            </a:extLst>
          </p:cNvPr>
          <p:cNvSpPr txBox="1">
            <a:spLocks/>
          </p:cNvSpPr>
          <p:nvPr/>
        </p:nvSpPr>
        <p:spPr>
          <a:xfrm>
            <a:off x="669932" y="781972"/>
            <a:ext cx="1085213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find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total-relative frequency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dividing every value by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 total (40)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A34880C-17BB-C615-4E46-14106DFEB60F}"/>
              </a:ext>
            </a:extLst>
          </p:cNvPr>
          <p:cNvSpPr txBox="1">
            <a:spLocks/>
          </p:cNvSpPr>
          <p:nvPr/>
        </p:nvSpPr>
        <p:spPr>
          <a:xfrm>
            <a:off x="452195" y="3759652"/>
            <a:ext cx="522971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Everything by 40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BE09F9-C9D2-D373-38E8-BBD6C42097BE}"/>
              </a:ext>
            </a:extLst>
          </p:cNvPr>
          <p:cNvSpPr txBox="1">
            <a:spLocks/>
          </p:cNvSpPr>
          <p:nvPr/>
        </p:nvSpPr>
        <p:spPr>
          <a:xfrm>
            <a:off x="6510094" y="3759652"/>
            <a:ext cx="5229711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Percentages</a:t>
            </a:r>
            <a:endParaRPr lang="en-US" b="1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B60371E-96A0-065F-D5C1-E8ACEF7A6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62329"/>
              </p:ext>
            </p:extLst>
          </p:nvPr>
        </p:nvGraphicFramePr>
        <p:xfrm>
          <a:off x="3452759" y="1329212"/>
          <a:ext cx="5286477" cy="158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741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43070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414949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73411">
                  <a:extLst>
                    <a:ext uri="{9D8B030D-6E8A-4147-A177-3AD203B41FA5}">
                      <a16:colId xmlns:a16="http://schemas.microsoft.com/office/drawing/2014/main" val="3247728990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139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0E228D-52AB-1593-3DAA-789B5DD77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62373"/>
              </p:ext>
            </p:extLst>
          </p:nvPr>
        </p:nvGraphicFramePr>
        <p:xfrm>
          <a:off x="423811" y="4369148"/>
          <a:ext cx="5286477" cy="158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741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43070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414949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73411">
                  <a:extLst>
                    <a:ext uri="{9D8B030D-6E8A-4147-A177-3AD203B41FA5}">
                      <a16:colId xmlns:a16="http://schemas.microsoft.com/office/drawing/2014/main" val="3247728990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1396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1C2EE4-3760-9F14-DE22-FF539ADB8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47567"/>
              </p:ext>
            </p:extLst>
          </p:nvPr>
        </p:nvGraphicFramePr>
        <p:xfrm>
          <a:off x="6481714" y="4369148"/>
          <a:ext cx="5286477" cy="158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741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43070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414949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73411">
                  <a:extLst>
                    <a:ext uri="{9D8B030D-6E8A-4147-A177-3AD203B41FA5}">
                      <a16:colId xmlns:a16="http://schemas.microsoft.com/office/drawing/2014/main" val="3247728990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Hardcover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Nonfiction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MU Concrete" panose="02000603000000000000" pitchFamily="2" charset="0"/>
                          <a:ea typeface="CMU Concrete" panose="02000603000000000000" pitchFamily="2" charset="0"/>
                          <a:cs typeface="CMU Concrete" panose="02000603000000000000" pitchFamily="2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1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54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0C72-4C9C-A752-7A0C-1BDA52F7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E59BC45-6CCE-F24B-0AF1-4C41BEE3387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88E9B366-3E53-32F6-2D49-C908AD1ACF1F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F840A5E-668D-8E86-D2EC-01CBF6FEBB61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D08A2EC-5C0C-AC1D-3052-3846F94BF3FF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2413C3E-0D29-0851-979E-262DA2083AF7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00F717C-75B6-4CBC-1AF0-8C6EE846272C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71BC219-A351-1A33-CD4B-D7D631788D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4124B82-43C2-B9FF-66A6-9F4014653F1D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41DBBB-E6B8-FC77-FFCB-9B55088F1A7F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ED08FCAF-E9C8-791F-FA01-8C153D3E0DA3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9096D17F-09FD-188B-A0B1-3F5046AF560F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B50CAC-B394-E393-F249-B38763411404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665B322-8764-3E88-9D70-C03524206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10088679-212B-7DBD-E4EF-4F343A8AD0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685F50D3-6C90-0A80-C1F8-8F41CB529994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7E8C6F17-688C-0586-01B6-65B8FF545088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20769DB9-4CD1-F67E-560A-B56EAC7470B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02.05 – JOINT DISTRIBUTIONS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F83902-61E9-EA14-965E-C12F36E63A3B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BB51CD-FF9F-E4DF-CAEA-266E66B4E578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170FFA72-2EFF-BBD1-B704-2E42303605C9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882905-48CB-E497-9D6A-E5A8BD18D057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05250B-4072-7CEE-DA60-569B5D1192AB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4064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E5AF-D4CF-EC01-5416-D7296CE8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8AFC748-35A0-90AB-D58D-8D71C79FF26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FCF7D5-36D5-C64D-DBB0-99265AE4B8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DISTRIBUTIONS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B7A9C3-6B00-B7BF-665E-0261946CE884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2F950F-9C06-D32C-B19E-7101DABF009A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22BDE0A1-E4EA-4739-063B-07C94BD6C715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7FEE8E-3972-4FB5-469D-DE89B8152556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84B954-5308-0FC7-064F-942F7BDD0932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9123D508-47C0-F416-DC6F-0D39D4CC33FD}"/>
              </a:ext>
            </a:extLst>
          </p:cNvPr>
          <p:cNvSpPr txBox="1">
            <a:spLocks/>
          </p:cNvSpPr>
          <p:nvPr/>
        </p:nvSpPr>
        <p:spPr>
          <a:xfrm>
            <a:off x="568311" y="766848"/>
            <a:ext cx="1105537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joint distribution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shows the percentage breakdown of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two variables together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C9809FF-4886-0F58-2060-90FA68E9C1DE}"/>
              </a:ext>
            </a:extLst>
          </p:cNvPr>
          <p:cNvSpPr txBox="1">
            <a:spLocks/>
          </p:cNvSpPr>
          <p:nvPr/>
        </p:nvSpPr>
        <p:spPr>
          <a:xfrm>
            <a:off x="4532306" y="4827816"/>
            <a:ext cx="312738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interpretation: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9D3EFB1-D327-3FCD-7B81-A8E30F518358}"/>
              </a:ext>
            </a:extLst>
          </p:cNvPr>
          <p:cNvSpPr txBox="1">
            <a:spLocks/>
          </p:cNvSpPr>
          <p:nvPr/>
        </p:nvSpPr>
        <p:spPr>
          <a:xfrm>
            <a:off x="2853249" y="5362108"/>
            <a:ext cx="6649179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3% studied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0-3 hours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scored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0-10 points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FED70CB-4DE1-F04B-510D-02B609C512FD}"/>
              </a:ext>
            </a:extLst>
          </p:cNvPr>
          <p:cNvSpPr txBox="1">
            <a:spLocks/>
          </p:cNvSpPr>
          <p:nvPr/>
        </p:nvSpPr>
        <p:spPr>
          <a:xfrm>
            <a:off x="2853249" y="5789417"/>
            <a:ext cx="7100284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11% studied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9-12 hours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scores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20-30 points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3EE54C-9D76-551F-21DD-2DBC9F7D1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404597"/>
              </p:ext>
            </p:extLst>
          </p:nvPr>
        </p:nvGraphicFramePr>
        <p:xfrm>
          <a:off x="2127907" y="1387062"/>
          <a:ext cx="7936176" cy="29260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15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1215444797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731269010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998250732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369379599"/>
                    </a:ext>
                  </a:extLst>
                </a:gridCol>
              </a:tblGrid>
              <a:tr h="358863">
                <a:tc rowSpan="2" gridSpan="2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Quiz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65760">
                <a:tc gridSpan="2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10-20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20-30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30+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65760">
                <a:tc rowSpan="6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Hours Studying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3-6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847247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6-9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79879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9-12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59927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28878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MU Concrete" panose="02000603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18017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65F9034E-C8A9-2B2B-319E-107A803EA8DB}"/>
              </a:ext>
            </a:extLst>
          </p:cNvPr>
          <p:cNvSpPr/>
          <p:nvPr/>
        </p:nvSpPr>
        <p:spPr>
          <a:xfrm>
            <a:off x="2038211" y="3965708"/>
            <a:ext cx="8215952" cy="46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BAC60-2B72-BEA6-1CB9-96263C568FE8}"/>
              </a:ext>
            </a:extLst>
          </p:cNvPr>
          <p:cNvSpPr/>
          <p:nvPr/>
        </p:nvSpPr>
        <p:spPr>
          <a:xfrm>
            <a:off x="9002214" y="1298964"/>
            <a:ext cx="1119116" cy="2762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145D497-4892-6199-57AC-84D1BF82CED6}"/>
              </a:ext>
            </a:extLst>
          </p:cNvPr>
          <p:cNvSpPr txBox="1">
            <a:spLocks/>
          </p:cNvSpPr>
          <p:nvPr/>
        </p:nvSpPr>
        <p:spPr>
          <a:xfrm>
            <a:off x="749941" y="4113359"/>
            <a:ext cx="1069211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cell shows the % of people in both categories.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3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8" grpId="0"/>
      <p:bldP spid="9" grpId="0"/>
      <p:bldP spid="29" grpId="0" animBg="1"/>
      <p:bldP spid="30" grpId="0" animBg="1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2D22-2E47-B55B-EE54-A457F6A3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1E8798D-ED63-CB7A-BF62-22C968926517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695BB5-C80F-68C1-1371-3279000DA2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MARGINAL DISTRIBUTION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F7A24-D0E1-B97A-ECD1-1B1F16228A6A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D2CE63-576A-CF5F-401C-F6716AFACEA9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6CE273BB-E3D8-C597-3123-B9B8FA1A1BA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A58F44-158B-508A-4B6E-95F0A9F238F3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AA7001-967B-75D1-C6C4-88347818AEB5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2D041988-C072-814A-1652-6C83B8621B62}"/>
              </a:ext>
            </a:extLst>
          </p:cNvPr>
          <p:cNvSpPr txBox="1">
            <a:spLocks/>
          </p:cNvSpPr>
          <p:nvPr/>
        </p:nvSpPr>
        <p:spPr>
          <a:xfrm>
            <a:off x="749940" y="754674"/>
            <a:ext cx="1069211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marginal distribution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shows totals for just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one variable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A01CFA-60FF-C02B-59EB-3CDC088A27F4}"/>
              </a:ext>
            </a:extLst>
          </p:cNvPr>
          <p:cNvSpPr txBox="1">
            <a:spLocks/>
          </p:cNvSpPr>
          <p:nvPr/>
        </p:nvSpPr>
        <p:spPr>
          <a:xfrm>
            <a:off x="5066214" y="4631622"/>
            <a:ext cx="205956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comes from:</a:t>
            </a:r>
            <a:endParaRPr lang="en-US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23102F-34F2-90D8-58DC-59A6B2CF0BD5}"/>
              </a:ext>
            </a:extLst>
          </p:cNvPr>
          <p:cNvGrpSpPr/>
          <p:nvPr/>
        </p:nvGrpSpPr>
        <p:grpSpPr>
          <a:xfrm>
            <a:off x="3623635" y="5198425"/>
            <a:ext cx="4944722" cy="741218"/>
            <a:chOff x="3647875" y="5034743"/>
            <a:chExt cx="4944722" cy="741218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E3BF0415-0153-6203-780A-C158ADA4F95B}"/>
                </a:ext>
              </a:extLst>
            </p:cNvPr>
            <p:cNvSpPr txBox="1">
              <a:spLocks/>
            </p:cNvSpPr>
            <p:nvPr/>
          </p:nvSpPr>
          <p:spPr>
            <a:xfrm>
              <a:off x="3647875" y="5034743"/>
              <a:ext cx="4944722" cy="3139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bottom row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(column totals), or</a:t>
              </a:r>
              <a:endPara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0F8D0A21-51E3-40BD-8C4A-07C641C1C6DC}"/>
                </a:ext>
              </a:extLst>
            </p:cNvPr>
            <p:cNvSpPr txBox="1">
              <a:spLocks/>
            </p:cNvSpPr>
            <p:nvPr/>
          </p:nvSpPr>
          <p:spPr>
            <a:xfrm>
              <a:off x="3647875" y="5462052"/>
              <a:ext cx="4944722" cy="31390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column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(row totals)</a:t>
              </a:r>
              <a:endPara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9DF81C-D1D3-53FC-9515-3F12ADDEF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91658"/>
              </p:ext>
            </p:extLst>
          </p:nvPr>
        </p:nvGraphicFramePr>
        <p:xfrm>
          <a:off x="2127907" y="1387062"/>
          <a:ext cx="7936176" cy="29260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15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1215444797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731269010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998250732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369379599"/>
                    </a:ext>
                  </a:extLst>
                </a:gridCol>
              </a:tblGrid>
              <a:tr h="358863">
                <a:tc rowSpan="2" gridSpan="2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Quiz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65760">
                <a:tc gridSpan="2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10-20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20-30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30+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65760">
                <a:tc rowSpan="6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Hours Studying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3-6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847247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6-9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79879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9-12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59927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28878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MU Concrete" panose="02000603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18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284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562-D96A-07A7-AFF8-FE4D9D70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732BC0-E51D-97AD-6CA5-BF541898C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152503"/>
              </p:ext>
            </p:extLst>
          </p:nvPr>
        </p:nvGraphicFramePr>
        <p:xfrm>
          <a:off x="2127907" y="1387062"/>
          <a:ext cx="7936176" cy="29260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15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1215444797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731269010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998250732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369379599"/>
                    </a:ext>
                  </a:extLst>
                </a:gridCol>
              </a:tblGrid>
              <a:tr h="358863">
                <a:tc rowSpan="2" gridSpan="2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Quiz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65760">
                <a:tc gridSpan="2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10-20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20-30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30+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65760">
                <a:tc rowSpan="6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Hours Studying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42.86%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28.56%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14.29%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14.29%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3-6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41.18%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29.41%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847247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6-9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79879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9-12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14.81%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40.75%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29.63%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59927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21.04%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28878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MU Concrete" panose="02000603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18017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41008787-1E73-CA3B-8275-EEA1579A6747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A9BE3F-576B-9C23-FB88-F526413BD6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DISTRIBUTION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583575-A42F-1419-B9D9-05B1EC053659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3603967-EDF7-E800-239A-0AEC06FA6050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460429C9-927A-0834-DB1D-A59AFA610719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B986BE-CFA7-C007-EB0A-D952AB95FF1A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04EB2E-D4AD-AA55-1270-E4470853DF6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7260DD1A-82E8-3EAD-7464-338D4D2EFAE0}"/>
              </a:ext>
            </a:extLst>
          </p:cNvPr>
          <p:cNvSpPr txBox="1">
            <a:spLocks/>
          </p:cNvSpPr>
          <p:nvPr/>
        </p:nvSpPr>
        <p:spPr>
          <a:xfrm>
            <a:off x="1612364" y="611762"/>
            <a:ext cx="8967263" cy="660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conditional distribution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shows the distribution of one variable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given a specific value of the other variable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3FEEB4E-B701-1761-B21E-A454F7989C4A}"/>
              </a:ext>
            </a:extLst>
          </p:cNvPr>
          <p:cNvSpPr txBox="1">
            <a:spLocks/>
          </p:cNvSpPr>
          <p:nvPr/>
        </p:nvSpPr>
        <p:spPr>
          <a:xfrm>
            <a:off x="2407546" y="4537404"/>
            <a:ext cx="3642896" cy="1475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42.86%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0–10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28.56%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10–20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14.29%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20–30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14.29%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30+ pts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6C4A604-06FA-EE4C-0024-74B368E495E0}"/>
              </a:ext>
            </a:extLst>
          </p:cNvPr>
          <p:cNvSpPr txBox="1">
            <a:spLocks/>
          </p:cNvSpPr>
          <p:nvPr/>
        </p:nvSpPr>
        <p:spPr>
          <a:xfrm>
            <a:off x="6398382" y="4534657"/>
            <a:ext cx="3345798" cy="1557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14.29%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0–3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5.88%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3–6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16.66%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6–9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29.63%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9-12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26.32%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12+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561350-8328-1EE3-4E5C-8A41FF49A1F7}"/>
              </a:ext>
            </a:extLst>
          </p:cNvPr>
          <p:cNvSpPr/>
          <p:nvPr/>
        </p:nvSpPr>
        <p:spPr>
          <a:xfrm>
            <a:off x="2098976" y="3965761"/>
            <a:ext cx="8215952" cy="46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0524839-3414-EC93-D12B-F2DD0B4384D0}"/>
              </a:ext>
            </a:extLst>
          </p:cNvPr>
          <p:cNvSpPr txBox="1">
            <a:spLocks/>
          </p:cNvSpPr>
          <p:nvPr/>
        </p:nvSpPr>
        <p:spPr>
          <a:xfrm>
            <a:off x="2680643" y="4089582"/>
            <a:ext cx="3096702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0–3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hours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2CED9CB-5570-9D68-54B1-E31BCA27F2C7}"/>
              </a:ext>
            </a:extLst>
          </p:cNvPr>
          <p:cNvSpPr txBox="1">
            <a:spLocks/>
          </p:cNvSpPr>
          <p:nvPr/>
        </p:nvSpPr>
        <p:spPr>
          <a:xfrm>
            <a:off x="7192527" y="4086307"/>
            <a:ext cx="1757509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30+ pts:</a:t>
            </a:r>
            <a:endParaRPr lang="en-US" sz="20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9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4175-8A4C-07E5-6378-455B7E9E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6C578A-8B17-28F6-F0B4-F6B046C87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456626"/>
              </p:ext>
            </p:extLst>
          </p:nvPr>
        </p:nvGraphicFramePr>
        <p:xfrm>
          <a:off x="2127907" y="1387062"/>
          <a:ext cx="7936176" cy="29260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34156">
                  <a:extLst>
                    <a:ext uri="{9D8B030D-6E8A-4147-A177-3AD203B41FA5}">
                      <a16:colId xmlns:a16="http://schemas.microsoft.com/office/drawing/2014/main" val="375650498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1215444797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2731269010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998250732"/>
                    </a:ext>
                  </a:extLst>
                </a:gridCol>
                <a:gridCol w="1083670">
                  <a:extLst>
                    <a:ext uri="{9D8B030D-6E8A-4147-A177-3AD203B41FA5}">
                      <a16:colId xmlns:a16="http://schemas.microsoft.com/office/drawing/2014/main" val="3369379599"/>
                    </a:ext>
                  </a:extLst>
                </a:gridCol>
              </a:tblGrid>
              <a:tr h="358863">
                <a:tc rowSpan="2" gridSpan="2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Quiz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65760">
                <a:tc gridSpan="2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10-20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20-30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30+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65760">
                <a:tc rowSpan="6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MU Concrete" panose="02000603000000000000" pitchFamily="2" charset="0"/>
                        </a:rPr>
                        <a:t>Hours Studying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0-3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6.66%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3.33%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3-6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847247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6-9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79879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9-12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13.33%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59927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CMU Concrete" panose="02000603000000000000" pitchFamily="2" charset="0"/>
                        <a:ea typeface="CMU Concrete" panose="02000603000000000000" pitchFamily="2" charset="0"/>
                        <a:cs typeface="CMU Concrete" panose="020006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28878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MU Concrete" panose="02000603000000000000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18017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D6C1447C-0AB9-D3D7-5422-E882C013591E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8A4337-285A-8043-0A0D-3E8FEDA98E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DISTRIBUTION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26C06E-26F6-DD76-CF69-B390DAACA5AC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D33007-F8E3-2930-E16C-7BA1DF169185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A9ECACA3-7F61-41A2-1C6A-0FBE41789D65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B200DD-07B3-C205-3B03-A22C04B0C9BE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D3A97A-A5CC-E61F-B852-8D8C17C93F45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2C78F53E-7456-B78C-DE48-055570547E5C}"/>
              </a:ext>
            </a:extLst>
          </p:cNvPr>
          <p:cNvSpPr txBox="1">
            <a:spLocks/>
          </p:cNvSpPr>
          <p:nvPr/>
        </p:nvSpPr>
        <p:spPr>
          <a:xfrm>
            <a:off x="1612364" y="611762"/>
            <a:ext cx="8967263" cy="660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conditional distribution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shows the distribution of one variable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given a specific value of the other variable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D3980D-C2BE-6505-991A-2344FAA28584}"/>
              </a:ext>
            </a:extLst>
          </p:cNvPr>
          <p:cNvSpPr txBox="1">
            <a:spLocks/>
          </p:cNvSpPr>
          <p:nvPr/>
        </p:nvSpPr>
        <p:spPr>
          <a:xfrm>
            <a:off x="2453099" y="4832586"/>
            <a:ext cx="3642896" cy="1475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20%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0–10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16.67%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10–20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16.67%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20–30 pts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25%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scored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30+ pts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C9505D-DCD5-FE54-6817-697177D396E9}"/>
              </a:ext>
            </a:extLst>
          </p:cNvPr>
          <p:cNvSpPr txBox="1">
            <a:spLocks/>
          </p:cNvSpPr>
          <p:nvPr/>
        </p:nvSpPr>
        <p:spPr>
          <a:xfrm>
            <a:off x="6502984" y="4829839"/>
            <a:ext cx="3345798" cy="1557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15%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0–3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35%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3–6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10%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6–9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20%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9-12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20%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studied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12+ 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hrs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BD6A10F-3FBE-22E7-8B32-D3A0F57047EA}"/>
              </a:ext>
            </a:extLst>
          </p:cNvPr>
          <p:cNvSpPr txBox="1">
            <a:spLocks/>
          </p:cNvSpPr>
          <p:nvPr/>
        </p:nvSpPr>
        <p:spPr>
          <a:xfrm>
            <a:off x="2680642" y="4482504"/>
            <a:ext cx="3186757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9–12 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hours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31A14EB-E1E0-44DA-E0A7-88CAC32A61E9}"/>
              </a:ext>
            </a:extLst>
          </p:cNvPr>
          <p:cNvSpPr txBox="1">
            <a:spLocks/>
          </p:cNvSpPr>
          <p:nvPr/>
        </p:nvSpPr>
        <p:spPr>
          <a:xfrm>
            <a:off x="7192527" y="4479229"/>
            <a:ext cx="196671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0-10 pts:</a:t>
            </a:r>
            <a:endParaRPr lang="en-US" sz="2000" dirty="0">
              <a:latin typeface="Times New Roman" panose="02020603050405020304" pitchFamily="18" charset="0"/>
              <a:ea typeface="CMU Concrete" panose="02000603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E4F515-89CA-4AFD-38AD-DA8439AB7374}"/>
              </a:ext>
            </a:extLst>
          </p:cNvPr>
          <p:cNvGrpSpPr/>
          <p:nvPr/>
        </p:nvGrpSpPr>
        <p:grpSpPr>
          <a:xfrm>
            <a:off x="8995756" y="996583"/>
            <a:ext cx="2246890" cy="3487097"/>
            <a:chOff x="8988136" y="996583"/>
            <a:chExt cx="2246890" cy="34870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28DC71A-E180-7777-F443-0B9E988A420C}"/>
                </a:ext>
              </a:extLst>
            </p:cNvPr>
            <p:cNvSpPr/>
            <p:nvPr/>
          </p:nvSpPr>
          <p:spPr>
            <a:xfrm>
              <a:off x="8988136" y="1059705"/>
              <a:ext cx="1310798" cy="34239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5BF725-798A-1123-7D81-146552BA9BF7}"/>
                </a:ext>
              </a:extLst>
            </p:cNvPr>
            <p:cNvSpPr/>
            <p:nvPr/>
          </p:nvSpPr>
          <p:spPr>
            <a:xfrm>
              <a:off x="9924228" y="996583"/>
              <a:ext cx="1310798" cy="34239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142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03844-0D68-8779-71F5-6E6B36DEE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122D0CA-42D7-277A-9212-4B002F0067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651441F8-59A6-5833-E009-0FCB6342BDE6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38C410D-6AD0-EDE3-702F-0E7C76D259FE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4CF1D29-F338-8D4A-2FF2-95D07F1BDDDC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49ED72B-BED9-0D9B-8403-82759ECFAFD6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0568805-D07D-FDD6-FC21-D701D3A13C23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9659167-7516-ECFE-F660-730426B95D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3805B27-46BB-7425-3E3C-6FC33FF18209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B134D6-54E4-4D72-6E13-169F67D5BCA9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B8099CD9-1615-1F7C-9199-CE65DE1F68BC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CF1B82F-49E5-4D85-31B0-FF2912EFBC10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7D95BB-D88E-7145-A6B9-C5331E847736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8CC6771-B0BB-F691-F5E8-480D8F147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6D76A96D-A194-A342-D940-35B2914FB6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58B00C0E-7C49-6E4F-20A5-A7498D4BB344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0CD22FA5-0E71-D51F-F3CF-C126F4075419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D57DFD8D-54A1-E733-33CF-5C7207271A1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02.06 – HISTOGRAMS AND STEM PLOTS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FA3C40-5ED1-45A3-33F1-F88B67471F7B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384C3A-0203-9898-3FB3-5F08C55D79C8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39D28F46-C344-DF2C-1659-DF61BDB3A87C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36357C-6357-E8E0-00E4-4D9B2E87CA7F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8E2DF93-D82E-EE2B-AA75-8F797EAA824E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304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7BC4-473B-5C6B-073C-8A772A71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B0B217B-679A-F097-F50A-499E1308943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41314A-A424-73D2-BCFF-2E1FBCE111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62D47B-A0A2-6996-5BD5-2DBD56807183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89AA4E-D3F6-47A8-AA30-81754D448478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E73F8C12-9ADB-53EC-C03D-874F2FA940E5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86CCBD-A375-6DD5-B1BD-47090E2A7EB6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1AE8872-C693-4473-7D73-AC0022B7357C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F6650AA4-425B-AEBB-B20E-B0ADBF9B0B0F}"/>
              </a:ext>
            </a:extLst>
          </p:cNvPr>
          <p:cNvSpPr txBox="1">
            <a:spLocks/>
          </p:cNvSpPr>
          <p:nvPr/>
        </p:nvSpPr>
        <p:spPr>
          <a:xfrm>
            <a:off x="1612364" y="717185"/>
            <a:ext cx="8967263" cy="394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histogram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(frequency histogram) is like a bar graph, but: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507825B-1CEF-072F-0461-CCB604FFA248}"/>
              </a:ext>
            </a:extLst>
          </p:cNvPr>
          <p:cNvSpPr txBox="1">
            <a:spLocks/>
          </p:cNvSpPr>
          <p:nvPr/>
        </p:nvSpPr>
        <p:spPr>
          <a:xfrm>
            <a:off x="3482720" y="1174931"/>
            <a:ext cx="5226559" cy="9170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is grouped into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equal-width bins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Bars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touch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(no gaps)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for 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continuous quantitative data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4FDE91-BEC5-BCA8-0213-3B73E6EA850B}"/>
              </a:ext>
            </a:extLst>
          </p:cNvPr>
          <p:cNvSpPr/>
          <p:nvPr/>
        </p:nvSpPr>
        <p:spPr>
          <a:xfrm>
            <a:off x="1988024" y="4144245"/>
            <a:ext cx="8215952" cy="465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803100D-09A3-6149-4D1F-6177D600EE83}"/>
              </a:ext>
            </a:extLst>
          </p:cNvPr>
          <p:cNvSpPr txBox="1">
            <a:spLocks/>
          </p:cNvSpPr>
          <p:nvPr/>
        </p:nvSpPr>
        <p:spPr>
          <a:xfrm>
            <a:off x="4376946" y="2369173"/>
            <a:ext cx="3438108" cy="457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Why Use a Histogram?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3AE297-53F0-50EF-6DB3-4600F82AE17A}"/>
              </a:ext>
            </a:extLst>
          </p:cNvPr>
          <p:cNvSpPr txBox="1">
            <a:spLocks/>
          </p:cNvSpPr>
          <p:nvPr/>
        </p:nvSpPr>
        <p:spPr>
          <a:xfrm>
            <a:off x="5012999" y="4609490"/>
            <a:ext cx="2165989" cy="170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0–4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4–7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7–11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etc.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FAD91B-ECE4-5595-3D43-E2214D2EF7F3}"/>
              </a:ext>
            </a:extLst>
          </p:cNvPr>
          <p:cNvSpPr txBox="1">
            <a:spLocks/>
          </p:cNvSpPr>
          <p:nvPr/>
        </p:nvSpPr>
        <p:spPr>
          <a:xfrm>
            <a:off x="2536770" y="2949490"/>
            <a:ext cx="7118450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When there are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too many data points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to show individually.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AD3BEF-1B86-0397-8C28-38390D45BC6E}"/>
              </a:ext>
            </a:extLst>
          </p:cNvPr>
          <p:cNvSpPr txBox="1">
            <a:spLocks/>
          </p:cNvSpPr>
          <p:nvPr/>
        </p:nvSpPr>
        <p:spPr>
          <a:xfrm>
            <a:off x="2929143" y="4144245"/>
            <a:ext cx="6333703" cy="313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Instead of 30+ bars (year-old 0, 1, 2, … 30), group into: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15924-F4C4-A02D-A487-8E32D3CB9149}"/>
              </a:ext>
            </a:extLst>
          </p:cNvPr>
          <p:cNvSpPr txBox="1">
            <a:spLocks/>
          </p:cNvSpPr>
          <p:nvPr/>
        </p:nvSpPr>
        <p:spPr>
          <a:xfrm>
            <a:off x="2623775" y="3374665"/>
            <a:ext cx="6944436" cy="658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Maybe we want to use city records to make a graph of the number of vehicles of each age in the entire city of Manila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53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7" grpId="0"/>
      <p:bldP spid="11" grpId="0"/>
      <p:bldP spid="12" grpId="0"/>
      <p:bldP spid="5" grpId="0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1725-D0AF-B6FF-12F3-35A8277B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32AB98A-55DD-7C1F-6CAF-CEB8BD1334B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EEE40B-77E7-09BC-6161-241B72AF38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1CA116-7240-F686-CEB8-8ECE47161473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01271E2-3B1A-504A-BD79-3FE61141EAB9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587F1AF1-3725-488D-B663-FEE7ABFAE63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BAF6352-A202-B4EA-7874-8D864501409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601A61-3FF1-A855-7A95-4E97B20D48E2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DE6D4A1D-6830-F35B-384B-595B55AF1754}"/>
              </a:ext>
            </a:extLst>
          </p:cNvPr>
          <p:cNvSpPr txBox="1">
            <a:spLocks/>
          </p:cNvSpPr>
          <p:nvPr/>
        </p:nvSpPr>
        <p:spPr>
          <a:xfrm>
            <a:off x="4731875" y="1043039"/>
            <a:ext cx="7310264" cy="357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shape of the graph shows the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of the data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C6DC466-7E2B-0A7E-6DB7-5A63BCE4AAA8}"/>
              </a:ext>
            </a:extLst>
          </p:cNvPr>
          <p:cNvSpPr txBox="1">
            <a:spLocks/>
          </p:cNvSpPr>
          <p:nvPr/>
        </p:nvSpPr>
        <p:spPr>
          <a:xfrm>
            <a:off x="5979446" y="5457600"/>
            <a:ext cx="4815122" cy="7862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Qualitative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→ Bar graph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Quantitative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→ Histogram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B3E4425-8C06-26B3-6A76-05B45C00D8F8}"/>
              </a:ext>
            </a:extLst>
          </p:cNvPr>
          <p:cNvSpPr txBox="1">
            <a:spLocks/>
          </p:cNvSpPr>
          <p:nvPr/>
        </p:nvSpPr>
        <p:spPr>
          <a:xfrm>
            <a:off x="1433427" y="3161842"/>
            <a:ext cx="1569533" cy="16879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0–4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4–7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7–11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etc.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98D51D-6440-70D1-4D58-61D795397248}"/>
              </a:ext>
            </a:extLst>
          </p:cNvPr>
          <p:cNvSpPr txBox="1">
            <a:spLocks/>
          </p:cNvSpPr>
          <p:nvPr/>
        </p:nvSpPr>
        <p:spPr>
          <a:xfrm>
            <a:off x="185111" y="2497463"/>
            <a:ext cx="4066168" cy="530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Instead of 30+ bars (year-old 0, 1, 2, … 30), group into: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7DB5F1F-2E99-57E8-5A14-685E3980A04D}"/>
              </a:ext>
            </a:extLst>
          </p:cNvPr>
          <p:cNvSpPr txBox="1">
            <a:spLocks/>
          </p:cNvSpPr>
          <p:nvPr/>
        </p:nvSpPr>
        <p:spPr>
          <a:xfrm>
            <a:off x="185110" y="1628805"/>
            <a:ext cx="4066169" cy="7329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Maybe we want to use city records to make a graph of the number of vehicles of each age in the entire city of Manila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05F14F-2E05-C962-B2C6-961070834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30" y="1576107"/>
            <a:ext cx="6762954" cy="370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48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A5A8-6F16-BE32-2206-66ABDD9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8AD3834-9F3B-B2CA-62AE-A5996B41F89B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4C1559-9219-4764-941B-5EE807FB35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STEM-AND-LEAF PLOT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779476-FC42-3AE4-CFD0-5E7F9915D7E1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16A3DB-9BE3-D958-49DF-CDB723D3519D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E7D4503A-BC75-D520-0DAE-B3EFC4D79459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C2881A-70AA-9071-3826-CED4951E9746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898FCE-0F5A-0EE3-1AAF-B3DED3EBDE82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48D9BE63-D735-B444-4A8C-ECED2EC8DAF6}"/>
              </a:ext>
            </a:extLst>
          </p:cNvPr>
          <p:cNvSpPr txBox="1">
            <a:spLocks/>
          </p:cNvSpPr>
          <p:nvPr/>
        </p:nvSpPr>
        <p:spPr>
          <a:xfrm>
            <a:off x="1612364" y="611762"/>
            <a:ext cx="8967263" cy="660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stem-and-leaf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groups numbers by leading digit(s).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EEE6D1C-29B6-AF6B-BF74-5D2814C18508}"/>
              </a:ext>
            </a:extLst>
          </p:cNvPr>
          <p:cNvSpPr txBox="1">
            <a:spLocks/>
          </p:cNvSpPr>
          <p:nvPr/>
        </p:nvSpPr>
        <p:spPr>
          <a:xfrm>
            <a:off x="5120445" y="4204952"/>
            <a:ext cx="1951097" cy="47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7|2 = 72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2A8482A-61C1-151F-4AE8-EE61F8C1F982}"/>
              </a:ext>
            </a:extLst>
          </p:cNvPr>
          <p:cNvSpPr txBox="1">
            <a:spLocks/>
          </p:cNvSpPr>
          <p:nvPr/>
        </p:nvSpPr>
        <p:spPr>
          <a:xfrm>
            <a:off x="1612364" y="1527698"/>
            <a:ext cx="8967263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Data: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29EA9-52CF-3639-821D-A15076D28C45}"/>
              </a:ext>
            </a:extLst>
          </p:cNvPr>
          <p:cNvSpPr txBox="1">
            <a:spLocks/>
          </p:cNvSpPr>
          <p:nvPr/>
        </p:nvSpPr>
        <p:spPr>
          <a:xfrm>
            <a:off x="1612364" y="2002078"/>
            <a:ext cx="8967263" cy="376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72, 73,74, 75, 75, 76, 76, 77, 78, 78, 78, 79, 80, 81, 82, 83, 85, 88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EAF43-D813-490A-18C8-8929B7952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60995"/>
              </p:ext>
            </p:extLst>
          </p:nvPr>
        </p:nvGraphicFramePr>
        <p:xfrm>
          <a:off x="3900214" y="2785501"/>
          <a:ext cx="439155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560">
                  <a:extLst>
                    <a:ext uri="{9D8B030D-6E8A-4147-A177-3AD203B41FA5}">
                      <a16:colId xmlns:a16="http://schemas.microsoft.com/office/drawing/2014/main" val="1592034664"/>
                    </a:ext>
                  </a:extLst>
                </a:gridCol>
                <a:gridCol w="3742995">
                  <a:extLst>
                    <a:ext uri="{9D8B030D-6E8A-4147-A177-3AD203B41FA5}">
                      <a16:colId xmlns:a16="http://schemas.microsoft.com/office/drawing/2014/main" val="394607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2, 3, 4, 5, 5, 6, 6, 7, 8, 8, 8, 9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0, 1, 2, 3, 5, 8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655167"/>
                  </a:ext>
                </a:extLst>
              </a:tr>
            </a:tbl>
          </a:graphicData>
        </a:graphic>
      </p:graphicFrame>
      <p:sp>
        <p:nvSpPr>
          <p:cNvPr id="9" name="Subtitle 2">
            <a:extLst>
              <a:ext uri="{FF2B5EF4-FFF2-40B4-BE49-F238E27FC236}">
                <a16:creationId xmlns:a16="http://schemas.microsoft.com/office/drawing/2014/main" id="{D5A05C86-C1D1-41B5-ACBF-3D7CEAC91559}"/>
              </a:ext>
            </a:extLst>
          </p:cNvPr>
          <p:cNvSpPr txBox="1">
            <a:spLocks/>
          </p:cNvSpPr>
          <p:nvPr/>
        </p:nvSpPr>
        <p:spPr>
          <a:xfrm>
            <a:off x="4454971" y="4818850"/>
            <a:ext cx="3282043" cy="64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Leaf =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always one digit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Stem =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all remaining digits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70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2" grpId="0"/>
      <p:bldP spid="3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6ECF-1FFB-AC29-2B7E-809A76EC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1B2CDD1-94BB-923D-5190-F9BB4F246983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E698E6-54B4-F639-973A-07F7BA2D092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STEM-AND-LEAF PLOT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EBFAA6-35A9-C869-9F45-3A5CE8FD7FFB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492675-1601-5293-DE5C-54BD05947691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32956A62-4FFE-9212-ECB9-9636597C8AD3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F095DB-6D52-3528-A330-17AB2ED007B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45E239-28A6-93C4-5C13-C1CECB956E53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600A0BE3-D662-E037-3902-A3F049C10775}"/>
              </a:ext>
            </a:extLst>
          </p:cNvPr>
          <p:cNvSpPr txBox="1">
            <a:spLocks/>
          </p:cNvSpPr>
          <p:nvPr/>
        </p:nvSpPr>
        <p:spPr>
          <a:xfrm>
            <a:off x="1612364" y="611762"/>
            <a:ext cx="8967263" cy="660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stem-and-leaf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groups numbers by leading digit(s).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7F161D6-ECE9-03A9-C4B7-4A02FB1A498F}"/>
              </a:ext>
            </a:extLst>
          </p:cNvPr>
          <p:cNvSpPr txBox="1">
            <a:spLocks/>
          </p:cNvSpPr>
          <p:nvPr/>
        </p:nvSpPr>
        <p:spPr>
          <a:xfrm>
            <a:off x="1963152" y="4204952"/>
            <a:ext cx="1951097" cy="47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7|2 = 72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C719875-4472-829A-37E2-E4EB3B71575F}"/>
              </a:ext>
            </a:extLst>
          </p:cNvPr>
          <p:cNvSpPr txBox="1">
            <a:spLocks/>
          </p:cNvSpPr>
          <p:nvPr/>
        </p:nvSpPr>
        <p:spPr>
          <a:xfrm>
            <a:off x="1612364" y="1527698"/>
            <a:ext cx="8967263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Data: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46A3E-C836-7E9D-BCAE-00FCF7A1F597}"/>
              </a:ext>
            </a:extLst>
          </p:cNvPr>
          <p:cNvSpPr txBox="1">
            <a:spLocks/>
          </p:cNvSpPr>
          <p:nvPr/>
        </p:nvSpPr>
        <p:spPr>
          <a:xfrm>
            <a:off x="1612364" y="2002078"/>
            <a:ext cx="8967263" cy="376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72, 73,74, 75, 75, 76, 76, 77, 78, 78, 78, 79, 80, 81, 82, 83, 85, 88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5B752A6-004E-8950-2F9B-5B15D6AEEB82}"/>
              </a:ext>
            </a:extLst>
          </p:cNvPr>
          <p:cNvSpPr txBox="1">
            <a:spLocks/>
          </p:cNvSpPr>
          <p:nvPr/>
        </p:nvSpPr>
        <p:spPr>
          <a:xfrm>
            <a:off x="1297678" y="4818850"/>
            <a:ext cx="3282043" cy="64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Leaf =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always one digit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Stem =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all remaining digits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CC7D4B-80AC-9DE8-89EC-B89A2D8AEAD9}"/>
              </a:ext>
            </a:extLst>
          </p:cNvPr>
          <p:cNvSpPr txBox="1">
            <a:spLocks/>
          </p:cNvSpPr>
          <p:nvPr/>
        </p:nvSpPr>
        <p:spPr>
          <a:xfrm>
            <a:off x="5955761" y="2785501"/>
            <a:ext cx="4938561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Why Use Stem Plots?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D98B18B-AE7A-5CA6-C381-FE15C919B1F4}"/>
              </a:ext>
            </a:extLst>
          </p:cNvPr>
          <p:cNvSpPr txBox="1">
            <a:spLocks/>
          </p:cNvSpPr>
          <p:nvPr/>
        </p:nvSpPr>
        <p:spPr>
          <a:xfrm>
            <a:off x="5761281" y="3433563"/>
            <a:ext cx="5327523" cy="1148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Show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exact values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Show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distribution shape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Good for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small to medium datasets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A6279A-34C3-59CB-017E-DBDA3EA2F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17582"/>
              </p:ext>
            </p:extLst>
          </p:nvPr>
        </p:nvGraphicFramePr>
        <p:xfrm>
          <a:off x="742921" y="2785501"/>
          <a:ext cx="439155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560">
                  <a:extLst>
                    <a:ext uri="{9D8B030D-6E8A-4147-A177-3AD203B41FA5}">
                      <a16:colId xmlns:a16="http://schemas.microsoft.com/office/drawing/2014/main" val="1592034664"/>
                    </a:ext>
                  </a:extLst>
                </a:gridCol>
                <a:gridCol w="3742995">
                  <a:extLst>
                    <a:ext uri="{9D8B030D-6E8A-4147-A177-3AD203B41FA5}">
                      <a16:colId xmlns:a16="http://schemas.microsoft.com/office/drawing/2014/main" val="394607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2, 3, 4, 5, 5, 6, 6, 7, 8, 8, 8, 9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0, 1, 2, 3, 5, 8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655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899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9E93-F157-34A8-818B-8BCA6344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309B72D-992F-BEBB-F704-30BF948D25CF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06A6D4-0B0A-EFC6-1892-CDDD0AF7B6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DIGIT, OR MORE THAN ONE DIGIT IN STEM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710778-4EAA-CC0E-E695-D2929B141EB1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83092D-355A-CD00-9769-D1E6356489D6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6F6C0FEB-A580-0010-86AE-75AFDA7D9B9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DBA290-F5CE-C28C-4634-4A6FCF6E138E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B0678A-624D-8D43-41E1-F67CFF640293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BAE35B6C-0529-56F3-BA93-22A6AC33D2DD}"/>
              </a:ext>
            </a:extLst>
          </p:cNvPr>
          <p:cNvSpPr txBox="1">
            <a:spLocks/>
          </p:cNvSpPr>
          <p:nvPr/>
        </p:nvSpPr>
        <p:spPr>
          <a:xfrm>
            <a:off x="1585069" y="2334021"/>
            <a:ext cx="2543379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Adding 104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A3333B-CF58-2C06-DB21-FFBC7F470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317442"/>
              </p:ext>
            </p:extLst>
          </p:nvPr>
        </p:nvGraphicFramePr>
        <p:xfrm>
          <a:off x="660980" y="2929909"/>
          <a:ext cx="439155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560">
                  <a:extLst>
                    <a:ext uri="{9D8B030D-6E8A-4147-A177-3AD203B41FA5}">
                      <a16:colId xmlns:a16="http://schemas.microsoft.com/office/drawing/2014/main" val="1592034664"/>
                    </a:ext>
                  </a:extLst>
                </a:gridCol>
                <a:gridCol w="3742995">
                  <a:extLst>
                    <a:ext uri="{9D8B030D-6E8A-4147-A177-3AD203B41FA5}">
                      <a16:colId xmlns:a16="http://schemas.microsoft.com/office/drawing/2014/main" val="394607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2, 3, 4, 5, 5, 6, 6, 7, 8, 8, 8, 9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0, 1, 2, 3, 5, 8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65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02534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18ECEF8A-335B-2703-A16E-232B32F950F5}"/>
              </a:ext>
            </a:extLst>
          </p:cNvPr>
          <p:cNvSpPr txBox="1">
            <a:spLocks/>
          </p:cNvSpPr>
          <p:nvPr/>
        </p:nvSpPr>
        <p:spPr>
          <a:xfrm>
            <a:off x="6246126" y="877212"/>
            <a:ext cx="5456830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Adding Single-Digit Numbers (6, 8, 9)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5188AE-953F-1C30-954B-CBB884F4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468948"/>
              </p:ext>
            </p:extLst>
          </p:nvPr>
        </p:nvGraphicFramePr>
        <p:xfrm>
          <a:off x="6918478" y="1942930"/>
          <a:ext cx="439155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560">
                  <a:extLst>
                    <a:ext uri="{9D8B030D-6E8A-4147-A177-3AD203B41FA5}">
                      <a16:colId xmlns:a16="http://schemas.microsoft.com/office/drawing/2014/main" val="1592034664"/>
                    </a:ext>
                  </a:extLst>
                </a:gridCol>
                <a:gridCol w="3742995">
                  <a:extLst>
                    <a:ext uri="{9D8B030D-6E8A-4147-A177-3AD203B41FA5}">
                      <a16:colId xmlns:a16="http://schemas.microsoft.com/office/drawing/2014/main" val="394607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171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2, 3, 4, 5, 5, 6, 6, 7, 8, 8, 8, 9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0, 1, 2, 3, 5, 8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655167"/>
                  </a:ext>
                </a:extLst>
              </a:tr>
            </a:tbl>
          </a:graphicData>
        </a:graphic>
      </p:graphicFrame>
      <p:sp>
        <p:nvSpPr>
          <p:cNvPr id="12" name="Subtitle 2">
            <a:extLst>
              <a:ext uri="{FF2B5EF4-FFF2-40B4-BE49-F238E27FC236}">
                <a16:creationId xmlns:a16="http://schemas.microsoft.com/office/drawing/2014/main" id="{5A139AFC-587E-1EA0-2744-E4AEA2C8A414}"/>
              </a:ext>
            </a:extLst>
          </p:cNvPr>
          <p:cNvSpPr txBox="1">
            <a:spLocks/>
          </p:cNvSpPr>
          <p:nvPr/>
        </p:nvSpPr>
        <p:spPr>
          <a:xfrm>
            <a:off x="690745" y="942632"/>
            <a:ext cx="4332023" cy="64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Leaf =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always one digit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Stem =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all remaining digits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37AF489-DB14-C760-6ADA-560E8E684788}"/>
              </a:ext>
            </a:extLst>
          </p:cNvPr>
          <p:cNvSpPr txBox="1">
            <a:spLocks/>
          </p:cNvSpPr>
          <p:nvPr/>
        </p:nvSpPr>
        <p:spPr>
          <a:xfrm>
            <a:off x="6300717" y="1410071"/>
            <a:ext cx="3982871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Option 1: Leave stem blank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4552516-813D-8832-C103-76A274DFD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340491"/>
              </p:ext>
            </p:extLst>
          </p:nvPr>
        </p:nvGraphicFramePr>
        <p:xfrm>
          <a:off x="6918478" y="4465576"/>
          <a:ext cx="439155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560">
                  <a:extLst>
                    <a:ext uri="{9D8B030D-6E8A-4147-A177-3AD203B41FA5}">
                      <a16:colId xmlns:a16="http://schemas.microsoft.com/office/drawing/2014/main" val="1592034664"/>
                    </a:ext>
                  </a:extLst>
                </a:gridCol>
                <a:gridCol w="3742995">
                  <a:extLst>
                    <a:ext uri="{9D8B030D-6E8A-4147-A177-3AD203B41FA5}">
                      <a16:colId xmlns:a16="http://schemas.microsoft.com/office/drawing/2014/main" val="394607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171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2, 3, 4, 5, 5, 6, 6, 7, 8, 8, 8, 9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0, 1, 2, 3, 5, 8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655167"/>
                  </a:ext>
                </a:extLst>
              </a:tr>
            </a:tbl>
          </a:graphicData>
        </a:graphic>
      </p:graphicFrame>
      <p:sp>
        <p:nvSpPr>
          <p:cNvPr id="16" name="Subtitle 2">
            <a:extLst>
              <a:ext uri="{FF2B5EF4-FFF2-40B4-BE49-F238E27FC236}">
                <a16:creationId xmlns:a16="http://schemas.microsoft.com/office/drawing/2014/main" id="{D48AADE9-45DE-5551-366C-71F7E3176A25}"/>
              </a:ext>
            </a:extLst>
          </p:cNvPr>
          <p:cNvSpPr txBox="1">
            <a:spLocks/>
          </p:cNvSpPr>
          <p:nvPr/>
        </p:nvSpPr>
        <p:spPr>
          <a:xfrm>
            <a:off x="6300717" y="3932717"/>
            <a:ext cx="4391555" cy="350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Option 2: Use 0 as the stem</a:t>
            </a:r>
          </a:p>
        </p:txBody>
      </p:sp>
    </p:spTree>
    <p:extLst>
      <p:ext uri="{BB962C8B-B14F-4D97-AF65-F5344CB8AC3E}">
        <p14:creationId xmlns:p14="http://schemas.microsoft.com/office/powerpoint/2010/main" val="399059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CA38-7299-C9B3-9E7E-3BC70854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69103C5-F175-DA1F-9FB9-E5E94FB275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3" r="15817"/>
          <a:stretch/>
        </p:blipFill>
        <p:spPr>
          <a:xfrm>
            <a:off x="8462421" y="-2"/>
            <a:ext cx="4209729" cy="6858000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5BD22DB2-3E26-9FA6-2D58-3858F39589C3}"/>
              </a:ext>
            </a:extLst>
          </p:cNvPr>
          <p:cNvSpPr/>
          <p:nvPr/>
        </p:nvSpPr>
        <p:spPr>
          <a:xfrm>
            <a:off x="8462421" y="0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E3F81E2-2952-AB8F-EDA7-4E2BDD95FCE5}"/>
              </a:ext>
            </a:extLst>
          </p:cNvPr>
          <p:cNvSpPr/>
          <p:nvPr/>
        </p:nvSpPr>
        <p:spPr>
          <a:xfrm>
            <a:off x="8592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0F771FB-B60C-CC05-3EB0-0C78B8430CB7}"/>
              </a:ext>
            </a:extLst>
          </p:cNvPr>
          <p:cNvSpPr/>
          <p:nvPr/>
        </p:nvSpPr>
        <p:spPr>
          <a:xfrm>
            <a:off x="8338596" y="191895"/>
            <a:ext cx="0" cy="6666105"/>
          </a:xfrm>
          <a:prstGeom prst="line">
            <a:avLst/>
          </a:prstGeom>
          <a:ln w="390525" cap="flat">
            <a:solidFill>
              <a:srgbClr val="21202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2C6F91C-705B-5282-B900-B86F74271D28}"/>
              </a:ext>
            </a:extLst>
          </p:cNvPr>
          <p:cNvSpPr/>
          <p:nvPr/>
        </p:nvSpPr>
        <p:spPr>
          <a:xfrm>
            <a:off x="329727" y="1076011"/>
            <a:ext cx="7667735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4ED07B3-60C4-46EA-2B89-C62EECD644ED}"/>
              </a:ext>
            </a:extLst>
          </p:cNvPr>
          <p:cNvGrpSpPr/>
          <p:nvPr/>
        </p:nvGrpSpPr>
        <p:grpSpPr>
          <a:xfrm>
            <a:off x="419417" y="380188"/>
            <a:ext cx="511045" cy="511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231AD24-1168-5704-A058-6AAE52934E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t="-2173" b="-2173"/>
              </a:stretch>
            </a:blip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21880ED-FDD3-060F-50B5-16397DF217BC}"/>
              </a:ext>
            </a:extLst>
          </p:cNvPr>
          <p:cNvSpPr txBox="1"/>
          <p:nvPr/>
        </p:nvSpPr>
        <p:spPr>
          <a:xfrm>
            <a:off x="1019362" y="367741"/>
            <a:ext cx="698715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University of San Jose -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Recoletos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| School of Computer Studies </a:t>
            </a:r>
          </a:p>
          <a:p>
            <a:pPr>
              <a:lnSpc>
                <a:spcPts val="1960"/>
              </a:lnSpc>
            </a:pP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| Quantitative Methods | Engr.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Violdan</a:t>
            </a:r>
            <a:r>
              <a:rPr lang="en-US" b="1" dirty="0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E. </a:t>
            </a:r>
            <a:r>
              <a:rPr lang="en-US" b="1" dirty="0" err="1"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Bayocot</a:t>
            </a:r>
            <a:endParaRPr lang="en-US" b="1" dirty="0"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D9B03C-0BCE-ADDD-CCBA-CC21CBBAE6F3}"/>
              </a:ext>
            </a:extLst>
          </p:cNvPr>
          <p:cNvGrpSpPr/>
          <p:nvPr/>
        </p:nvGrpSpPr>
        <p:grpSpPr>
          <a:xfrm>
            <a:off x="221008" y="2436010"/>
            <a:ext cx="7896580" cy="2378526"/>
            <a:chOff x="109932" y="2228795"/>
            <a:chExt cx="7896580" cy="2378526"/>
          </a:xfrm>
        </p:grpSpPr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42D9D8FC-30D3-1211-1815-D096AC69F60D}"/>
                </a:ext>
              </a:extLst>
            </p:cNvPr>
            <p:cNvSpPr txBox="1"/>
            <p:nvPr/>
          </p:nvSpPr>
          <p:spPr>
            <a:xfrm>
              <a:off x="109932" y="2575996"/>
              <a:ext cx="7896580" cy="203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PH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VISUALIZING DATA (PART 2)</a:t>
              </a:r>
              <a:endParaRPr lang="en-US" sz="6600" b="1" dirty="0">
                <a:latin typeface="Times New Roman" panose="02020603050405020304" pitchFamily="18" charset="0"/>
                <a:ea typeface="Archivo Black"/>
                <a:cs typeface="Times New Roman" panose="02020603050405020304" pitchFamily="18" charset="0"/>
                <a:sym typeface="Archivo Black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38A1FC8-7DF7-9BBE-0941-987DFD929C82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>
            <a:xfrm>
              <a:off x="1565603" y="2228795"/>
              <a:ext cx="4985238" cy="4524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02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16CE10-A2A5-827F-5C8D-510DBDAE41F9}"/>
              </a:ext>
            </a:extLst>
          </p:cNvPr>
          <p:cNvGrpSpPr/>
          <p:nvPr/>
        </p:nvGrpSpPr>
        <p:grpSpPr>
          <a:xfrm>
            <a:off x="8965032" y="1894438"/>
            <a:ext cx="3081528" cy="3081528"/>
            <a:chOff x="8965032" y="1894438"/>
            <a:chExt cx="3081528" cy="30815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015BD2E-1B2B-67CF-5559-C5574789D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469" y="2164924"/>
              <a:ext cx="2597703" cy="2597703"/>
            </a:xfrm>
            <a:prstGeom prst="rect">
              <a:avLst/>
            </a:prstGeom>
          </p:spPr>
        </p:pic>
        <p:grpSp>
          <p:nvGrpSpPr>
            <p:cNvPr id="22" name="Group 7">
              <a:extLst>
                <a:ext uri="{FF2B5EF4-FFF2-40B4-BE49-F238E27FC236}">
                  <a16:creationId xmlns:a16="http://schemas.microsoft.com/office/drawing/2014/main" id="{75E6BE0A-B224-C706-9C5D-2E2C006DC1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5032" y="1894438"/>
              <a:ext cx="3081528" cy="3081528"/>
              <a:chOff x="-3810" y="-17780"/>
              <a:chExt cx="7620000" cy="7620000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6A2B82C2-5EE4-E0D4-8970-E07625816E69}"/>
                  </a:ext>
                </a:extLst>
              </p:cNvPr>
              <p:cNvSpPr/>
              <p:nvPr/>
            </p:nvSpPr>
            <p:spPr>
              <a:xfrm>
                <a:off x="-3810" y="-17780"/>
                <a:ext cx="762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7620000">
                    <a:moveTo>
                      <a:pt x="3810000" y="0"/>
                    </a:moveTo>
                    <a:cubicBezTo>
                      <a:pt x="1709420" y="0"/>
                      <a:pt x="0" y="1709420"/>
                      <a:pt x="0" y="3810000"/>
                    </a:cubicBezTo>
                    <a:cubicBezTo>
                      <a:pt x="0" y="5910580"/>
                      <a:pt x="1709420" y="7620000"/>
                      <a:pt x="3810000" y="7620000"/>
                    </a:cubicBezTo>
                    <a:cubicBezTo>
                      <a:pt x="5910580" y="7620000"/>
                      <a:pt x="7620000" y="5910580"/>
                      <a:pt x="7620000" y="3810000"/>
                    </a:cubicBezTo>
                    <a:cubicBezTo>
                      <a:pt x="7620000" y="1709420"/>
                      <a:pt x="5910580" y="0"/>
                      <a:pt x="3810000" y="0"/>
                    </a:cubicBezTo>
                    <a:close/>
                    <a:moveTo>
                      <a:pt x="3810000" y="7193280"/>
                    </a:moveTo>
                    <a:cubicBezTo>
                      <a:pt x="1941830" y="7193280"/>
                      <a:pt x="426720" y="5678170"/>
                      <a:pt x="426720" y="3810000"/>
                    </a:cubicBezTo>
                    <a:cubicBezTo>
                      <a:pt x="426720" y="1941830"/>
                      <a:pt x="1941830" y="426720"/>
                      <a:pt x="3810000" y="426720"/>
                    </a:cubicBezTo>
                    <a:cubicBezTo>
                      <a:pt x="5678170" y="426720"/>
                      <a:pt x="7193280" y="1941830"/>
                      <a:pt x="7193280" y="3810000"/>
                    </a:cubicBezTo>
                    <a:cubicBezTo>
                      <a:pt x="7193280" y="5678170"/>
                      <a:pt x="5678170" y="7193280"/>
                      <a:pt x="3810000" y="719328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88A411DE-6C31-6A79-B221-B42297F3BD5D}"/>
                  </a:ext>
                </a:extLst>
              </p:cNvPr>
              <p:cNvSpPr/>
              <p:nvPr/>
            </p:nvSpPr>
            <p:spPr>
              <a:xfrm>
                <a:off x="422910" y="408940"/>
                <a:ext cx="6766559" cy="6766560"/>
              </a:xfrm>
              <a:custGeom>
                <a:avLst/>
                <a:gdLst/>
                <a:ahLst/>
                <a:cxnLst/>
                <a:rect l="l" t="t" r="r" b="b"/>
                <a:pathLst>
                  <a:path w="6766559" h="6766560">
                    <a:moveTo>
                      <a:pt x="3383280" y="0"/>
                    </a:moveTo>
                    <a:cubicBezTo>
                      <a:pt x="1515110" y="0"/>
                      <a:pt x="0" y="1515110"/>
                      <a:pt x="0" y="3383280"/>
                    </a:cubicBezTo>
                    <a:cubicBezTo>
                      <a:pt x="0" y="5251450"/>
                      <a:pt x="1515110" y="6766560"/>
                      <a:pt x="3383280" y="6766560"/>
                    </a:cubicBezTo>
                    <a:cubicBezTo>
                      <a:pt x="5251450" y="6766560"/>
                      <a:pt x="6766560" y="5251450"/>
                      <a:pt x="6766560" y="3383280"/>
                    </a:cubicBezTo>
                    <a:cubicBezTo>
                      <a:pt x="6766560" y="1515110"/>
                      <a:pt x="5251450" y="0"/>
                      <a:pt x="3383280" y="0"/>
                    </a:cubicBezTo>
                    <a:close/>
                    <a:moveTo>
                      <a:pt x="3383280" y="6398260"/>
                    </a:moveTo>
                    <a:cubicBezTo>
                      <a:pt x="1720850" y="6398260"/>
                      <a:pt x="368300" y="5045710"/>
                      <a:pt x="368300" y="3383280"/>
                    </a:cubicBezTo>
                    <a:cubicBezTo>
                      <a:pt x="368300" y="1720850"/>
                      <a:pt x="1720850" y="368300"/>
                      <a:pt x="3383280" y="368300"/>
                    </a:cubicBezTo>
                    <a:cubicBezTo>
                      <a:pt x="5045710" y="368300"/>
                      <a:pt x="6398260" y="1720850"/>
                      <a:pt x="6398260" y="3383280"/>
                    </a:cubicBezTo>
                    <a:cubicBezTo>
                      <a:pt x="6398260" y="5045710"/>
                      <a:pt x="5045710" y="6398260"/>
                      <a:pt x="3383280" y="639826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09838B-60CC-FEF8-CFED-9CEC6DEFB294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901AE6-9CD7-3489-318B-401F4430411E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30B5F252-D6CD-B9CF-1E00-935D4AE69B80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8EB7C2-DBC9-0497-CB55-C6BEB26BFAA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446ACF-2B81-EC71-B554-B0AFDA3022DB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82824B0F-59F4-13DF-8CA4-69A74722AAE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29728" y="1153968"/>
            <a:ext cx="7676784" cy="339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02.07 – BUILDING HISTOGRAMS FROM DATASETS</a:t>
            </a:r>
          </a:p>
        </p:txBody>
      </p:sp>
    </p:spTree>
    <p:extLst>
      <p:ext uri="{BB962C8B-B14F-4D97-AF65-F5344CB8AC3E}">
        <p14:creationId xmlns:p14="http://schemas.microsoft.com/office/powerpoint/2010/main" val="2306861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2874-02B1-8F6F-2FA0-934608B2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13AEAF-44F8-3EB1-952E-C0A09B08CAE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DADC87-0E73-2A90-EBD6-783EB8709E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HISTOGRAM FROM DATASETS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9A3087-C343-843C-240E-2EF635E64227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2604AC-38A3-F02F-3830-7129E6577E52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BCB0B6CE-B4EA-DE3C-8140-28D2445B2AD8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A0A4B3C-424D-CC17-C694-DB4A3B886681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61EF6E-32D9-D805-AC55-B5ECD80112CE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25EEBD4-A596-6E7C-B590-E7681CDC8B89}"/>
              </a:ext>
            </a:extLst>
          </p:cNvPr>
          <p:cNvSpPr txBox="1">
            <a:spLocks/>
          </p:cNvSpPr>
          <p:nvPr/>
        </p:nvSpPr>
        <p:spPr>
          <a:xfrm>
            <a:off x="3370819" y="687068"/>
            <a:ext cx="5450352" cy="394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Class (Bin / Class Interval)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689527C-BBAD-C11E-4697-127A6A3C77F3}"/>
              </a:ext>
            </a:extLst>
          </p:cNvPr>
          <p:cNvSpPr txBox="1">
            <a:spLocks/>
          </p:cNvSpPr>
          <p:nvPr/>
        </p:nvSpPr>
        <p:spPr>
          <a:xfrm>
            <a:off x="3203938" y="1268106"/>
            <a:ext cx="5784110" cy="10986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Groups of equal width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Example: 5–9, 10–14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Class width = 14 − 9 = 5 (or 10 − 5 = 5)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7335D52-DE92-EB45-D040-718BFAE2C704}"/>
              </a:ext>
            </a:extLst>
          </p:cNvPr>
          <p:cNvSpPr txBox="1">
            <a:spLocks/>
          </p:cNvSpPr>
          <p:nvPr/>
        </p:nvSpPr>
        <p:spPr>
          <a:xfrm>
            <a:off x="4087326" y="2755586"/>
            <a:ext cx="4017337" cy="394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Class Width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8DDA753-B8BB-C9E9-D33A-01084A1D2F69}"/>
              </a:ext>
            </a:extLst>
          </p:cNvPr>
          <p:cNvSpPr txBox="1">
            <a:spLocks/>
          </p:cNvSpPr>
          <p:nvPr/>
        </p:nvSpPr>
        <p:spPr>
          <a:xfrm>
            <a:off x="2249495" y="3286605"/>
            <a:ext cx="7692998" cy="394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Difference between consecutive upper or lower limits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4ECFA04-85F2-43A9-B73F-5B4CBDBF0D89}"/>
              </a:ext>
            </a:extLst>
          </p:cNvPr>
          <p:cNvSpPr txBox="1">
            <a:spLocks/>
          </p:cNvSpPr>
          <p:nvPr/>
        </p:nvSpPr>
        <p:spPr>
          <a:xfrm>
            <a:off x="3984965" y="4070095"/>
            <a:ext cx="4222056" cy="394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Class Midpoint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9DF250-BA4D-87DD-2EF2-C3AA7851096A}"/>
              </a:ext>
            </a:extLst>
          </p:cNvPr>
          <p:cNvSpPr txBox="1">
            <a:spLocks/>
          </p:cNvSpPr>
          <p:nvPr/>
        </p:nvSpPr>
        <p:spPr>
          <a:xfrm>
            <a:off x="2568110" y="4575774"/>
            <a:ext cx="7055766" cy="15951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Middle of a class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Formula: (Lower + Upper) ÷ 2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Example: 100–104 → Midpoint = 102</a:t>
            </a: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Odd widths (like 5) give whole-number midpoints</a:t>
            </a:r>
          </a:p>
        </p:txBody>
      </p:sp>
    </p:spTree>
    <p:extLst>
      <p:ext uri="{BB962C8B-B14F-4D97-AF65-F5344CB8AC3E}">
        <p14:creationId xmlns:p14="http://schemas.microsoft.com/office/powerpoint/2010/main" val="349012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4" grpId="0"/>
      <p:bldP spid="9" grpId="0"/>
      <p:bldP spid="10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63E4-011C-C88B-0891-76C23F5C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57333F0-6DD5-7CF7-E290-FF9160C6B8B5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83DD50-0DFA-5CFA-9ADC-F5F9BC9900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BUILD A HISTOGRAM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338B08-331E-C09F-C640-99DED450E40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339E65F-7759-AE41-1B75-DE45F953A5D8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E096605B-70EB-1BEB-D601-3DD7DA7947C5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AC58035-046E-4FDB-305E-3A79699D6C31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5E288D-8958-19C7-AC0C-D7031B66DA6D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8" name="Subtitle 2">
            <a:extLst>
              <a:ext uri="{FF2B5EF4-FFF2-40B4-BE49-F238E27FC236}">
                <a16:creationId xmlns:a16="http://schemas.microsoft.com/office/drawing/2014/main" id="{EADE767F-2F17-C8C7-1B2E-5CF9D4052861}"/>
              </a:ext>
            </a:extLst>
          </p:cNvPr>
          <p:cNvSpPr txBox="1">
            <a:spLocks/>
          </p:cNvSpPr>
          <p:nvPr/>
        </p:nvSpPr>
        <p:spPr>
          <a:xfrm>
            <a:off x="2777379" y="970270"/>
            <a:ext cx="8243189" cy="35836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Arrange data in ascending order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Find the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range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(max − min)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Choose number of classes (usually 5–6)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Class width = Range ÷ # of classes → round up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Create class intervals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Count frequencies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Draw histogram (bars touch)</a:t>
            </a:r>
            <a:endParaRPr lang="en-US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C67604B-FAE6-937C-BB0E-83F29A8EBA0B}"/>
              </a:ext>
            </a:extLst>
          </p:cNvPr>
          <p:cNvSpPr txBox="1">
            <a:spLocks/>
          </p:cNvSpPr>
          <p:nvPr/>
        </p:nvSpPr>
        <p:spPr>
          <a:xfrm>
            <a:off x="3046995" y="4975551"/>
            <a:ext cx="6098008" cy="826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If intervals are 0–4 and 4–8 → …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4 goes in the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second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class.</a:t>
            </a: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3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A2C4-9542-CD5C-DF39-720FC454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F80E3E5-046F-9128-75FA-6D43D7788A8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844E6-AC43-D602-0B04-ACEFD01408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BUILD A HISTOGRAM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115123-6ACE-C279-C8B2-9A3025F78B2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CFF7FD-40A3-7A28-2E51-3D6A9B98BABF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4FEC34A6-A869-84ED-0FC2-1F1B1CF69F7C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C2E4C8-30BD-1F78-0AF3-A60A400E124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EA0A86-5FE2-CB42-D773-659CB015D36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DA510E97-1675-4C3D-9807-1DC3F5D85ADD}"/>
              </a:ext>
            </a:extLst>
          </p:cNvPr>
          <p:cNvSpPr txBox="1">
            <a:spLocks/>
          </p:cNvSpPr>
          <p:nvPr/>
        </p:nvSpPr>
        <p:spPr>
          <a:xfrm>
            <a:off x="3046995" y="2138654"/>
            <a:ext cx="609800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PH" sz="2800" b="1" dirty="0">
                <a:latin typeface="Cambria" panose="02040503050406030204" pitchFamily="18" charset="0"/>
                <a:ea typeface="Cambria" panose="02040503050406030204" pitchFamily="18" charset="0"/>
              </a:rPr>
              <a:t>Step 1: Sort Data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C0FC3AE-683C-4408-88D3-9C90ABDE0F7D}"/>
              </a:ext>
            </a:extLst>
          </p:cNvPr>
          <p:cNvSpPr txBox="1">
            <a:spLocks/>
          </p:cNvSpPr>
          <p:nvPr/>
        </p:nvSpPr>
        <p:spPr>
          <a:xfrm>
            <a:off x="468864" y="2782720"/>
            <a:ext cx="11254265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10, 12, 14, 15, 16, 17, 18, 19, 20, 21, 22, 23, 24, 25, 26, 27, 28, 30, 32, 35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C09285C-1AE6-4CB0-B8AD-6FBB2590795D}"/>
              </a:ext>
            </a:extLst>
          </p:cNvPr>
          <p:cNvSpPr txBox="1">
            <a:spLocks/>
          </p:cNvSpPr>
          <p:nvPr/>
        </p:nvSpPr>
        <p:spPr>
          <a:xfrm>
            <a:off x="3046995" y="3531854"/>
            <a:ext cx="609800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PH" sz="2800" b="1" dirty="0">
                <a:latin typeface="Cambria" panose="02040503050406030204" pitchFamily="18" charset="0"/>
                <a:ea typeface="Cambria" panose="02040503050406030204" pitchFamily="18" charset="0"/>
              </a:rPr>
              <a:t>Step 2: Range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E3EC89F-AF5B-459E-8390-2187704757D9}"/>
              </a:ext>
            </a:extLst>
          </p:cNvPr>
          <p:cNvSpPr txBox="1">
            <a:spLocks/>
          </p:cNvSpPr>
          <p:nvPr/>
        </p:nvSpPr>
        <p:spPr>
          <a:xfrm>
            <a:off x="1935955" y="4175920"/>
            <a:ext cx="832008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PH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35 − 10 = </a:t>
            </a:r>
            <a:r>
              <a:rPr lang="en-PH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25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5D48ED4-7A5F-4A43-B122-F48492FFE19D}"/>
              </a:ext>
            </a:extLst>
          </p:cNvPr>
          <p:cNvSpPr txBox="1">
            <a:spLocks/>
          </p:cNvSpPr>
          <p:nvPr/>
        </p:nvSpPr>
        <p:spPr>
          <a:xfrm>
            <a:off x="3046995" y="4819986"/>
            <a:ext cx="609800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PH" sz="2800" b="1" dirty="0">
                <a:latin typeface="Cambria" panose="02040503050406030204" pitchFamily="18" charset="0"/>
                <a:ea typeface="Cambria" panose="02040503050406030204" pitchFamily="18" charset="0"/>
              </a:rPr>
              <a:t>Step 3: Class Width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Subtitle 2">
                <a:extLst>
                  <a:ext uri="{FF2B5EF4-FFF2-40B4-BE49-F238E27FC236}">
                    <a16:creationId xmlns:a16="http://schemas.microsoft.com/office/drawing/2014/main" id="{45EF2A6C-AA0A-43E4-B13C-F14D5934D7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35956" y="5461851"/>
                <a:ext cx="8320088" cy="9415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𝟐</m:t>
                          </m:r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2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altLang="en-US" sz="28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8" name="Subtitle 2">
                <a:extLst>
                  <a:ext uri="{FF2B5EF4-FFF2-40B4-BE49-F238E27FC236}">
                    <a16:creationId xmlns:a16="http://schemas.microsoft.com/office/drawing/2014/main" id="{45EF2A6C-AA0A-43E4-B13C-F14D5934D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956" y="5461851"/>
                <a:ext cx="8320088" cy="941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ubtitle 2">
            <a:extLst>
              <a:ext uri="{FF2B5EF4-FFF2-40B4-BE49-F238E27FC236}">
                <a16:creationId xmlns:a16="http://schemas.microsoft.com/office/drawing/2014/main" id="{9760FE15-4F7D-4347-B1BE-FBCA38DEE3FB}"/>
              </a:ext>
            </a:extLst>
          </p:cNvPr>
          <p:cNvSpPr txBox="1">
            <a:spLocks/>
          </p:cNvSpPr>
          <p:nvPr/>
        </p:nvSpPr>
        <p:spPr>
          <a:xfrm>
            <a:off x="1929887" y="687236"/>
            <a:ext cx="833221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(20 employees – minutes spent exercising)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7562E45-D256-45C1-A83F-BBD1C8B8F908}"/>
              </a:ext>
            </a:extLst>
          </p:cNvPr>
          <p:cNvSpPr txBox="1">
            <a:spLocks/>
          </p:cNvSpPr>
          <p:nvPr/>
        </p:nvSpPr>
        <p:spPr>
          <a:xfrm>
            <a:off x="468865" y="1389520"/>
            <a:ext cx="11254265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12, 25, 18, 30, 22, 15, 27, 10, 20, 17, 16, 24, 28, 35, 14, 19, 23, 32, 21, 26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3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A2C4-9542-CD5C-DF39-720FC454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F80E3E5-046F-9128-75FA-6D43D7788A8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844E6-AC43-D602-0B04-ACEFD01408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115123-6ACE-C279-C8B2-9A3025F78B2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CFF7FD-40A3-7A28-2E51-3D6A9B98BABF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4FEC34A6-A869-84ED-0FC2-1F1B1CF69F7C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C2E4C8-30BD-1F78-0AF3-A60A400E124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EA0A86-5FE2-CB42-D773-659CB015D36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03BA06E-D0AF-411B-B3D0-9395738F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25318"/>
              </p:ext>
            </p:extLst>
          </p:nvPr>
        </p:nvGraphicFramePr>
        <p:xfrm>
          <a:off x="4374395" y="2446005"/>
          <a:ext cx="3443207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199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80121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 –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 –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332046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 –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75933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 –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39275"/>
                  </a:ext>
                </a:extLst>
              </a:tr>
            </a:tbl>
          </a:graphicData>
        </a:graphic>
      </p:graphicFrame>
      <p:sp>
        <p:nvSpPr>
          <p:cNvPr id="4" name="Subtitle 2">
            <a:extLst>
              <a:ext uri="{FF2B5EF4-FFF2-40B4-BE49-F238E27FC236}">
                <a16:creationId xmlns:a16="http://schemas.microsoft.com/office/drawing/2014/main" id="{BCB1F0DF-2C3E-2266-5383-8876730380EC}"/>
              </a:ext>
            </a:extLst>
          </p:cNvPr>
          <p:cNvSpPr txBox="1">
            <a:spLocks/>
          </p:cNvSpPr>
          <p:nvPr/>
        </p:nvSpPr>
        <p:spPr>
          <a:xfrm>
            <a:off x="468864" y="1374472"/>
            <a:ext cx="11254265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10, 12, 14, 15, 16, 17, 18, 19, 20, 21, 22, 23, 24, 25, 26, 27, 28, 30, 32, 35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2BF9C89-5F2D-D70C-888B-8ECD621ABFBB}"/>
              </a:ext>
            </a:extLst>
          </p:cNvPr>
          <p:cNvSpPr txBox="1">
            <a:spLocks/>
          </p:cNvSpPr>
          <p:nvPr/>
        </p:nvSpPr>
        <p:spPr>
          <a:xfrm>
            <a:off x="1909567" y="687236"/>
            <a:ext cx="837285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(20 employees – minutes spent exercising)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698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A2C4-9542-CD5C-DF39-720FC454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F80E3E5-046F-9128-75FA-6D43D7788A8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844E6-AC43-D602-0B04-ACEFD01408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TABLE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115123-6ACE-C279-C8B2-9A3025F78B2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CFF7FD-40A3-7A28-2E51-3D6A9B98BABF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4FEC34A6-A869-84ED-0FC2-1F1B1CF69F7C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C2E4C8-30BD-1F78-0AF3-A60A400E124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EA0A86-5FE2-CB42-D773-659CB015D36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4EEAD52-CDAD-4EE3-9E90-BF8A180D8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609654"/>
              </p:ext>
            </p:extLst>
          </p:nvPr>
        </p:nvGraphicFramePr>
        <p:xfrm>
          <a:off x="6602138" y="2446005"/>
          <a:ext cx="2496597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6597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Class Midpoint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332046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75933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3927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8183B9-76BE-3F67-75D2-0AEBB121E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00990"/>
              </p:ext>
            </p:extLst>
          </p:nvPr>
        </p:nvGraphicFramePr>
        <p:xfrm>
          <a:off x="3158929" y="2446005"/>
          <a:ext cx="3443207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1991">
                  <a:extLst>
                    <a:ext uri="{9D8B030D-6E8A-4147-A177-3AD203B41FA5}">
                      <a16:colId xmlns:a16="http://schemas.microsoft.com/office/drawing/2014/main" val="3484571016"/>
                    </a:ext>
                  </a:extLst>
                </a:gridCol>
                <a:gridCol w="1801216">
                  <a:extLst>
                    <a:ext uri="{9D8B030D-6E8A-4147-A177-3AD203B41FA5}">
                      <a16:colId xmlns:a16="http://schemas.microsoft.com/office/drawing/2014/main" val="2156035225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4840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2214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 –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4125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 –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332046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 –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759339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 –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339275"/>
                  </a:ext>
                </a:extLst>
              </a:tr>
            </a:tbl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8559411B-D7F4-5AA4-2618-441638F5C5F1}"/>
              </a:ext>
            </a:extLst>
          </p:cNvPr>
          <p:cNvSpPr txBox="1">
            <a:spLocks/>
          </p:cNvSpPr>
          <p:nvPr/>
        </p:nvSpPr>
        <p:spPr>
          <a:xfrm>
            <a:off x="468864" y="1374472"/>
            <a:ext cx="11254265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10, 12, 14, 15, 16, 17, 18, 19, 20, 21, 22, 23, 24, 25, 26, 27, 28, 30, 32, 35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DDFD6F5-689C-0B5C-A689-0B0E35A2F25F}"/>
              </a:ext>
            </a:extLst>
          </p:cNvPr>
          <p:cNvSpPr txBox="1">
            <a:spLocks/>
          </p:cNvSpPr>
          <p:nvPr/>
        </p:nvSpPr>
        <p:spPr>
          <a:xfrm>
            <a:off x="1909567" y="687236"/>
            <a:ext cx="837285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(20 employees – minutes spent exercising)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64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1A2C4-9542-CD5C-DF39-720FC454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F80E3E5-046F-9128-75FA-6D43D7788A89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844E6-AC43-D602-0B04-ACEFD01408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8" cy="5486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THE HISTOGRAM</a:t>
            </a:r>
            <a:endParaRPr lang="en-PH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115123-6ACE-C279-C8B2-9A3025F78B25}"/>
              </a:ext>
            </a:extLst>
          </p:cNvPr>
          <p:cNvGrpSpPr/>
          <p:nvPr/>
        </p:nvGrpSpPr>
        <p:grpSpPr>
          <a:xfrm>
            <a:off x="0" y="6544092"/>
            <a:ext cx="12192000" cy="313908"/>
            <a:chOff x="0" y="6544092"/>
            <a:chExt cx="12192000" cy="3139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CFF7FD-40A3-7A28-2E51-3D6A9B98BABF}"/>
                </a:ext>
              </a:extLst>
            </p:cNvPr>
            <p:cNvSpPr/>
            <p:nvPr/>
          </p:nvSpPr>
          <p:spPr>
            <a:xfrm>
              <a:off x="0" y="6544092"/>
              <a:ext cx="12192000" cy="3139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>
                <a:solidFill>
                  <a:schemeClr val="tx1"/>
                </a:solidFill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4FEC34A6-A869-84ED-0FC2-1F1B1CF69F7C}"/>
                </a:ext>
              </a:extLst>
            </p:cNvPr>
            <p:cNvSpPr txBox="1"/>
            <p:nvPr/>
          </p:nvSpPr>
          <p:spPr>
            <a:xfrm>
              <a:off x="109932" y="6577518"/>
              <a:ext cx="2794997" cy="247055"/>
            </a:xfrm>
            <a:prstGeom prst="rect">
              <a:avLst/>
            </a:prstGeom>
            <a:noFill/>
          </p:spPr>
          <p:txBody>
            <a:bodyPr lIns="0" tIns="0" rIns="0" bIns="0" rtlCol="0" anchor="ctr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ENGR. VIOLDAN E. BAYOCOT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C2E4C8-30BD-1F78-0AF3-A60A400E124B}"/>
                </a:ext>
              </a:extLst>
            </p:cNvPr>
            <p:cNvSpPr txBox="1"/>
            <p:nvPr/>
          </p:nvSpPr>
          <p:spPr>
            <a:xfrm>
              <a:off x="3158929" y="6577518"/>
              <a:ext cx="5433668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[Krista K.] BECOME A PROBABILITY &amp; STATISTICS MASTER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EA0A86-5FE2-CB42-D773-659CB015D36A}"/>
                </a:ext>
              </a:extLst>
            </p:cNvPr>
            <p:cNvSpPr txBox="1"/>
            <p:nvPr/>
          </p:nvSpPr>
          <p:spPr>
            <a:xfrm>
              <a:off x="8387007" y="6577518"/>
              <a:ext cx="3701763" cy="2481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Courier New" panose="02070309020205020404" pitchFamily="49" charset="0"/>
                  <a:ea typeface="Gotham Bold"/>
                  <a:cs typeface="Courier New" panose="02070309020205020404" pitchFamily="49" charset="0"/>
                  <a:sym typeface="Gotham Bold"/>
                </a:rPr>
                <a:t>QUANTITATIVE METHODS</a:t>
              </a:r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5029FFAB-54EE-E3E1-89AA-179ABBAB5E24}"/>
              </a:ext>
            </a:extLst>
          </p:cNvPr>
          <p:cNvSpPr txBox="1">
            <a:spLocks/>
          </p:cNvSpPr>
          <p:nvPr/>
        </p:nvSpPr>
        <p:spPr>
          <a:xfrm>
            <a:off x="1909567" y="687236"/>
            <a:ext cx="8372858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Data (20 employees – minutes spent exercising)</a:t>
            </a: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B8E14-A965-0FA7-7C1B-4FCC4AD34EFF}"/>
              </a:ext>
            </a:extLst>
          </p:cNvPr>
          <p:cNvSpPr txBox="1">
            <a:spLocks/>
          </p:cNvSpPr>
          <p:nvPr/>
        </p:nvSpPr>
        <p:spPr>
          <a:xfrm>
            <a:off x="468864" y="1374472"/>
            <a:ext cx="11254265" cy="548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10, 12, 14, 15, 16, 17, 18, 19, 20, 21, 22, 23, 24, 25, 26, 27, 28, 30, 32, 35</a:t>
            </a:r>
            <a:endParaRPr lang="en-US" alt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5948C0-7F53-B20A-1BCA-E9094C863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370" y="2061708"/>
            <a:ext cx="7729260" cy="43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97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250B27-C965-953B-B018-76856F2EC733}"/>
              </a:ext>
            </a:extLst>
          </p:cNvPr>
          <p:cNvSpPr/>
          <p:nvPr/>
        </p:nvSpPr>
        <p:spPr>
          <a:xfrm>
            <a:off x="482334" y="5613400"/>
            <a:ext cx="11224297" cy="5728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706839" y="5743367"/>
            <a:ext cx="279671" cy="279671"/>
          </a:xfrm>
          <a:custGeom>
            <a:avLst/>
            <a:gdLst/>
            <a:ahLst/>
            <a:cxnLst/>
            <a:rect l="l" t="t" r="r" b="b"/>
            <a:pathLst>
              <a:path w="559342" h="559342">
                <a:moveTo>
                  <a:pt x="0" y="0"/>
                </a:moveTo>
                <a:lnTo>
                  <a:pt x="559342" y="0"/>
                </a:lnTo>
                <a:lnTo>
                  <a:pt x="559342" y="559342"/>
                </a:lnTo>
                <a:lnTo>
                  <a:pt x="0" y="55934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7" name="TextBox 7"/>
          <p:cNvSpPr txBox="1"/>
          <p:nvPr/>
        </p:nvSpPr>
        <p:spPr>
          <a:xfrm>
            <a:off x="7460367" y="5779175"/>
            <a:ext cx="4024794" cy="241285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3"/>
              </a:lnSpc>
            </a:pPr>
            <a:r>
              <a:rPr lang="en-US" sz="1400" b="1" dirty="0">
                <a:solidFill>
                  <a:srgbClr val="FEFEFE"/>
                </a:solidFill>
                <a:latin typeface="Century Schoolbook" panose="02040604050505020304" pitchFamily="18" charset="0"/>
                <a:ea typeface="Gotham Bold"/>
                <a:cs typeface="Courier New" panose="02070309020205020404" pitchFamily="49" charset="0"/>
                <a:sym typeface="Gotham Bold"/>
              </a:rPr>
              <a:t>SCHOOL OF COMPUTER STUDIES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083" y="5779176"/>
            <a:ext cx="4024795" cy="241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053"/>
              </a:lnSpc>
            </a:pPr>
            <a:r>
              <a:rPr lang="en-US" sz="1400" b="1" dirty="0">
                <a:solidFill>
                  <a:srgbClr val="FEFEFE"/>
                </a:solidFill>
                <a:latin typeface="Century Schoolbook" panose="02040604050505020304" pitchFamily="18" charset="0"/>
                <a:ea typeface="Gotham Bold"/>
                <a:cs typeface="Courier New" panose="02070309020205020404" pitchFamily="49" charset="0"/>
                <a:sym typeface="Gotham Bold"/>
              </a:rPr>
              <a:t>ENGR. VIOLDAN E. BAYOCOT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5425441" y="698500"/>
            <a:ext cx="6282709" cy="0"/>
          </a:xfrm>
          <a:prstGeom prst="line">
            <a:avLst/>
          </a:prstGeom>
          <a:ln w="381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96913" y="550136"/>
            <a:ext cx="4225985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55"/>
              </a:lnSpc>
              <a:spcBef>
                <a:spcPct val="0"/>
              </a:spcBef>
            </a:pPr>
            <a:r>
              <a:rPr lang="en-US" sz="1467" b="1" dirty="0">
                <a:latin typeface="Century Schoolbook" panose="02040604050505020304" pitchFamily="18" charset="0"/>
                <a:ea typeface="Hagrid Ultra-Bold"/>
                <a:cs typeface="Courier New" panose="02070309020205020404" pitchFamily="49" charset="0"/>
                <a:sym typeface="Hagrid Ultra-Bold"/>
              </a:rPr>
              <a:t>UNIVERSITY OF SAN JOSE - RECOLETOS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83853" y="442979"/>
            <a:ext cx="511045" cy="51104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2173" b="-2173"/>
              </a:stretch>
            </a:blipFill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F05A356-EEFE-EF51-C398-90E7CC543D14}"/>
              </a:ext>
            </a:extLst>
          </p:cNvPr>
          <p:cNvSpPr/>
          <p:nvPr/>
        </p:nvSpPr>
        <p:spPr>
          <a:xfrm>
            <a:off x="1543778" y="1787546"/>
            <a:ext cx="9104443" cy="17269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b="1" dirty="0">
              <a:solidFill>
                <a:srgbClr val="F3E4C8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F8AD98-40E6-415C-AD9A-DD77DEDAEE00}"/>
              </a:ext>
            </a:extLst>
          </p:cNvPr>
          <p:cNvSpPr txBox="1">
            <a:spLocks/>
          </p:cNvSpPr>
          <p:nvPr/>
        </p:nvSpPr>
        <p:spPr>
          <a:xfrm>
            <a:off x="1543777" y="1787547"/>
            <a:ext cx="9104443" cy="17269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PH" sz="10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PH" sz="10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46CBFCC3-6EB8-46F4-A82D-E2981594F0D3}"/>
              </a:ext>
            </a:extLst>
          </p:cNvPr>
          <p:cNvSpPr txBox="1"/>
          <p:nvPr/>
        </p:nvSpPr>
        <p:spPr>
          <a:xfrm>
            <a:off x="1543778" y="3650478"/>
            <a:ext cx="9104443" cy="592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b="1" i="1" dirty="0">
                <a:latin typeface="Times New Roman" panose="02020603050405020304" pitchFamily="18" charset="0"/>
                <a:ea typeface="Roboto Bold Italics"/>
                <a:cs typeface="Times New Roman" panose="02020603050405020304" pitchFamily="18" charset="0"/>
                <a:sym typeface="Roboto Bold Italics"/>
              </a:rPr>
              <a:t>“The greatest value of a picture is when it forces us to notice what we never expected to see.”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1" i="1" dirty="0">
                <a:latin typeface="Times New Roman" panose="02020603050405020304" pitchFamily="18" charset="0"/>
                <a:ea typeface="Roboto Bold Italics"/>
                <a:cs typeface="Times New Roman" panose="02020603050405020304" pitchFamily="18" charset="0"/>
                <a:sym typeface="Roboto Bold Italics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Roboto Italics"/>
                <a:cs typeface="Times New Roman" panose="02020603050405020304" pitchFamily="18" charset="0"/>
                <a:sym typeface="Roboto Italics"/>
              </a:rPr>
              <a:t>— John W. Tukey</a:t>
            </a:r>
          </a:p>
        </p:txBody>
      </p:sp>
    </p:spTree>
    <p:extLst>
      <p:ext uri="{BB962C8B-B14F-4D97-AF65-F5344CB8AC3E}">
        <p14:creationId xmlns:p14="http://schemas.microsoft.com/office/powerpoint/2010/main" val="780543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11592</TotalTime>
  <Words>4912</Words>
  <Application>Microsoft Office PowerPoint</Application>
  <PresentationFormat>Widescreen</PresentationFormat>
  <Paragraphs>1327</Paragraphs>
  <Slides>51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Calibri Light</vt:lpstr>
      <vt:lpstr>Cambria</vt:lpstr>
      <vt:lpstr>Cambria Math</vt:lpstr>
      <vt:lpstr>Century Schoolbook</vt:lpstr>
      <vt:lpstr>CMU Concrete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OPERATING SYSTEMS</dc:title>
  <dc:creator>SCS</dc:creator>
  <cp:lastModifiedBy>Decr0zeath</cp:lastModifiedBy>
  <cp:revision>1112</cp:revision>
  <dcterms:created xsi:type="dcterms:W3CDTF">2025-06-13T17:52:43Z</dcterms:created>
  <dcterms:modified xsi:type="dcterms:W3CDTF">2026-03-01T11:07:06Z</dcterms:modified>
</cp:coreProperties>
</file>