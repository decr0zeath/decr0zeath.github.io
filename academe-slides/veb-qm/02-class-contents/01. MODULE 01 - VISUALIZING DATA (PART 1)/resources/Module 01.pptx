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474" r:id="rId2"/>
    <p:sldId id="472" r:id="rId3"/>
    <p:sldId id="475" r:id="rId4"/>
    <p:sldId id="477" r:id="rId5"/>
    <p:sldId id="478" r:id="rId6"/>
    <p:sldId id="479" r:id="rId7"/>
    <p:sldId id="483" r:id="rId8"/>
    <p:sldId id="484" r:id="rId9"/>
    <p:sldId id="491" r:id="rId10"/>
    <p:sldId id="485" r:id="rId11"/>
    <p:sldId id="487" r:id="rId12"/>
    <p:sldId id="490" r:id="rId13"/>
    <p:sldId id="489" r:id="rId14"/>
    <p:sldId id="492" r:id="rId15"/>
    <p:sldId id="494" r:id="rId16"/>
    <p:sldId id="495" r:id="rId17"/>
    <p:sldId id="496" r:id="rId18"/>
    <p:sldId id="498" r:id="rId19"/>
    <p:sldId id="499" r:id="rId20"/>
    <p:sldId id="500" r:id="rId21"/>
    <p:sldId id="501" r:id="rId22"/>
    <p:sldId id="502" r:id="rId23"/>
    <p:sldId id="503" r:id="rId24"/>
    <p:sldId id="504" r:id="rId25"/>
    <p:sldId id="505" r:id="rId26"/>
    <p:sldId id="506" r:id="rId27"/>
    <p:sldId id="507" r:id="rId28"/>
    <p:sldId id="508" r:id="rId29"/>
    <p:sldId id="509" r:id="rId30"/>
    <p:sldId id="409"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12020"/>
    <a:srgbClr val="B88BD9"/>
    <a:srgbClr val="EAFF1F"/>
    <a:srgbClr val="F3E4C8"/>
    <a:srgbClr val="343F56"/>
    <a:srgbClr val="2F394E"/>
    <a:srgbClr val="2F39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157" autoAdjust="0"/>
    <p:restoredTop sz="92787" autoAdjust="0"/>
  </p:normalViewPr>
  <p:slideViewPr>
    <p:cSldViewPr snapToGrid="0">
      <p:cViewPr varScale="1">
        <p:scale>
          <a:sx n="102" d="100"/>
          <a:sy n="102" d="100"/>
        </p:scale>
        <p:origin x="828"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65BA0E-AA0B-4037-9619-089EDE7CA236}" type="datetimeFigureOut">
              <a:rPr lang="en-PH" smtClean="0"/>
              <a:t>26/02/2026</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800CD2-E09E-4B84-9D43-4ABA8F0A23AC}" type="slidenum">
              <a:rPr lang="en-PH" smtClean="0"/>
              <a:t>‹#›</a:t>
            </a:fld>
            <a:endParaRPr lang="en-PH"/>
          </a:p>
        </p:txBody>
      </p:sp>
    </p:spTree>
    <p:extLst>
      <p:ext uri="{BB962C8B-B14F-4D97-AF65-F5344CB8AC3E}">
        <p14:creationId xmlns:p14="http://schemas.microsoft.com/office/powerpoint/2010/main" val="32539939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65D42-EA49-742B-0076-11BF116A08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35E4F3-6AAC-6D8C-DD7A-58D5AAC6AE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E3E432-12BA-E28D-CBF3-39206B55BF24}"/>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D5EFBF13-866D-15F4-8906-38DA7FD34F55}"/>
              </a:ext>
            </a:extLst>
          </p:cNvPr>
          <p:cNvSpPr>
            <a:spLocks noGrp="1"/>
          </p:cNvSpPr>
          <p:nvPr>
            <p:ph type="sldNum" sz="quarter" idx="5"/>
          </p:nvPr>
        </p:nvSpPr>
        <p:spPr/>
        <p:txBody>
          <a:bodyPr/>
          <a:lstStyle/>
          <a:p>
            <a:fld id="{3F800CD2-E09E-4B84-9D43-4ABA8F0A23AC}" type="slidenum">
              <a:rPr lang="en-PH" smtClean="0"/>
              <a:t>2</a:t>
            </a:fld>
            <a:endParaRPr lang="en-PH"/>
          </a:p>
        </p:txBody>
      </p:sp>
    </p:spTree>
    <p:extLst>
      <p:ext uri="{BB962C8B-B14F-4D97-AF65-F5344CB8AC3E}">
        <p14:creationId xmlns:p14="http://schemas.microsoft.com/office/powerpoint/2010/main" val="35274903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9BDE92-728C-756F-58EC-03D39356E8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2761A2-811F-D473-98E2-7898A7AC4D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AD6627-76D0-9EE0-F260-57E4C27DEA16}"/>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35AF9E63-BDF7-50BC-2B20-8357783CED43}"/>
              </a:ext>
            </a:extLst>
          </p:cNvPr>
          <p:cNvSpPr>
            <a:spLocks noGrp="1"/>
          </p:cNvSpPr>
          <p:nvPr>
            <p:ph type="sldNum" sz="quarter" idx="5"/>
          </p:nvPr>
        </p:nvSpPr>
        <p:spPr/>
        <p:txBody>
          <a:bodyPr/>
          <a:lstStyle/>
          <a:p>
            <a:fld id="{3F800CD2-E09E-4B84-9D43-4ABA8F0A23AC}" type="slidenum">
              <a:rPr lang="en-PH" smtClean="0"/>
              <a:t>3</a:t>
            </a:fld>
            <a:endParaRPr lang="en-PH"/>
          </a:p>
        </p:txBody>
      </p:sp>
    </p:spTree>
    <p:extLst>
      <p:ext uri="{BB962C8B-B14F-4D97-AF65-F5344CB8AC3E}">
        <p14:creationId xmlns:p14="http://schemas.microsoft.com/office/powerpoint/2010/main" val="15462718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9BDE92-728C-756F-58EC-03D39356E8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2761A2-811F-D473-98E2-7898A7AC4D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AD6627-76D0-9EE0-F260-57E4C27DEA16}"/>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35AF9E63-BDF7-50BC-2B20-8357783CED43}"/>
              </a:ext>
            </a:extLst>
          </p:cNvPr>
          <p:cNvSpPr>
            <a:spLocks noGrp="1"/>
          </p:cNvSpPr>
          <p:nvPr>
            <p:ph type="sldNum" sz="quarter" idx="5"/>
          </p:nvPr>
        </p:nvSpPr>
        <p:spPr/>
        <p:txBody>
          <a:bodyPr/>
          <a:lstStyle/>
          <a:p>
            <a:fld id="{3F800CD2-E09E-4B84-9D43-4ABA8F0A23AC}" type="slidenum">
              <a:rPr lang="en-PH" smtClean="0"/>
              <a:t>4</a:t>
            </a:fld>
            <a:endParaRPr lang="en-PH"/>
          </a:p>
        </p:txBody>
      </p:sp>
    </p:spTree>
    <p:extLst>
      <p:ext uri="{BB962C8B-B14F-4D97-AF65-F5344CB8AC3E}">
        <p14:creationId xmlns:p14="http://schemas.microsoft.com/office/powerpoint/2010/main" val="13825771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C7991-725E-04AE-27B4-9D2E2F02BD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CEC351-42BA-1E6D-2BD6-63C4722CD7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47EAFD-2A82-1F36-D301-FD8A579FE751}"/>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C3024E34-EEA8-EA73-4984-F8CA4F04E5F4}"/>
              </a:ext>
            </a:extLst>
          </p:cNvPr>
          <p:cNvSpPr>
            <a:spLocks noGrp="1"/>
          </p:cNvSpPr>
          <p:nvPr>
            <p:ph type="sldNum" sz="quarter" idx="5"/>
          </p:nvPr>
        </p:nvSpPr>
        <p:spPr/>
        <p:txBody>
          <a:bodyPr/>
          <a:lstStyle/>
          <a:p>
            <a:fld id="{3F800CD2-E09E-4B84-9D43-4ABA8F0A23AC}" type="slidenum">
              <a:rPr lang="en-PH" smtClean="0"/>
              <a:t>5</a:t>
            </a:fld>
            <a:endParaRPr lang="en-PH"/>
          </a:p>
        </p:txBody>
      </p:sp>
    </p:spTree>
    <p:extLst>
      <p:ext uri="{BB962C8B-B14F-4D97-AF65-F5344CB8AC3E}">
        <p14:creationId xmlns:p14="http://schemas.microsoft.com/office/powerpoint/2010/main" val="37570195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42850-D073-C389-2E17-7181BEC4FB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314C45-FC97-B71E-7A44-1882AAC9FB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38D605-7C50-2701-68EB-CC9EC4723C55}"/>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885C934C-6CB9-6171-BEFF-8C41753B0334}"/>
              </a:ext>
            </a:extLst>
          </p:cNvPr>
          <p:cNvSpPr>
            <a:spLocks noGrp="1"/>
          </p:cNvSpPr>
          <p:nvPr>
            <p:ph type="sldNum" sz="quarter" idx="5"/>
          </p:nvPr>
        </p:nvSpPr>
        <p:spPr/>
        <p:txBody>
          <a:bodyPr/>
          <a:lstStyle/>
          <a:p>
            <a:fld id="{3F800CD2-E09E-4B84-9D43-4ABA8F0A23AC}" type="slidenum">
              <a:rPr lang="en-PH" smtClean="0"/>
              <a:t>6</a:t>
            </a:fld>
            <a:endParaRPr lang="en-PH"/>
          </a:p>
        </p:txBody>
      </p:sp>
    </p:spTree>
    <p:extLst>
      <p:ext uri="{BB962C8B-B14F-4D97-AF65-F5344CB8AC3E}">
        <p14:creationId xmlns:p14="http://schemas.microsoft.com/office/powerpoint/2010/main" val="41849265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4E848-B155-DE1F-A345-ADF496A7AD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FBF424-7128-6DAA-56F2-5FF4465180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F81750-4455-6446-869D-6A5A21F40150}"/>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8BF1D7D7-BB47-2AC7-E232-B2C52D79B64D}"/>
              </a:ext>
            </a:extLst>
          </p:cNvPr>
          <p:cNvSpPr>
            <a:spLocks noGrp="1"/>
          </p:cNvSpPr>
          <p:nvPr>
            <p:ph type="sldNum" sz="quarter" idx="5"/>
          </p:nvPr>
        </p:nvSpPr>
        <p:spPr/>
        <p:txBody>
          <a:bodyPr/>
          <a:lstStyle/>
          <a:p>
            <a:fld id="{3F800CD2-E09E-4B84-9D43-4ABA8F0A23AC}" type="slidenum">
              <a:rPr lang="en-PH" smtClean="0"/>
              <a:t>7</a:t>
            </a:fld>
            <a:endParaRPr lang="en-PH"/>
          </a:p>
        </p:txBody>
      </p:sp>
    </p:spTree>
    <p:extLst>
      <p:ext uri="{BB962C8B-B14F-4D97-AF65-F5344CB8AC3E}">
        <p14:creationId xmlns:p14="http://schemas.microsoft.com/office/powerpoint/2010/main" val="7671611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2365BF-75BA-BC5D-239F-4ADCF46310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2754D5-CF44-F233-47C2-1108AF2D23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25181D-1981-9C72-A1A9-1506217FF77E}"/>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1A76075E-B4A7-24E8-4358-9E33E15FAF8C}"/>
              </a:ext>
            </a:extLst>
          </p:cNvPr>
          <p:cNvSpPr>
            <a:spLocks noGrp="1"/>
          </p:cNvSpPr>
          <p:nvPr>
            <p:ph type="sldNum" sz="quarter" idx="5"/>
          </p:nvPr>
        </p:nvSpPr>
        <p:spPr/>
        <p:txBody>
          <a:bodyPr/>
          <a:lstStyle/>
          <a:p>
            <a:fld id="{3F800CD2-E09E-4B84-9D43-4ABA8F0A23AC}" type="slidenum">
              <a:rPr lang="en-PH" smtClean="0"/>
              <a:t>9</a:t>
            </a:fld>
            <a:endParaRPr lang="en-PH"/>
          </a:p>
        </p:txBody>
      </p:sp>
    </p:spTree>
    <p:extLst>
      <p:ext uri="{BB962C8B-B14F-4D97-AF65-F5344CB8AC3E}">
        <p14:creationId xmlns:p14="http://schemas.microsoft.com/office/powerpoint/2010/main" val="6568614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25E93-9F2C-EBF1-FBE4-A1C04559B2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7C2EA5-BCC1-835F-CC74-C160AB3EFD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D743B6-59E0-24FE-C3DA-F7FCAC6AC394}"/>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99DA90DC-3272-04C4-9FC8-9DC20D521DC0}"/>
              </a:ext>
            </a:extLst>
          </p:cNvPr>
          <p:cNvSpPr>
            <a:spLocks noGrp="1"/>
          </p:cNvSpPr>
          <p:nvPr>
            <p:ph type="sldNum" sz="quarter" idx="5"/>
          </p:nvPr>
        </p:nvSpPr>
        <p:spPr/>
        <p:txBody>
          <a:bodyPr/>
          <a:lstStyle/>
          <a:p>
            <a:fld id="{3F800CD2-E09E-4B84-9D43-4ABA8F0A23AC}" type="slidenum">
              <a:rPr lang="en-PH" smtClean="0"/>
              <a:t>10</a:t>
            </a:fld>
            <a:endParaRPr lang="en-PH"/>
          </a:p>
        </p:txBody>
      </p:sp>
    </p:spTree>
    <p:extLst>
      <p:ext uri="{BB962C8B-B14F-4D97-AF65-F5344CB8AC3E}">
        <p14:creationId xmlns:p14="http://schemas.microsoft.com/office/powerpoint/2010/main" val="4046925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514E1-D5B3-A6A7-7DC8-51ABDDAD9F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565B60-BB57-6117-026F-A4A7415571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F72EDE-5EFE-A7CE-D5A6-C943A869B8E9}"/>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F8A964E1-1835-763C-4443-0B406E79CBAB}"/>
              </a:ext>
            </a:extLst>
          </p:cNvPr>
          <p:cNvSpPr>
            <a:spLocks noGrp="1"/>
          </p:cNvSpPr>
          <p:nvPr>
            <p:ph type="sldNum" sz="quarter" idx="5"/>
          </p:nvPr>
        </p:nvSpPr>
        <p:spPr/>
        <p:txBody>
          <a:bodyPr/>
          <a:lstStyle/>
          <a:p>
            <a:fld id="{3F800CD2-E09E-4B84-9D43-4ABA8F0A23AC}" type="slidenum">
              <a:rPr lang="en-PH" smtClean="0"/>
              <a:t>11</a:t>
            </a:fld>
            <a:endParaRPr lang="en-PH"/>
          </a:p>
        </p:txBody>
      </p:sp>
    </p:spTree>
    <p:extLst>
      <p:ext uri="{BB962C8B-B14F-4D97-AF65-F5344CB8AC3E}">
        <p14:creationId xmlns:p14="http://schemas.microsoft.com/office/powerpoint/2010/main" val="2374103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57A94-C67E-7E18-2C89-DB6B131C2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89A7C0-06D4-A117-01C6-4CAAF3622B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98C5CF-C590-3800-42EA-C063AFBF779A}"/>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2F1FBD87-0B0D-CF1B-BAF1-C20BAC06900E}"/>
              </a:ext>
            </a:extLst>
          </p:cNvPr>
          <p:cNvSpPr>
            <a:spLocks noGrp="1"/>
          </p:cNvSpPr>
          <p:nvPr>
            <p:ph type="sldNum" sz="quarter" idx="5"/>
          </p:nvPr>
        </p:nvSpPr>
        <p:spPr/>
        <p:txBody>
          <a:bodyPr/>
          <a:lstStyle/>
          <a:p>
            <a:fld id="{3F800CD2-E09E-4B84-9D43-4ABA8F0A23AC}" type="slidenum">
              <a:rPr lang="en-PH" smtClean="0"/>
              <a:t>12</a:t>
            </a:fld>
            <a:endParaRPr lang="en-PH"/>
          </a:p>
        </p:txBody>
      </p:sp>
    </p:spTree>
    <p:extLst>
      <p:ext uri="{BB962C8B-B14F-4D97-AF65-F5344CB8AC3E}">
        <p14:creationId xmlns:p14="http://schemas.microsoft.com/office/powerpoint/2010/main" val="27080837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F87A2-BB9F-24E8-C60E-ED01F56CEE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7B5CE7-DB4F-BF66-9A98-2E70F3A544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1499B-25E7-85E7-65BD-917B1A980F4E}"/>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CED496A5-4DB3-D754-50E3-8864FC8E5EBC}"/>
              </a:ext>
            </a:extLst>
          </p:cNvPr>
          <p:cNvSpPr>
            <a:spLocks noGrp="1"/>
          </p:cNvSpPr>
          <p:nvPr>
            <p:ph type="sldNum" sz="quarter" idx="5"/>
          </p:nvPr>
        </p:nvSpPr>
        <p:spPr/>
        <p:txBody>
          <a:bodyPr/>
          <a:lstStyle/>
          <a:p>
            <a:fld id="{3F800CD2-E09E-4B84-9D43-4ABA8F0A23AC}" type="slidenum">
              <a:rPr lang="en-PH" smtClean="0"/>
              <a:t>13</a:t>
            </a:fld>
            <a:endParaRPr lang="en-PH"/>
          </a:p>
        </p:txBody>
      </p:sp>
    </p:spTree>
    <p:extLst>
      <p:ext uri="{BB962C8B-B14F-4D97-AF65-F5344CB8AC3E}">
        <p14:creationId xmlns:p14="http://schemas.microsoft.com/office/powerpoint/2010/main" val="13299034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5708E-E168-416E-D37D-D2A9DF3D29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B6E94B-4E93-FDD1-10B1-BFDD40AD18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6C0D18-B73A-4EF5-A0ED-454AB79A5F10}"/>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6A276E1C-4C62-BBEC-AE74-FC59F6120C46}"/>
              </a:ext>
            </a:extLst>
          </p:cNvPr>
          <p:cNvSpPr>
            <a:spLocks noGrp="1"/>
          </p:cNvSpPr>
          <p:nvPr>
            <p:ph type="sldNum" sz="quarter" idx="5"/>
          </p:nvPr>
        </p:nvSpPr>
        <p:spPr/>
        <p:txBody>
          <a:bodyPr/>
          <a:lstStyle/>
          <a:p>
            <a:fld id="{3F800CD2-E09E-4B84-9D43-4ABA8F0A23AC}" type="slidenum">
              <a:rPr lang="en-PH" smtClean="0"/>
              <a:t>14</a:t>
            </a:fld>
            <a:endParaRPr lang="en-PH"/>
          </a:p>
        </p:txBody>
      </p:sp>
    </p:spTree>
    <p:extLst>
      <p:ext uri="{BB962C8B-B14F-4D97-AF65-F5344CB8AC3E}">
        <p14:creationId xmlns:p14="http://schemas.microsoft.com/office/powerpoint/2010/main" val="10449566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994D4-226D-5E8D-59E9-53C800CD83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BA6551-3023-5F23-9E87-59D8A534C9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7A1D47-ED04-967C-6E46-C54C69CCF3CA}"/>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542C51C1-2CD9-63A4-0E0C-090E1EB6110F}"/>
              </a:ext>
            </a:extLst>
          </p:cNvPr>
          <p:cNvSpPr>
            <a:spLocks noGrp="1"/>
          </p:cNvSpPr>
          <p:nvPr>
            <p:ph type="sldNum" sz="quarter" idx="5"/>
          </p:nvPr>
        </p:nvSpPr>
        <p:spPr/>
        <p:txBody>
          <a:bodyPr/>
          <a:lstStyle/>
          <a:p>
            <a:fld id="{3F800CD2-E09E-4B84-9D43-4ABA8F0A23AC}" type="slidenum">
              <a:rPr lang="en-PH" smtClean="0"/>
              <a:t>15</a:t>
            </a:fld>
            <a:endParaRPr lang="en-PH"/>
          </a:p>
        </p:txBody>
      </p:sp>
    </p:spTree>
    <p:extLst>
      <p:ext uri="{BB962C8B-B14F-4D97-AF65-F5344CB8AC3E}">
        <p14:creationId xmlns:p14="http://schemas.microsoft.com/office/powerpoint/2010/main" val="33807257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02A25-49FC-42CC-9F9D-4F6766BA5E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D6E041-CE57-F9DD-351F-24149E1FF7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32514E-F8AB-B084-7DAC-2F5A84177C72}"/>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54D1B8E5-DF67-EC2F-A85C-403259109D4A}"/>
              </a:ext>
            </a:extLst>
          </p:cNvPr>
          <p:cNvSpPr>
            <a:spLocks noGrp="1"/>
          </p:cNvSpPr>
          <p:nvPr>
            <p:ph type="sldNum" sz="quarter" idx="5"/>
          </p:nvPr>
        </p:nvSpPr>
        <p:spPr/>
        <p:txBody>
          <a:bodyPr/>
          <a:lstStyle/>
          <a:p>
            <a:fld id="{3F800CD2-E09E-4B84-9D43-4ABA8F0A23AC}" type="slidenum">
              <a:rPr lang="en-PH" smtClean="0"/>
              <a:t>16</a:t>
            </a:fld>
            <a:endParaRPr lang="en-PH"/>
          </a:p>
        </p:txBody>
      </p:sp>
    </p:spTree>
    <p:extLst>
      <p:ext uri="{BB962C8B-B14F-4D97-AF65-F5344CB8AC3E}">
        <p14:creationId xmlns:p14="http://schemas.microsoft.com/office/powerpoint/2010/main" val="16580322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183D9-C3A9-49C0-79E8-71B4CC78C0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5CCE3B-F363-7F45-77AA-D077DEF9F4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280F38-26C2-4BBC-9461-2988AB4F8348}"/>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6181D0AB-9E6C-9B69-297A-91F376804ED6}"/>
              </a:ext>
            </a:extLst>
          </p:cNvPr>
          <p:cNvSpPr>
            <a:spLocks noGrp="1"/>
          </p:cNvSpPr>
          <p:nvPr>
            <p:ph type="sldNum" sz="quarter" idx="5"/>
          </p:nvPr>
        </p:nvSpPr>
        <p:spPr/>
        <p:txBody>
          <a:bodyPr/>
          <a:lstStyle/>
          <a:p>
            <a:fld id="{3F800CD2-E09E-4B84-9D43-4ABA8F0A23AC}" type="slidenum">
              <a:rPr lang="en-PH" smtClean="0"/>
              <a:t>17</a:t>
            </a:fld>
            <a:endParaRPr lang="en-PH"/>
          </a:p>
        </p:txBody>
      </p:sp>
    </p:spTree>
    <p:extLst>
      <p:ext uri="{BB962C8B-B14F-4D97-AF65-F5344CB8AC3E}">
        <p14:creationId xmlns:p14="http://schemas.microsoft.com/office/powerpoint/2010/main" val="18325819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98813-D00C-BF64-1967-A4F3583CF4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8B88C5-6015-B00B-AAFB-409B89D958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69A3C6-4C82-691B-339C-2E2B60494421}"/>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68931307-5E0E-379D-98D5-0FE565FCD707}"/>
              </a:ext>
            </a:extLst>
          </p:cNvPr>
          <p:cNvSpPr>
            <a:spLocks noGrp="1"/>
          </p:cNvSpPr>
          <p:nvPr>
            <p:ph type="sldNum" sz="quarter" idx="5"/>
          </p:nvPr>
        </p:nvSpPr>
        <p:spPr/>
        <p:txBody>
          <a:bodyPr/>
          <a:lstStyle/>
          <a:p>
            <a:fld id="{3F800CD2-E09E-4B84-9D43-4ABA8F0A23AC}" type="slidenum">
              <a:rPr lang="en-PH" smtClean="0"/>
              <a:t>18</a:t>
            </a:fld>
            <a:endParaRPr lang="en-PH"/>
          </a:p>
        </p:txBody>
      </p:sp>
    </p:spTree>
    <p:extLst>
      <p:ext uri="{BB962C8B-B14F-4D97-AF65-F5344CB8AC3E}">
        <p14:creationId xmlns:p14="http://schemas.microsoft.com/office/powerpoint/2010/main" val="33716108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EEC4D-37AB-14CC-326C-EDC79F4F74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795CD2-41C4-5F6F-9CF9-385B49F1F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477A6E-AA73-4B06-C8FB-1F952D49EF5A}"/>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7D516798-BAB9-C940-E4F4-3153F4252755}"/>
              </a:ext>
            </a:extLst>
          </p:cNvPr>
          <p:cNvSpPr>
            <a:spLocks noGrp="1"/>
          </p:cNvSpPr>
          <p:nvPr>
            <p:ph type="sldNum" sz="quarter" idx="5"/>
          </p:nvPr>
        </p:nvSpPr>
        <p:spPr/>
        <p:txBody>
          <a:bodyPr/>
          <a:lstStyle/>
          <a:p>
            <a:fld id="{3F800CD2-E09E-4B84-9D43-4ABA8F0A23AC}" type="slidenum">
              <a:rPr lang="en-PH" smtClean="0"/>
              <a:t>19</a:t>
            </a:fld>
            <a:endParaRPr lang="en-PH"/>
          </a:p>
        </p:txBody>
      </p:sp>
    </p:spTree>
    <p:extLst>
      <p:ext uri="{BB962C8B-B14F-4D97-AF65-F5344CB8AC3E}">
        <p14:creationId xmlns:p14="http://schemas.microsoft.com/office/powerpoint/2010/main" val="7533288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C79F4-E358-798B-0773-14CA7A8C3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D27E87-E051-56FA-5FD2-3359BC5574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D5796C-4298-C6C5-43C2-72660B9B3759}"/>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198814C6-9B20-6E65-9407-68E2085D90CA}"/>
              </a:ext>
            </a:extLst>
          </p:cNvPr>
          <p:cNvSpPr>
            <a:spLocks noGrp="1"/>
          </p:cNvSpPr>
          <p:nvPr>
            <p:ph type="sldNum" sz="quarter" idx="5"/>
          </p:nvPr>
        </p:nvSpPr>
        <p:spPr/>
        <p:txBody>
          <a:bodyPr/>
          <a:lstStyle/>
          <a:p>
            <a:fld id="{3F800CD2-E09E-4B84-9D43-4ABA8F0A23AC}" type="slidenum">
              <a:rPr lang="en-PH" smtClean="0"/>
              <a:t>20</a:t>
            </a:fld>
            <a:endParaRPr lang="en-PH"/>
          </a:p>
        </p:txBody>
      </p:sp>
    </p:spTree>
    <p:extLst>
      <p:ext uri="{BB962C8B-B14F-4D97-AF65-F5344CB8AC3E}">
        <p14:creationId xmlns:p14="http://schemas.microsoft.com/office/powerpoint/2010/main" val="823874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C96DA-0020-C4B8-8597-758AE927A9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DFBBB3-4048-A4B3-4F95-85254CABAF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971ABE-DF99-8ECC-1F60-967E3FA4A9BB}"/>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AD9BAEEF-50E7-D6F8-D8A0-AFF761487149}"/>
              </a:ext>
            </a:extLst>
          </p:cNvPr>
          <p:cNvSpPr>
            <a:spLocks noGrp="1"/>
          </p:cNvSpPr>
          <p:nvPr>
            <p:ph type="sldNum" sz="quarter" idx="5"/>
          </p:nvPr>
        </p:nvSpPr>
        <p:spPr/>
        <p:txBody>
          <a:bodyPr/>
          <a:lstStyle/>
          <a:p>
            <a:fld id="{3F800CD2-E09E-4B84-9D43-4ABA8F0A23AC}" type="slidenum">
              <a:rPr lang="en-PH" smtClean="0"/>
              <a:t>21</a:t>
            </a:fld>
            <a:endParaRPr lang="en-PH"/>
          </a:p>
        </p:txBody>
      </p:sp>
    </p:spTree>
    <p:extLst>
      <p:ext uri="{BB962C8B-B14F-4D97-AF65-F5344CB8AC3E}">
        <p14:creationId xmlns:p14="http://schemas.microsoft.com/office/powerpoint/2010/main" val="23924419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CB6FB-994D-24B7-2340-D01BF16759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4263CE-33DA-00A8-A1A6-1AC8136B98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995190-201A-8223-774B-AEAD33C8FA00}"/>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AEFD3447-2D0E-311A-47FC-EF9160BEB408}"/>
              </a:ext>
            </a:extLst>
          </p:cNvPr>
          <p:cNvSpPr>
            <a:spLocks noGrp="1"/>
          </p:cNvSpPr>
          <p:nvPr>
            <p:ph type="sldNum" sz="quarter" idx="5"/>
          </p:nvPr>
        </p:nvSpPr>
        <p:spPr/>
        <p:txBody>
          <a:bodyPr/>
          <a:lstStyle/>
          <a:p>
            <a:fld id="{3F800CD2-E09E-4B84-9D43-4ABA8F0A23AC}" type="slidenum">
              <a:rPr lang="en-PH" smtClean="0"/>
              <a:t>23</a:t>
            </a:fld>
            <a:endParaRPr lang="en-PH"/>
          </a:p>
        </p:txBody>
      </p:sp>
    </p:spTree>
    <p:extLst>
      <p:ext uri="{BB962C8B-B14F-4D97-AF65-F5344CB8AC3E}">
        <p14:creationId xmlns:p14="http://schemas.microsoft.com/office/powerpoint/2010/main" val="4140368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030CA-C609-0DAF-C97C-35C9E49B3D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E26010-2E7D-90D5-94E1-AE05BA394D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F7A0A6-2802-6E5B-E9C1-DB222E85BCEB}"/>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779DB57B-4AFE-9F5F-C397-B1A8EEEC9ABB}"/>
              </a:ext>
            </a:extLst>
          </p:cNvPr>
          <p:cNvSpPr>
            <a:spLocks noGrp="1"/>
          </p:cNvSpPr>
          <p:nvPr>
            <p:ph type="sldNum" sz="quarter" idx="5"/>
          </p:nvPr>
        </p:nvSpPr>
        <p:spPr/>
        <p:txBody>
          <a:bodyPr/>
          <a:lstStyle/>
          <a:p>
            <a:fld id="{3F800CD2-E09E-4B84-9D43-4ABA8F0A23AC}" type="slidenum">
              <a:rPr lang="en-PH" smtClean="0"/>
              <a:t>24</a:t>
            </a:fld>
            <a:endParaRPr lang="en-PH"/>
          </a:p>
        </p:txBody>
      </p:sp>
    </p:spTree>
    <p:extLst>
      <p:ext uri="{BB962C8B-B14F-4D97-AF65-F5344CB8AC3E}">
        <p14:creationId xmlns:p14="http://schemas.microsoft.com/office/powerpoint/2010/main" val="7040929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0D31B-FCCA-0C9B-5172-2E0435B37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CB842A-A172-C1B4-63A3-25C8E92732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151671-E996-3091-5605-104AC7C26F34}"/>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B56FAFBE-C0C1-758C-3F07-E1223FE15BA8}"/>
              </a:ext>
            </a:extLst>
          </p:cNvPr>
          <p:cNvSpPr>
            <a:spLocks noGrp="1"/>
          </p:cNvSpPr>
          <p:nvPr>
            <p:ph type="sldNum" sz="quarter" idx="5"/>
          </p:nvPr>
        </p:nvSpPr>
        <p:spPr/>
        <p:txBody>
          <a:bodyPr/>
          <a:lstStyle/>
          <a:p>
            <a:fld id="{3F800CD2-E09E-4B84-9D43-4ABA8F0A23AC}" type="slidenum">
              <a:rPr lang="en-PH" smtClean="0"/>
              <a:t>25</a:t>
            </a:fld>
            <a:endParaRPr lang="en-PH"/>
          </a:p>
        </p:txBody>
      </p:sp>
    </p:spTree>
    <p:extLst>
      <p:ext uri="{BB962C8B-B14F-4D97-AF65-F5344CB8AC3E}">
        <p14:creationId xmlns:p14="http://schemas.microsoft.com/office/powerpoint/2010/main" val="25426727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2F101-ED16-E200-FABF-F9CF1C38A1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84AE6C-505B-C002-99E6-F5103A3008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8044B9-5EE1-3F94-50DA-800284F1E8C5}"/>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112CCB07-B985-5744-FC5A-CDCA8074E17F}"/>
              </a:ext>
            </a:extLst>
          </p:cNvPr>
          <p:cNvSpPr>
            <a:spLocks noGrp="1"/>
          </p:cNvSpPr>
          <p:nvPr>
            <p:ph type="sldNum" sz="quarter" idx="5"/>
          </p:nvPr>
        </p:nvSpPr>
        <p:spPr/>
        <p:txBody>
          <a:bodyPr/>
          <a:lstStyle/>
          <a:p>
            <a:fld id="{3F800CD2-E09E-4B84-9D43-4ABA8F0A23AC}" type="slidenum">
              <a:rPr lang="en-PH" smtClean="0"/>
              <a:t>26</a:t>
            </a:fld>
            <a:endParaRPr lang="en-PH"/>
          </a:p>
        </p:txBody>
      </p:sp>
    </p:spTree>
    <p:extLst>
      <p:ext uri="{BB962C8B-B14F-4D97-AF65-F5344CB8AC3E}">
        <p14:creationId xmlns:p14="http://schemas.microsoft.com/office/powerpoint/2010/main" val="39685307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82ABB-B4C0-2191-C38C-2B3C1B71E5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BC935E-179A-9102-49DB-B5F4B618A5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CFDA26-3D09-B5DE-2112-339BE0E86D54}"/>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1E6420D0-EAF0-66D5-C311-C6746F72F824}"/>
              </a:ext>
            </a:extLst>
          </p:cNvPr>
          <p:cNvSpPr>
            <a:spLocks noGrp="1"/>
          </p:cNvSpPr>
          <p:nvPr>
            <p:ph type="sldNum" sz="quarter" idx="5"/>
          </p:nvPr>
        </p:nvSpPr>
        <p:spPr/>
        <p:txBody>
          <a:bodyPr/>
          <a:lstStyle/>
          <a:p>
            <a:fld id="{3F800CD2-E09E-4B84-9D43-4ABA8F0A23AC}" type="slidenum">
              <a:rPr lang="en-PH" smtClean="0"/>
              <a:t>27</a:t>
            </a:fld>
            <a:endParaRPr lang="en-PH"/>
          </a:p>
        </p:txBody>
      </p:sp>
    </p:spTree>
    <p:extLst>
      <p:ext uri="{BB962C8B-B14F-4D97-AF65-F5344CB8AC3E}">
        <p14:creationId xmlns:p14="http://schemas.microsoft.com/office/powerpoint/2010/main" val="19866150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E7CE9-A106-A78B-036B-EF8AF7294E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6CA7D3-2E53-81C0-B523-AB0237CE4A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6256F0-0C4F-89BE-B6A6-60754EAE6100}"/>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704F2829-B8C3-2348-AE7E-76B29B196DCC}"/>
              </a:ext>
            </a:extLst>
          </p:cNvPr>
          <p:cNvSpPr>
            <a:spLocks noGrp="1"/>
          </p:cNvSpPr>
          <p:nvPr>
            <p:ph type="sldNum" sz="quarter" idx="5"/>
          </p:nvPr>
        </p:nvSpPr>
        <p:spPr/>
        <p:txBody>
          <a:bodyPr/>
          <a:lstStyle/>
          <a:p>
            <a:fld id="{3F800CD2-E09E-4B84-9D43-4ABA8F0A23AC}" type="slidenum">
              <a:rPr lang="en-PH" smtClean="0"/>
              <a:t>28</a:t>
            </a:fld>
            <a:endParaRPr lang="en-PH"/>
          </a:p>
        </p:txBody>
      </p:sp>
    </p:spTree>
    <p:extLst>
      <p:ext uri="{BB962C8B-B14F-4D97-AF65-F5344CB8AC3E}">
        <p14:creationId xmlns:p14="http://schemas.microsoft.com/office/powerpoint/2010/main" val="11629725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BE7C1-8AA0-50A1-03C4-196CE9DAA0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2EE4FC-2EC7-0328-50B3-5FC3A0F5EC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F46F25-7532-7F62-0856-DA25D8E16930}"/>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A4A10BE8-F428-285E-7695-ED63E3C11C41}"/>
              </a:ext>
            </a:extLst>
          </p:cNvPr>
          <p:cNvSpPr>
            <a:spLocks noGrp="1"/>
          </p:cNvSpPr>
          <p:nvPr>
            <p:ph type="sldNum" sz="quarter" idx="5"/>
          </p:nvPr>
        </p:nvSpPr>
        <p:spPr/>
        <p:txBody>
          <a:bodyPr/>
          <a:lstStyle/>
          <a:p>
            <a:fld id="{3F800CD2-E09E-4B84-9D43-4ABA8F0A23AC}" type="slidenum">
              <a:rPr lang="en-PH" smtClean="0"/>
              <a:t>29</a:t>
            </a:fld>
            <a:endParaRPr lang="en-PH"/>
          </a:p>
        </p:txBody>
      </p:sp>
    </p:spTree>
    <p:extLst>
      <p:ext uri="{BB962C8B-B14F-4D97-AF65-F5344CB8AC3E}">
        <p14:creationId xmlns:p14="http://schemas.microsoft.com/office/powerpoint/2010/main" val="20961867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B3C87-2ECA-44C6-B359-0E5E6A4500D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a:extLst>
              <a:ext uri="{FF2B5EF4-FFF2-40B4-BE49-F238E27FC236}">
                <a16:creationId xmlns:a16="http://schemas.microsoft.com/office/drawing/2014/main" id="{F1BCAB70-65FE-438A-9663-C69CC2E612F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a:extLst>
              <a:ext uri="{FF2B5EF4-FFF2-40B4-BE49-F238E27FC236}">
                <a16:creationId xmlns:a16="http://schemas.microsoft.com/office/drawing/2014/main" id="{54E4E75A-0E73-4021-B2A5-0ECF67D3C666}"/>
              </a:ext>
            </a:extLst>
          </p:cNvPr>
          <p:cNvSpPr>
            <a:spLocks noGrp="1"/>
          </p:cNvSpPr>
          <p:nvPr>
            <p:ph type="dt" sz="half" idx="10"/>
          </p:nvPr>
        </p:nvSpPr>
        <p:spPr/>
        <p:txBody>
          <a:bodyPr/>
          <a:lstStyle/>
          <a:p>
            <a:fld id="{44217B23-67B6-4886-9449-ED9003FB629F}" type="datetimeFigureOut">
              <a:rPr lang="en-PH" smtClean="0"/>
              <a:t>26/02/2026</a:t>
            </a:fld>
            <a:endParaRPr lang="en-PH"/>
          </a:p>
        </p:txBody>
      </p:sp>
      <p:sp>
        <p:nvSpPr>
          <p:cNvPr id="5" name="Footer Placeholder 4">
            <a:extLst>
              <a:ext uri="{FF2B5EF4-FFF2-40B4-BE49-F238E27FC236}">
                <a16:creationId xmlns:a16="http://schemas.microsoft.com/office/drawing/2014/main" id="{D27E803C-2E6C-4549-8276-62EC15F82B22}"/>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04D58EE8-7E30-46B5-B0CB-DDEE1160AA32}"/>
              </a:ext>
            </a:extLst>
          </p:cNvPr>
          <p:cNvSpPr>
            <a:spLocks noGrp="1"/>
          </p:cNvSpPr>
          <p:nvPr>
            <p:ph type="sldNum" sz="quarter" idx="12"/>
          </p:nvPr>
        </p:nvSpPr>
        <p:spPr/>
        <p:txBody>
          <a:bodyPr/>
          <a:lstStyle/>
          <a:p>
            <a:fld id="{5CB9CDED-4B21-4AC0-B153-3EB80A99941E}" type="slidenum">
              <a:rPr lang="en-PH" smtClean="0"/>
              <a:t>‹#›</a:t>
            </a:fld>
            <a:endParaRPr lang="en-PH"/>
          </a:p>
        </p:txBody>
      </p:sp>
    </p:spTree>
    <p:extLst>
      <p:ext uri="{BB962C8B-B14F-4D97-AF65-F5344CB8AC3E}">
        <p14:creationId xmlns:p14="http://schemas.microsoft.com/office/powerpoint/2010/main" val="14202154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4C6DD-5ED2-45DA-B1C0-5DD9F55A9B62}"/>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2FD81D5E-A351-4C38-898F-E6F6DE8A7B1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ACF2B824-0F31-4415-8EAE-4757A1C5DE1D}"/>
              </a:ext>
            </a:extLst>
          </p:cNvPr>
          <p:cNvSpPr>
            <a:spLocks noGrp="1"/>
          </p:cNvSpPr>
          <p:nvPr>
            <p:ph type="dt" sz="half" idx="10"/>
          </p:nvPr>
        </p:nvSpPr>
        <p:spPr/>
        <p:txBody>
          <a:bodyPr/>
          <a:lstStyle/>
          <a:p>
            <a:fld id="{44217B23-67B6-4886-9449-ED9003FB629F}" type="datetimeFigureOut">
              <a:rPr lang="en-PH" smtClean="0"/>
              <a:t>26/02/2026</a:t>
            </a:fld>
            <a:endParaRPr lang="en-PH"/>
          </a:p>
        </p:txBody>
      </p:sp>
      <p:sp>
        <p:nvSpPr>
          <p:cNvPr id="5" name="Footer Placeholder 4">
            <a:extLst>
              <a:ext uri="{FF2B5EF4-FFF2-40B4-BE49-F238E27FC236}">
                <a16:creationId xmlns:a16="http://schemas.microsoft.com/office/drawing/2014/main" id="{5D179D34-C441-40C2-8A7D-50494CBE45CE}"/>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E1A90A93-4B17-4FA6-BBC5-22595886D9B9}"/>
              </a:ext>
            </a:extLst>
          </p:cNvPr>
          <p:cNvSpPr>
            <a:spLocks noGrp="1"/>
          </p:cNvSpPr>
          <p:nvPr>
            <p:ph type="sldNum" sz="quarter" idx="12"/>
          </p:nvPr>
        </p:nvSpPr>
        <p:spPr/>
        <p:txBody>
          <a:bodyPr/>
          <a:lstStyle/>
          <a:p>
            <a:fld id="{5CB9CDED-4B21-4AC0-B153-3EB80A99941E}" type="slidenum">
              <a:rPr lang="en-PH" smtClean="0"/>
              <a:t>‹#›</a:t>
            </a:fld>
            <a:endParaRPr lang="en-PH"/>
          </a:p>
        </p:txBody>
      </p:sp>
    </p:spTree>
    <p:extLst>
      <p:ext uri="{BB962C8B-B14F-4D97-AF65-F5344CB8AC3E}">
        <p14:creationId xmlns:p14="http://schemas.microsoft.com/office/powerpoint/2010/main" val="3236858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31367-F6B0-45A7-8687-977FCE93EA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a:extLst>
              <a:ext uri="{FF2B5EF4-FFF2-40B4-BE49-F238E27FC236}">
                <a16:creationId xmlns:a16="http://schemas.microsoft.com/office/drawing/2014/main" id="{0DDD0ABD-FA47-40A4-9D2C-B31B5950FF9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822D4AEE-37E5-470C-A782-3B564A8A4AF2}"/>
              </a:ext>
            </a:extLst>
          </p:cNvPr>
          <p:cNvSpPr>
            <a:spLocks noGrp="1"/>
          </p:cNvSpPr>
          <p:nvPr>
            <p:ph type="dt" sz="half" idx="10"/>
          </p:nvPr>
        </p:nvSpPr>
        <p:spPr/>
        <p:txBody>
          <a:bodyPr/>
          <a:lstStyle/>
          <a:p>
            <a:fld id="{44217B23-67B6-4886-9449-ED9003FB629F}" type="datetimeFigureOut">
              <a:rPr lang="en-PH" smtClean="0"/>
              <a:t>26/02/2026</a:t>
            </a:fld>
            <a:endParaRPr lang="en-PH"/>
          </a:p>
        </p:txBody>
      </p:sp>
      <p:sp>
        <p:nvSpPr>
          <p:cNvPr id="5" name="Footer Placeholder 4">
            <a:extLst>
              <a:ext uri="{FF2B5EF4-FFF2-40B4-BE49-F238E27FC236}">
                <a16:creationId xmlns:a16="http://schemas.microsoft.com/office/drawing/2014/main" id="{BC1F3833-4326-4188-BD8D-4AED0CB3D87F}"/>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A4EE5EF2-2F44-4554-8F2F-F45646B54D98}"/>
              </a:ext>
            </a:extLst>
          </p:cNvPr>
          <p:cNvSpPr>
            <a:spLocks noGrp="1"/>
          </p:cNvSpPr>
          <p:nvPr>
            <p:ph type="sldNum" sz="quarter" idx="12"/>
          </p:nvPr>
        </p:nvSpPr>
        <p:spPr/>
        <p:txBody>
          <a:bodyPr/>
          <a:lstStyle/>
          <a:p>
            <a:fld id="{5CB9CDED-4B21-4AC0-B153-3EB80A99941E}" type="slidenum">
              <a:rPr lang="en-PH" smtClean="0"/>
              <a:t>‹#›</a:t>
            </a:fld>
            <a:endParaRPr lang="en-PH"/>
          </a:p>
        </p:txBody>
      </p:sp>
    </p:spTree>
    <p:extLst>
      <p:ext uri="{BB962C8B-B14F-4D97-AF65-F5344CB8AC3E}">
        <p14:creationId xmlns:p14="http://schemas.microsoft.com/office/powerpoint/2010/main" val="27102635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F70AA-BAAD-4CCA-8FA9-B10A62DBD054}"/>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AF558696-DCAB-486B-9C10-CE6D7A1A67F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a:extLst>
              <a:ext uri="{FF2B5EF4-FFF2-40B4-BE49-F238E27FC236}">
                <a16:creationId xmlns:a16="http://schemas.microsoft.com/office/drawing/2014/main" id="{56841CB2-A3F2-4D8F-9D71-E8F15E9F74D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a:extLst>
              <a:ext uri="{FF2B5EF4-FFF2-40B4-BE49-F238E27FC236}">
                <a16:creationId xmlns:a16="http://schemas.microsoft.com/office/drawing/2014/main" id="{DB7751FE-0B5F-407E-A287-50391EC8A5C0}"/>
              </a:ext>
            </a:extLst>
          </p:cNvPr>
          <p:cNvSpPr>
            <a:spLocks noGrp="1"/>
          </p:cNvSpPr>
          <p:nvPr>
            <p:ph type="dt" sz="half" idx="10"/>
          </p:nvPr>
        </p:nvSpPr>
        <p:spPr/>
        <p:txBody>
          <a:bodyPr/>
          <a:lstStyle/>
          <a:p>
            <a:fld id="{44217B23-67B6-4886-9449-ED9003FB629F}" type="datetimeFigureOut">
              <a:rPr lang="en-PH" smtClean="0"/>
              <a:t>26/02/2026</a:t>
            </a:fld>
            <a:endParaRPr lang="en-PH"/>
          </a:p>
        </p:txBody>
      </p:sp>
      <p:sp>
        <p:nvSpPr>
          <p:cNvPr id="6" name="Footer Placeholder 5">
            <a:extLst>
              <a:ext uri="{FF2B5EF4-FFF2-40B4-BE49-F238E27FC236}">
                <a16:creationId xmlns:a16="http://schemas.microsoft.com/office/drawing/2014/main" id="{808EA7D4-5C33-4CB1-A277-074E0D057D5E}"/>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FE19CB64-0E29-4E9E-B462-5811AAAAC27C}"/>
              </a:ext>
            </a:extLst>
          </p:cNvPr>
          <p:cNvSpPr>
            <a:spLocks noGrp="1"/>
          </p:cNvSpPr>
          <p:nvPr>
            <p:ph type="sldNum" sz="quarter" idx="12"/>
          </p:nvPr>
        </p:nvSpPr>
        <p:spPr/>
        <p:txBody>
          <a:bodyPr/>
          <a:lstStyle/>
          <a:p>
            <a:fld id="{5CB9CDED-4B21-4AC0-B153-3EB80A99941E}" type="slidenum">
              <a:rPr lang="en-PH" smtClean="0"/>
              <a:t>‹#›</a:t>
            </a:fld>
            <a:endParaRPr lang="en-PH"/>
          </a:p>
        </p:txBody>
      </p:sp>
    </p:spTree>
    <p:extLst>
      <p:ext uri="{BB962C8B-B14F-4D97-AF65-F5344CB8AC3E}">
        <p14:creationId xmlns:p14="http://schemas.microsoft.com/office/powerpoint/2010/main" val="34905458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E2B5A-857E-4166-B856-66B469C65BE7}"/>
              </a:ext>
            </a:extLst>
          </p:cNvPr>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a:extLst>
              <a:ext uri="{FF2B5EF4-FFF2-40B4-BE49-F238E27FC236}">
                <a16:creationId xmlns:a16="http://schemas.microsoft.com/office/drawing/2014/main" id="{8D7BD2D0-1AD6-41A3-A95B-94FF1AC23D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FE0EF70-22CB-464F-9707-05AA44F30AE0}"/>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a:extLst>
              <a:ext uri="{FF2B5EF4-FFF2-40B4-BE49-F238E27FC236}">
                <a16:creationId xmlns:a16="http://schemas.microsoft.com/office/drawing/2014/main" id="{93C6E5B7-5975-4FE7-81C6-67FA39D963D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FE35FB9E-3946-46E5-A56D-8513F8B6A4A2}"/>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a:extLst>
              <a:ext uri="{FF2B5EF4-FFF2-40B4-BE49-F238E27FC236}">
                <a16:creationId xmlns:a16="http://schemas.microsoft.com/office/drawing/2014/main" id="{70F98E59-A908-46CC-868A-0748DF60F8ED}"/>
              </a:ext>
            </a:extLst>
          </p:cNvPr>
          <p:cNvSpPr>
            <a:spLocks noGrp="1"/>
          </p:cNvSpPr>
          <p:nvPr>
            <p:ph type="dt" sz="half" idx="10"/>
          </p:nvPr>
        </p:nvSpPr>
        <p:spPr/>
        <p:txBody>
          <a:bodyPr/>
          <a:lstStyle/>
          <a:p>
            <a:fld id="{44217B23-67B6-4886-9449-ED9003FB629F}" type="datetimeFigureOut">
              <a:rPr lang="en-PH" smtClean="0"/>
              <a:t>26/02/2026</a:t>
            </a:fld>
            <a:endParaRPr lang="en-PH"/>
          </a:p>
        </p:txBody>
      </p:sp>
      <p:sp>
        <p:nvSpPr>
          <p:cNvPr id="8" name="Footer Placeholder 7">
            <a:extLst>
              <a:ext uri="{FF2B5EF4-FFF2-40B4-BE49-F238E27FC236}">
                <a16:creationId xmlns:a16="http://schemas.microsoft.com/office/drawing/2014/main" id="{44F92ACD-750D-483A-B028-5C0995B5BBEF}"/>
              </a:ext>
            </a:extLst>
          </p:cNvPr>
          <p:cNvSpPr>
            <a:spLocks noGrp="1"/>
          </p:cNvSpPr>
          <p:nvPr>
            <p:ph type="ftr" sz="quarter" idx="11"/>
          </p:nvPr>
        </p:nvSpPr>
        <p:spPr/>
        <p:txBody>
          <a:bodyPr/>
          <a:lstStyle/>
          <a:p>
            <a:endParaRPr lang="en-PH"/>
          </a:p>
        </p:txBody>
      </p:sp>
      <p:sp>
        <p:nvSpPr>
          <p:cNvPr id="9" name="Slide Number Placeholder 8">
            <a:extLst>
              <a:ext uri="{FF2B5EF4-FFF2-40B4-BE49-F238E27FC236}">
                <a16:creationId xmlns:a16="http://schemas.microsoft.com/office/drawing/2014/main" id="{386C3FBB-66B4-4A76-B304-49E65528393B}"/>
              </a:ext>
            </a:extLst>
          </p:cNvPr>
          <p:cNvSpPr>
            <a:spLocks noGrp="1"/>
          </p:cNvSpPr>
          <p:nvPr>
            <p:ph type="sldNum" sz="quarter" idx="12"/>
          </p:nvPr>
        </p:nvSpPr>
        <p:spPr/>
        <p:txBody>
          <a:bodyPr/>
          <a:lstStyle/>
          <a:p>
            <a:fld id="{5CB9CDED-4B21-4AC0-B153-3EB80A99941E}" type="slidenum">
              <a:rPr lang="en-PH" smtClean="0"/>
              <a:t>‹#›</a:t>
            </a:fld>
            <a:endParaRPr lang="en-PH"/>
          </a:p>
        </p:txBody>
      </p:sp>
    </p:spTree>
    <p:extLst>
      <p:ext uri="{BB962C8B-B14F-4D97-AF65-F5344CB8AC3E}">
        <p14:creationId xmlns:p14="http://schemas.microsoft.com/office/powerpoint/2010/main" val="1774023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BF799-B7D0-4DB6-B4F5-30CCA630BDC9}"/>
              </a:ext>
            </a:extLst>
          </p:cNvPr>
          <p:cNvSpPr>
            <a:spLocks noGrp="1"/>
          </p:cNvSpPr>
          <p:nvPr>
            <p:ph type="title"/>
          </p:nvPr>
        </p:nvSpPr>
        <p:spPr/>
        <p:txBody>
          <a:bodyPr/>
          <a:lstStyle/>
          <a:p>
            <a:r>
              <a:rPr lang="en-US"/>
              <a:t>Click to edit Master title style</a:t>
            </a:r>
            <a:endParaRPr lang="en-PH"/>
          </a:p>
        </p:txBody>
      </p:sp>
      <p:sp>
        <p:nvSpPr>
          <p:cNvPr id="3" name="Date Placeholder 2">
            <a:extLst>
              <a:ext uri="{FF2B5EF4-FFF2-40B4-BE49-F238E27FC236}">
                <a16:creationId xmlns:a16="http://schemas.microsoft.com/office/drawing/2014/main" id="{386D277E-3EFB-4007-A152-495E94915D0E}"/>
              </a:ext>
            </a:extLst>
          </p:cNvPr>
          <p:cNvSpPr>
            <a:spLocks noGrp="1"/>
          </p:cNvSpPr>
          <p:nvPr>
            <p:ph type="dt" sz="half" idx="10"/>
          </p:nvPr>
        </p:nvSpPr>
        <p:spPr/>
        <p:txBody>
          <a:bodyPr/>
          <a:lstStyle/>
          <a:p>
            <a:fld id="{44217B23-67B6-4886-9449-ED9003FB629F}" type="datetimeFigureOut">
              <a:rPr lang="en-PH" smtClean="0"/>
              <a:t>26/02/2026</a:t>
            </a:fld>
            <a:endParaRPr lang="en-PH"/>
          </a:p>
        </p:txBody>
      </p:sp>
      <p:sp>
        <p:nvSpPr>
          <p:cNvPr id="4" name="Footer Placeholder 3">
            <a:extLst>
              <a:ext uri="{FF2B5EF4-FFF2-40B4-BE49-F238E27FC236}">
                <a16:creationId xmlns:a16="http://schemas.microsoft.com/office/drawing/2014/main" id="{1706CF62-E407-4930-841B-41971092F07C}"/>
              </a:ext>
            </a:extLst>
          </p:cNvPr>
          <p:cNvSpPr>
            <a:spLocks noGrp="1"/>
          </p:cNvSpPr>
          <p:nvPr>
            <p:ph type="ftr" sz="quarter" idx="11"/>
          </p:nvPr>
        </p:nvSpPr>
        <p:spPr/>
        <p:txBody>
          <a:bodyPr/>
          <a:lstStyle/>
          <a:p>
            <a:endParaRPr lang="en-PH"/>
          </a:p>
        </p:txBody>
      </p:sp>
      <p:sp>
        <p:nvSpPr>
          <p:cNvPr id="5" name="Slide Number Placeholder 4">
            <a:extLst>
              <a:ext uri="{FF2B5EF4-FFF2-40B4-BE49-F238E27FC236}">
                <a16:creationId xmlns:a16="http://schemas.microsoft.com/office/drawing/2014/main" id="{7E5ED712-F569-4D02-B9A0-B5013EB87FDB}"/>
              </a:ext>
            </a:extLst>
          </p:cNvPr>
          <p:cNvSpPr>
            <a:spLocks noGrp="1"/>
          </p:cNvSpPr>
          <p:nvPr>
            <p:ph type="sldNum" sz="quarter" idx="12"/>
          </p:nvPr>
        </p:nvSpPr>
        <p:spPr/>
        <p:txBody>
          <a:bodyPr/>
          <a:lstStyle/>
          <a:p>
            <a:fld id="{5CB9CDED-4B21-4AC0-B153-3EB80A99941E}" type="slidenum">
              <a:rPr lang="en-PH" smtClean="0"/>
              <a:t>‹#›</a:t>
            </a:fld>
            <a:endParaRPr lang="en-PH"/>
          </a:p>
        </p:txBody>
      </p:sp>
    </p:spTree>
    <p:extLst>
      <p:ext uri="{BB962C8B-B14F-4D97-AF65-F5344CB8AC3E}">
        <p14:creationId xmlns:p14="http://schemas.microsoft.com/office/powerpoint/2010/main" val="36718995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1DEA147-F731-42D9-9E14-31FE37D6123C}"/>
              </a:ext>
            </a:extLst>
          </p:cNvPr>
          <p:cNvSpPr>
            <a:spLocks noGrp="1"/>
          </p:cNvSpPr>
          <p:nvPr>
            <p:ph type="dt" sz="half" idx="10"/>
          </p:nvPr>
        </p:nvSpPr>
        <p:spPr/>
        <p:txBody>
          <a:bodyPr/>
          <a:lstStyle/>
          <a:p>
            <a:fld id="{44217B23-67B6-4886-9449-ED9003FB629F}" type="datetimeFigureOut">
              <a:rPr lang="en-PH" smtClean="0"/>
              <a:t>26/02/2026</a:t>
            </a:fld>
            <a:endParaRPr lang="en-PH"/>
          </a:p>
        </p:txBody>
      </p:sp>
      <p:sp>
        <p:nvSpPr>
          <p:cNvPr id="3" name="Footer Placeholder 2">
            <a:extLst>
              <a:ext uri="{FF2B5EF4-FFF2-40B4-BE49-F238E27FC236}">
                <a16:creationId xmlns:a16="http://schemas.microsoft.com/office/drawing/2014/main" id="{323E43B8-578A-40CD-BD22-11B2D6E2AB27}"/>
              </a:ext>
            </a:extLst>
          </p:cNvPr>
          <p:cNvSpPr>
            <a:spLocks noGrp="1"/>
          </p:cNvSpPr>
          <p:nvPr>
            <p:ph type="ftr" sz="quarter" idx="11"/>
          </p:nvPr>
        </p:nvSpPr>
        <p:spPr/>
        <p:txBody>
          <a:bodyPr/>
          <a:lstStyle/>
          <a:p>
            <a:endParaRPr lang="en-PH"/>
          </a:p>
        </p:txBody>
      </p:sp>
      <p:sp>
        <p:nvSpPr>
          <p:cNvPr id="4" name="Slide Number Placeholder 3">
            <a:extLst>
              <a:ext uri="{FF2B5EF4-FFF2-40B4-BE49-F238E27FC236}">
                <a16:creationId xmlns:a16="http://schemas.microsoft.com/office/drawing/2014/main" id="{4FE88520-FB85-4E49-9C4C-1299393B79AC}"/>
              </a:ext>
            </a:extLst>
          </p:cNvPr>
          <p:cNvSpPr>
            <a:spLocks noGrp="1"/>
          </p:cNvSpPr>
          <p:nvPr>
            <p:ph type="sldNum" sz="quarter" idx="12"/>
          </p:nvPr>
        </p:nvSpPr>
        <p:spPr/>
        <p:txBody>
          <a:bodyPr/>
          <a:lstStyle/>
          <a:p>
            <a:fld id="{5CB9CDED-4B21-4AC0-B153-3EB80A99941E}" type="slidenum">
              <a:rPr lang="en-PH" smtClean="0"/>
              <a:t>‹#›</a:t>
            </a:fld>
            <a:endParaRPr lang="en-PH"/>
          </a:p>
        </p:txBody>
      </p:sp>
    </p:spTree>
    <p:extLst>
      <p:ext uri="{BB962C8B-B14F-4D97-AF65-F5344CB8AC3E}">
        <p14:creationId xmlns:p14="http://schemas.microsoft.com/office/powerpoint/2010/main" val="10030375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45E37-01F0-4B74-956E-C09546A7AD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a:extLst>
              <a:ext uri="{FF2B5EF4-FFF2-40B4-BE49-F238E27FC236}">
                <a16:creationId xmlns:a16="http://schemas.microsoft.com/office/drawing/2014/main" id="{6753ABA7-F7EA-4178-88AA-24CD3E464F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a:extLst>
              <a:ext uri="{FF2B5EF4-FFF2-40B4-BE49-F238E27FC236}">
                <a16:creationId xmlns:a16="http://schemas.microsoft.com/office/drawing/2014/main" id="{FAADBEFA-4ED5-4A81-956E-289A686315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1DF7AAC-849C-42FE-AAA0-46B68F161486}"/>
              </a:ext>
            </a:extLst>
          </p:cNvPr>
          <p:cNvSpPr>
            <a:spLocks noGrp="1"/>
          </p:cNvSpPr>
          <p:nvPr>
            <p:ph type="dt" sz="half" idx="10"/>
          </p:nvPr>
        </p:nvSpPr>
        <p:spPr/>
        <p:txBody>
          <a:bodyPr/>
          <a:lstStyle/>
          <a:p>
            <a:fld id="{44217B23-67B6-4886-9449-ED9003FB629F}" type="datetimeFigureOut">
              <a:rPr lang="en-PH" smtClean="0"/>
              <a:t>26/02/2026</a:t>
            </a:fld>
            <a:endParaRPr lang="en-PH"/>
          </a:p>
        </p:txBody>
      </p:sp>
      <p:sp>
        <p:nvSpPr>
          <p:cNvPr id="6" name="Footer Placeholder 5">
            <a:extLst>
              <a:ext uri="{FF2B5EF4-FFF2-40B4-BE49-F238E27FC236}">
                <a16:creationId xmlns:a16="http://schemas.microsoft.com/office/drawing/2014/main" id="{57A85A79-78C9-4DC2-BDE9-EE71E5D4490C}"/>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B9A77E3B-B882-4F7C-A310-FEAC7C93B3E2}"/>
              </a:ext>
            </a:extLst>
          </p:cNvPr>
          <p:cNvSpPr>
            <a:spLocks noGrp="1"/>
          </p:cNvSpPr>
          <p:nvPr>
            <p:ph type="sldNum" sz="quarter" idx="12"/>
          </p:nvPr>
        </p:nvSpPr>
        <p:spPr/>
        <p:txBody>
          <a:bodyPr/>
          <a:lstStyle/>
          <a:p>
            <a:fld id="{5CB9CDED-4B21-4AC0-B153-3EB80A99941E}" type="slidenum">
              <a:rPr lang="en-PH" smtClean="0"/>
              <a:t>‹#›</a:t>
            </a:fld>
            <a:endParaRPr lang="en-PH"/>
          </a:p>
        </p:txBody>
      </p:sp>
    </p:spTree>
    <p:extLst>
      <p:ext uri="{BB962C8B-B14F-4D97-AF65-F5344CB8AC3E}">
        <p14:creationId xmlns:p14="http://schemas.microsoft.com/office/powerpoint/2010/main" val="20464442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B6E2E-5E31-4639-9B74-6CA6D4ECD1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a:extLst>
              <a:ext uri="{FF2B5EF4-FFF2-40B4-BE49-F238E27FC236}">
                <a16:creationId xmlns:a16="http://schemas.microsoft.com/office/drawing/2014/main" id="{D0EF2CEE-2177-448B-BFD6-66873F4817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a:extLst>
              <a:ext uri="{FF2B5EF4-FFF2-40B4-BE49-F238E27FC236}">
                <a16:creationId xmlns:a16="http://schemas.microsoft.com/office/drawing/2014/main" id="{D474617B-A621-4009-8708-738335046E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F85966B-3DA0-4007-AD6B-F122F00DA0B1}"/>
              </a:ext>
            </a:extLst>
          </p:cNvPr>
          <p:cNvSpPr>
            <a:spLocks noGrp="1"/>
          </p:cNvSpPr>
          <p:nvPr>
            <p:ph type="dt" sz="half" idx="10"/>
          </p:nvPr>
        </p:nvSpPr>
        <p:spPr/>
        <p:txBody>
          <a:bodyPr/>
          <a:lstStyle/>
          <a:p>
            <a:fld id="{44217B23-67B6-4886-9449-ED9003FB629F}" type="datetimeFigureOut">
              <a:rPr lang="en-PH" smtClean="0"/>
              <a:t>26/02/2026</a:t>
            </a:fld>
            <a:endParaRPr lang="en-PH"/>
          </a:p>
        </p:txBody>
      </p:sp>
      <p:sp>
        <p:nvSpPr>
          <p:cNvPr id="6" name="Footer Placeholder 5">
            <a:extLst>
              <a:ext uri="{FF2B5EF4-FFF2-40B4-BE49-F238E27FC236}">
                <a16:creationId xmlns:a16="http://schemas.microsoft.com/office/drawing/2014/main" id="{1C3128BF-4F14-4978-9EDA-A8E99E8BFFFE}"/>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DFF667D9-74BD-4985-ACCC-A6ABB3083CC9}"/>
              </a:ext>
            </a:extLst>
          </p:cNvPr>
          <p:cNvSpPr>
            <a:spLocks noGrp="1"/>
          </p:cNvSpPr>
          <p:nvPr>
            <p:ph type="sldNum" sz="quarter" idx="12"/>
          </p:nvPr>
        </p:nvSpPr>
        <p:spPr/>
        <p:txBody>
          <a:bodyPr/>
          <a:lstStyle/>
          <a:p>
            <a:fld id="{5CB9CDED-4B21-4AC0-B153-3EB80A99941E}" type="slidenum">
              <a:rPr lang="en-PH" smtClean="0"/>
              <a:t>‹#›</a:t>
            </a:fld>
            <a:endParaRPr lang="en-PH"/>
          </a:p>
        </p:txBody>
      </p:sp>
    </p:spTree>
    <p:extLst>
      <p:ext uri="{BB962C8B-B14F-4D97-AF65-F5344CB8AC3E}">
        <p14:creationId xmlns:p14="http://schemas.microsoft.com/office/powerpoint/2010/main" val="26651248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18C01-4D6E-4423-A6D9-C7A0EABE8E59}"/>
              </a:ext>
            </a:extLst>
          </p:cNvPr>
          <p:cNvSpPr>
            <a:spLocks noGrp="1"/>
          </p:cNvSpPr>
          <p:nvPr>
            <p:ph type="title"/>
          </p:nvPr>
        </p:nvSpPr>
        <p:spPr/>
        <p:txBody>
          <a:bodyPr/>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B89174CC-E7E3-48EC-AFA2-D6D2E67EB7C8}"/>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351A4250-D3DD-4EAC-8AC2-561344445AEF}"/>
              </a:ext>
            </a:extLst>
          </p:cNvPr>
          <p:cNvSpPr>
            <a:spLocks noGrp="1"/>
          </p:cNvSpPr>
          <p:nvPr>
            <p:ph type="dt" sz="half" idx="10"/>
          </p:nvPr>
        </p:nvSpPr>
        <p:spPr/>
        <p:txBody>
          <a:bodyPr/>
          <a:lstStyle/>
          <a:p>
            <a:fld id="{44217B23-67B6-4886-9449-ED9003FB629F}" type="datetimeFigureOut">
              <a:rPr lang="en-PH" smtClean="0"/>
              <a:t>26/02/2026</a:t>
            </a:fld>
            <a:endParaRPr lang="en-PH"/>
          </a:p>
        </p:txBody>
      </p:sp>
      <p:sp>
        <p:nvSpPr>
          <p:cNvPr id="5" name="Footer Placeholder 4">
            <a:extLst>
              <a:ext uri="{FF2B5EF4-FFF2-40B4-BE49-F238E27FC236}">
                <a16:creationId xmlns:a16="http://schemas.microsoft.com/office/drawing/2014/main" id="{D2E7CF42-A838-4562-A484-7734F7369A02}"/>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15200316-788E-4EFE-ABA0-DEE336C8BBF4}"/>
              </a:ext>
            </a:extLst>
          </p:cNvPr>
          <p:cNvSpPr>
            <a:spLocks noGrp="1"/>
          </p:cNvSpPr>
          <p:nvPr>
            <p:ph type="sldNum" sz="quarter" idx="12"/>
          </p:nvPr>
        </p:nvSpPr>
        <p:spPr/>
        <p:txBody>
          <a:bodyPr/>
          <a:lstStyle/>
          <a:p>
            <a:fld id="{5CB9CDED-4B21-4AC0-B153-3EB80A99941E}" type="slidenum">
              <a:rPr lang="en-PH" smtClean="0"/>
              <a:t>‹#›</a:t>
            </a:fld>
            <a:endParaRPr lang="en-PH"/>
          </a:p>
        </p:txBody>
      </p:sp>
    </p:spTree>
    <p:extLst>
      <p:ext uri="{BB962C8B-B14F-4D97-AF65-F5344CB8AC3E}">
        <p14:creationId xmlns:p14="http://schemas.microsoft.com/office/powerpoint/2010/main" val="3115863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693E31-4DE5-45F0-A207-F24FAD28904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AAC0451B-15E7-4889-887D-F31716998B6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93862A6E-813B-4E99-B1AF-41759DE071A6}"/>
              </a:ext>
            </a:extLst>
          </p:cNvPr>
          <p:cNvSpPr>
            <a:spLocks noGrp="1"/>
          </p:cNvSpPr>
          <p:nvPr>
            <p:ph type="dt" sz="half" idx="10"/>
          </p:nvPr>
        </p:nvSpPr>
        <p:spPr/>
        <p:txBody>
          <a:bodyPr/>
          <a:lstStyle/>
          <a:p>
            <a:fld id="{44217B23-67B6-4886-9449-ED9003FB629F}" type="datetimeFigureOut">
              <a:rPr lang="en-PH" smtClean="0"/>
              <a:t>26/02/2026</a:t>
            </a:fld>
            <a:endParaRPr lang="en-PH"/>
          </a:p>
        </p:txBody>
      </p:sp>
      <p:sp>
        <p:nvSpPr>
          <p:cNvPr id="5" name="Footer Placeholder 4">
            <a:extLst>
              <a:ext uri="{FF2B5EF4-FFF2-40B4-BE49-F238E27FC236}">
                <a16:creationId xmlns:a16="http://schemas.microsoft.com/office/drawing/2014/main" id="{1DB29227-54A6-4E9B-AD79-F16FEF4E7634}"/>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8936C8EB-3431-4E93-A2A2-681FEA845651}"/>
              </a:ext>
            </a:extLst>
          </p:cNvPr>
          <p:cNvSpPr>
            <a:spLocks noGrp="1"/>
          </p:cNvSpPr>
          <p:nvPr>
            <p:ph type="sldNum" sz="quarter" idx="12"/>
          </p:nvPr>
        </p:nvSpPr>
        <p:spPr/>
        <p:txBody>
          <a:bodyPr/>
          <a:lstStyle/>
          <a:p>
            <a:fld id="{5CB9CDED-4B21-4AC0-B153-3EB80A99941E}" type="slidenum">
              <a:rPr lang="en-PH" smtClean="0"/>
              <a:t>‹#›</a:t>
            </a:fld>
            <a:endParaRPr lang="en-PH"/>
          </a:p>
        </p:txBody>
      </p:sp>
    </p:spTree>
    <p:extLst>
      <p:ext uri="{BB962C8B-B14F-4D97-AF65-F5344CB8AC3E}">
        <p14:creationId xmlns:p14="http://schemas.microsoft.com/office/powerpoint/2010/main" val="8008295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8D20C9-086C-4F9B-B8CF-0DC4954C51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a:extLst>
              <a:ext uri="{FF2B5EF4-FFF2-40B4-BE49-F238E27FC236}">
                <a16:creationId xmlns:a16="http://schemas.microsoft.com/office/drawing/2014/main" id="{16C9BFC4-1346-4546-9E66-712F983B54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7C0977F1-D61B-4A72-A6A0-61FC0A83C7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217B23-67B6-4886-9449-ED9003FB629F}" type="datetimeFigureOut">
              <a:rPr lang="en-PH" smtClean="0"/>
              <a:t>26/02/2026</a:t>
            </a:fld>
            <a:endParaRPr lang="en-PH"/>
          </a:p>
        </p:txBody>
      </p:sp>
      <p:sp>
        <p:nvSpPr>
          <p:cNvPr id="5" name="Footer Placeholder 4">
            <a:extLst>
              <a:ext uri="{FF2B5EF4-FFF2-40B4-BE49-F238E27FC236}">
                <a16:creationId xmlns:a16="http://schemas.microsoft.com/office/drawing/2014/main" id="{9E1AFDE6-1EAD-4C61-B13C-C49E90471A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a:extLst>
              <a:ext uri="{FF2B5EF4-FFF2-40B4-BE49-F238E27FC236}">
                <a16:creationId xmlns:a16="http://schemas.microsoft.com/office/drawing/2014/main" id="{06A4E5D6-6CDF-4A97-AB3A-76AFE72D00E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B9CDED-4B21-4AC0-B153-3EB80A99941E}" type="slidenum">
              <a:rPr lang="en-PH" smtClean="0"/>
              <a:t>‹#›</a:t>
            </a:fld>
            <a:endParaRPr lang="en-PH"/>
          </a:p>
        </p:txBody>
      </p:sp>
    </p:spTree>
    <p:extLst>
      <p:ext uri="{BB962C8B-B14F-4D97-AF65-F5344CB8AC3E}">
        <p14:creationId xmlns:p14="http://schemas.microsoft.com/office/powerpoint/2010/main" val="25382144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045AE3-D266-9450-6B09-293BA6277FC2}"/>
            </a:ext>
          </a:extLst>
        </p:cNvPr>
        <p:cNvGrpSpPr/>
        <p:nvPr/>
      </p:nvGrpSpPr>
      <p:grpSpPr>
        <a:xfrm>
          <a:off x="0" y="0"/>
          <a:ext cx="0" cy="0"/>
          <a:chOff x="0" y="0"/>
          <a:chExt cx="0" cy="0"/>
        </a:xfrm>
      </p:grpSpPr>
      <p:pic>
        <p:nvPicPr>
          <p:cNvPr id="30" name="Picture 29">
            <a:extLst>
              <a:ext uri="{FF2B5EF4-FFF2-40B4-BE49-F238E27FC236}">
                <a16:creationId xmlns:a16="http://schemas.microsoft.com/office/drawing/2014/main" id="{6F3B1528-95CB-CF69-4ED0-D685C2601F19}"/>
              </a:ext>
            </a:extLst>
          </p:cNvPr>
          <p:cNvPicPr>
            <a:picLocks noChangeAspect="1"/>
          </p:cNvPicPr>
          <p:nvPr/>
        </p:nvPicPr>
        <p:blipFill rotWithShape="1">
          <a:blip r:embed="rId4">
            <a:extLst>
              <a:ext uri="{28A0092B-C50C-407E-A947-70E740481C1C}">
                <a14:useLocalDpi xmlns:a14="http://schemas.microsoft.com/office/drawing/2010/main" val="0"/>
              </a:ext>
            </a:extLst>
          </a:blip>
          <a:srcRect l="43383" r="15817"/>
          <a:stretch/>
        </p:blipFill>
        <p:spPr>
          <a:xfrm>
            <a:off x="8462421" y="-2"/>
            <a:ext cx="4209729" cy="6858000"/>
          </a:xfrm>
          <a:prstGeom prst="rect">
            <a:avLst/>
          </a:prstGeom>
        </p:spPr>
      </p:pic>
      <p:sp>
        <p:nvSpPr>
          <p:cNvPr id="4" name="AutoShape 4">
            <a:extLst>
              <a:ext uri="{FF2B5EF4-FFF2-40B4-BE49-F238E27FC236}">
                <a16:creationId xmlns:a16="http://schemas.microsoft.com/office/drawing/2014/main" id="{B112E0C7-B443-BFE9-51C8-D49F43A54A06}"/>
              </a:ext>
            </a:extLst>
          </p:cNvPr>
          <p:cNvSpPr/>
          <p:nvPr/>
        </p:nvSpPr>
        <p:spPr>
          <a:xfrm>
            <a:off x="8462421" y="0"/>
            <a:ext cx="0" cy="6666105"/>
          </a:xfrm>
          <a:prstGeom prst="line">
            <a:avLst/>
          </a:prstGeom>
          <a:ln w="390525" cap="flat">
            <a:solidFill>
              <a:srgbClr val="212020"/>
            </a:solidFill>
            <a:prstDash val="sysDot"/>
            <a:headEnd type="none" w="sm" len="sm"/>
            <a:tailEnd type="none" w="sm" len="sm"/>
          </a:ln>
        </p:spPr>
      </p:sp>
      <p:sp>
        <p:nvSpPr>
          <p:cNvPr id="5" name="AutoShape 5">
            <a:extLst>
              <a:ext uri="{FF2B5EF4-FFF2-40B4-BE49-F238E27FC236}">
                <a16:creationId xmlns:a16="http://schemas.microsoft.com/office/drawing/2014/main" id="{84E97E00-8B0C-73FE-0F1C-06C5FB1173FF}"/>
              </a:ext>
            </a:extLst>
          </p:cNvPr>
          <p:cNvSpPr/>
          <p:nvPr/>
        </p:nvSpPr>
        <p:spPr>
          <a:xfrm>
            <a:off x="8592596" y="191895"/>
            <a:ext cx="0" cy="6666105"/>
          </a:xfrm>
          <a:prstGeom prst="line">
            <a:avLst/>
          </a:prstGeom>
          <a:ln w="390525" cap="flat">
            <a:solidFill>
              <a:srgbClr val="212020"/>
            </a:solidFill>
            <a:prstDash val="sysDot"/>
            <a:headEnd type="none" w="sm" len="sm"/>
            <a:tailEnd type="none" w="sm" len="sm"/>
          </a:ln>
        </p:spPr>
      </p:sp>
      <p:sp>
        <p:nvSpPr>
          <p:cNvPr id="6" name="AutoShape 6">
            <a:extLst>
              <a:ext uri="{FF2B5EF4-FFF2-40B4-BE49-F238E27FC236}">
                <a16:creationId xmlns:a16="http://schemas.microsoft.com/office/drawing/2014/main" id="{BECF0018-F7E0-F943-DDC0-787A2E86D99F}"/>
              </a:ext>
            </a:extLst>
          </p:cNvPr>
          <p:cNvSpPr/>
          <p:nvPr/>
        </p:nvSpPr>
        <p:spPr>
          <a:xfrm>
            <a:off x="8338596" y="191895"/>
            <a:ext cx="0" cy="6666105"/>
          </a:xfrm>
          <a:prstGeom prst="line">
            <a:avLst/>
          </a:prstGeom>
          <a:ln w="390525" cap="flat">
            <a:solidFill>
              <a:srgbClr val="212020"/>
            </a:solidFill>
            <a:prstDash val="sysDot"/>
            <a:headEnd type="none" w="sm" len="sm"/>
            <a:tailEnd type="none" w="sm" len="sm"/>
          </a:ln>
        </p:spPr>
      </p:sp>
      <p:sp>
        <p:nvSpPr>
          <p:cNvPr id="7" name="AutoShape 7">
            <a:extLst>
              <a:ext uri="{FF2B5EF4-FFF2-40B4-BE49-F238E27FC236}">
                <a16:creationId xmlns:a16="http://schemas.microsoft.com/office/drawing/2014/main" id="{72FAD8A2-E8F1-1B0E-0999-C3C9330B106F}"/>
              </a:ext>
            </a:extLst>
          </p:cNvPr>
          <p:cNvSpPr/>
          <p:nvPr/>
        </p:nvSpPr>
        <p:spPr>
          <a:xfrm>
            <a:off x="329727" y="1076011"/>
            <a:ext cx="7667735" cy="0"/>
          </a:xfrm>
          <a:prstGeom prst="line">
            <a:avLst/>
          </a:prstGeom>
          <a:ln>
            <a:headEnd type="none" w="sm" len="sm"/>
            <a:tailEnd type="none" w="sm" len="sm"/>
          </a:ln>
        </p:spPr>
        <p:style>
          <a:lnRef idx="3">
            <a:schemeClr val="dk1"/>
          </a:lnRef>
          <a:fillRef idx="0">
            <a:schemeClr val="dk1"/>
          </a:fillRef>
          <a:effectRef idx="2">
            <a:schemeClr val="dk1"/>
          </a:effectRef>
          <a:fontRef idx="minor">
            <a:schemeClr val="tx1"/>
          </a:fontRef>
        </p:style>
      </p:sp>
      <p:grpSp>
        <p:nvGrpSpPr>
          <p:cNvPr id="8" name="Group 8">
            <a:extLst>
              <a:ext uri="{FF2B5EF4-FFF2-40B4-BE49-F238E27FC236}">
                <a16:creationId xmlns:a16="http://schemas.microsoft.com/office/drawing/2014/main" id="{32192392-5A33-5856-88DF-892919232AB6}"/>
              </a:ext>
            </a:extLst>
          </p:cNvPr>
          <p:cNvGrpSpPr/>
          <p:nvPr/>
        </p:nvGrpSpPr>
        <p:grpSpPr>
          <a:xfrm>
            <a:off x="419417" y="380188"/>
            <a:ext cx="511045" cy="511045"/>
            <a:chOff x="0" y="0"/>
            <a:chExt cx="812800" cy="812800"/>
          </a:xfrm>
        </p:grpSpPr>
        <p:sp>
          <p:nvSpPr>
            <p:cNvPr id="9" name="Freeform 9">
              <a:extLst>
                <a:ext uri="{FF2B5EF4-FFF2-40B4-BE49-F238E27FC236}">
                  <a16:creationId xmlns:a16="http://schemas.microsoft.com/office/drawing/2014/main" id="{01054E07-1291-9191-23CA-FC11AD132168}"/>
                </a:ext>
              </a:extLst>
            </p:cNvPr>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5"/>
              <a:stretch>
                <a:fillRect t="-2173" b="-2173"/>
              </a:stretch>
            </a:blipFill>
          </p:spPr>
        </p:sp>
      </p:grpSp>
      <p:sp>
        <p:nvSpPr>
          <p:cNvPr id="11" name="TextBox 11">
            <a:extLst>
              <a:ext uri="{FF2B5EF4-FFF2-40B4-BE49-F238E27FC236}">
                <a16:creationId xmlns:a16="http://schemas.microsoft.com/office/drawing/2014/main" id="{FEA2DE42-75CB-BCBD-9C31-819748DC5392}"/>
              </a:ext>
            </a:extLst>
          </p:cNvPr>
          <p:cNvSpPr txBox="1"/>
          <p:nvPr/>
        </p:nvSpPr>
        <p:spPr>
          <a:xfrm>
            <a:off x="1019362" y="367741"/>
            <a:ext cx="6987150" cy="512961"/>
          </a:xfrm>
          <a:prstGeom prst="rect">
            <a:avLst/>
          </a:prstGeom>
        </p:spPr>
        <p:txBody>
          <a:bodyPr wrap="square" lIns="0" tIns="0" rIns="0" bIns="0" rtlCol="0" anchor="t">
            <a:spAutoFit/>
          </a:bodyPr>
          <a:lstStyle/>
          <a:p>
            <a:pPr>
              <a:lnSpc>
                <a:spcPts val="1960"/>
              </a:lnSpc>
            </a:pPr>
            <a:r>
              <a:rPr lang="en-US" b="1" dirty="0">
                <a:latin typeface="Times New Roman" panose="02020603050405020304" pitchFamily="18" charset="0"/>
                <a:ea typeface="Gotham Bold"/>
                <a:cs typeface="Times New Roman" panose="02020603050405020304" pitchFamily="18" charset="0"/>
                <a:sym typeface="Gotham Bold"/>
              </a:rPr>
              <a:t>| University of San Jose - </a:t>
            </a:r>
            <a:r>
              <a:rPr lang="en-US" b="1" dirty="0" err="1">
                <a:latin typeface="Times New Roman" panose="02020603050405020304" pitchFamily="18" charset="0"/>
                <a:ea typeface="Gotham Bold"/>
                <a:cs typeface="Times New Roman" panose="02020603050405020304" pitchFamily="18" charset="0"/>
                <a:sym typeface="Gotham Bold"/>
              </a:rPr>
              <a:t>Recoletos</a:t>
            </a:r>
            <a:r>
              <a:rPr lang="en-US" b="1" dirty="0">
                <a:latin typeface="Times New Roman" panose="02020603050405020304" pitchFamily="18" charset="0"/>
                <a:ea typeface="Gotham Bold"/>
                <a:cs typeface="Times New Roman" panose="02020603050405020304" pitchFamily="18" charset="0"/>
                <a:sym typeface="Gotham Bold"/>
              </a:rPr>
              <a:t> | School of Computer Studies </a:t>
            </a:r>
          </a:p>
          <a:p>
            <a:pPr>
              <a:lnSpc>
                <a:spcPts val="1960"/>
              </a:lnSpc>
            </a:pPr>
            <a:r>
              <a:rPr lang="en-US" b="1" dirty="0">
                <a:latin typeface="Times New Roman" panose="02020603050405020304" pitchFamily="18" charset="0"/>
                <a:ea typeface="Gotham Bold"/>
                <a:cs typeface="Times New Roman" panose="02020603050405020304" pitchFamily="18" charset="0"/>
                <a:sym typeface="Gotham Bold"/>
              </a:rPr>
              <a:t>| Quantitative Methods | Engr. </a:t>
            </a:r>
            <a:r>
              <a:rPr lang="en-US" b="1" dirty="0" err="1">
                <a:latin typeface="Times New Roman" panose="02020603050405020304" pitchFamily="18" charset="0"/>
                <a:ea typeface="Gotham Bold"/>
                <a:cs typeface="Times New Roman" panose="02020603050405020304" pitchFamily="18" charset="0"/>
                <a:sym typeface="Gotham Bold"/>
              </a:rPr>
              <a:t>Violdan</a:t>
            </a:r>
            <a:r>
              <a:rPr lang="en-US" b="1" dirty="0">
                <a:latin typeface="Times New Roman" panose="02020603050405020304" pitchFamily="18" charset="0"/>
                <a:ea typeface="Gotham Bold"/>
                <a:cs typeface="Times New Roman" panose="02020603050405020304" pitchFamily="18" charset="0"/>
                <a:sym typeface="Gotham Bold"/>
              </a:rPr>
              <a:t> E. </a:t>
            </a:r>
            <a:r>
              <a:rPr lang="en-US" b="1" dirty="0" err="1">
                <a:latin typeface="Times New Roman" panose="02020603050405020304" pitchFamily="18" charset="0"/>
                <a:ea typeface="Gotham Bold"/>
                <a:cs typeface="Times New Roman" panose="02020603050405020304" pitchFamily="18" charset="0"/>
                <a:sym typeface="Gotham Bold"/>
              </a:rPr>
              <a:t>Bayocot</a:t>
            </a:r>
            <a:endParaRPr lang="en-US" b="1" dirty="0">
              <a:latin typeface="Times New Roman" panose="02020603050405020304" pitchFamily="18" charset="0"/>
              <a:ea typeface="Gotham Bold"/>
              <a:cs typeface="Times New Roman" panose="02020603050405020304" pitchFamily="18" charset="0"/>
              <a:sym typeface="Gotham Bold"/>
            </a:endParaRPr>
          </a:p>
        </p:txBody>
      </p:sp>
      <p:grpSp>
        <p:nvGrpSpPr>
          <p:cNvPr id="12" name="Group 11">
            <a:extLst>
              <a:ext uri="{FF2B5EF4-FFF2-40B4-BE49-F238E27FC236}">
                <a16:creationId xmlns:a16="http://schemas.microsoft.com/office/drawing/2014/main" id="{25112C17-E56B-19D1-2BC9-78BD14A17CB3}"/>
              </a:ext>
            </a:extLst>
          </p:cNvPr>
          <p:cNvGrpSpPr/>
          <p:nvPr/>
        </p:nvGrpSpPr>
        <p:grpSpPr>
          <a:xfrm>
            <a:off x="221008" y="2436010"/>
            <a:ext cx="7896580" cy="2378526"/>
            <a:chOff x="109932" y="2228795"/>
            <a:chExt cx="7896580" cy="2378526"/>
          </a:xfrm>
        </p:grpSpPr>
        <p:sp>
          <p:nvSpPr>
            <p:cNvPr id="13" name="TextBox 10">
              <a:extLst>
                <a:ext uri="{FF2B5EF4-FFF2-40B4-BE49-F238E27FC236}">
                  <a16:creationId xmlns:a16="http://schemas.microsoft.com/office/drawing/2014/main" id="{D33EE0CB-7530-0D2A-76FE-BE52591198FE}"/>
                </a:ext>
              </a:extLst>
            </p:cNvPr>
            <p:cNvSpPr txBox="1"/>
            <p:nvPr/>
          </p:nvSpPr>
          <p:spPr>
            <a:xfrm>
              <a:off x="109932" y="2575996"/>
              <a:ext cx="7896580" cy="2031325"/>
            </a:xfrm>
            <a:prstGeom prst="rect">
              <a:avLst/>
            </a:prstGeom>
          </p:spPr>
          <p:txBody>
            <a:bodyPr lIns="0" tIns="0" rIns="0" bIns="0" rtlCol="0" anchor="t">
              <a:spAutoFit/>
            </a:bodyPr>
            <a:lstStyle/>
            <a:p>
              <a:pPr algn="ctr"/>
              <a:r>
                <a:rPr lang="en-PH" sz="6600" b="1" dirty="0">
                  <a:latin typeface="Times New Roman" panose="02020603050405020304" pitchFamily="18" charset="0"/>
                  <a:cs typeface="Times New Roman" panose="02020603050405020304" pitchFamily="18" charset="0"/>
                </a:rPr>
                <a:t>VISUALIZING DATA</a:t>
              </a:r>
              <a:endParaRPr lang="en-US" sz="6600" b="1" dirty="0">
                <a:latin typeface="Times New Roman" panose="02020603050405020304" pitchFamily="18" charset="0"/>
                <a:ea typeface="Archivo Black"/>
                <a:cs typeface="Times New Roman" panose="02020603050405020304" pitchFamily="18" charset="0"/>
                <a:sym typeface="Archivo Black"/>
              </a:endParaRPr>
            </a:p>
          </p:txBody>
        </p:sp>
        <p:sp>
          <p:nvSpPr>
            <p:cNvPr id="16" name="Rectangle 3">
              <a:extLst>
                <a:ext uri="{FF2B5EF4-FFF2-40B4-BE49-F238E27FC236}">
                  <a16:creationId xmlns:a16="http://schemas.microsoft.com/office/drawing/2014/main" id="{A1C64EE1-6EB1-1B73-DDF3-B1269A6D6942}"/>
                </a:ext>
              </a:extLst>
            </p:cNvPr>
            <p:cNvSpPr txBox="1">
              <a:spLocks noChangeArrowheads="1"/>
            </p:cNvSpPr>
            <p:nvPr>
              <p:custDataLst>
                <p:tags r:id="rId2"/>
              </p:custDataLst>
            </p:nvPr>
          </p:nvSpPr>
          <p:spPr>
            <a:xfrm>
              <a:off x="1565603" y="2228795"/>
              <a:ext cx="4985238" cy="452472"/>
            </a:xfrm>
            <a:prstGeom prst="rect">
              <a:avLst/>
            </a:prstGeom>
          </p:spPr>
          <p:txBody>
            <a:bodyPr vert="horz" lIns="91440" tIns="45720" rIns="91440" bIns="45720" rtlCol="0" anchor="ct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latin typeface="Times New Roman" panose="02020603050405020304" pitchFamily="18" charset="0"/>
                  <a:cs typeface="Times New Roman" panose="02020603050405020304" pitchFamily="18" charset="0"/>
                </a:rPr>
                <a:t>MODULE 01</a:t>
              </a:r>
            </a:p>
          </p:txBody>
        </p:sp>
      </p:grpSp>
      <p:grpSp>
        <p:nvGrpSpPr>
          <p:cNvPr id="10" name="Group 9">
            <a:extLst>
              <a:ext uri="{FF2B5EF4-FFF2-40B4-BE49-F238E27FC236}">
                <a16:creationId xmlns:a16="http://schemas.microsoft.com/office/drawing/2014/main" id="{3EFC32E1-2D36-40A0-0FFF-0D555E6094FE}"/>
              </a:ext>
            </a:extLst>
          </p:cNvPr>
          <p:cNvGrpSpPr/>
          <p:nvPr/>
        </p:nvGrpSpPr>
        <p:grpSpPr>
          <a:xfrm>
            <a:off x="0" y="6544092"/>
            <a:ext cx="12192000" cy="313908"/>
            <a:chOff x="0" y="6544092"/>
            <a:chExt cx="12192000" cy="313908"/>
          </a:xfrm>
        </p:grpSpPr>
        <p:sp>
          <p:nvSpPr>
            <p:cNvPr id="25" name="Rectangle 24">
              <a:extLst>
                <a:ext uri="{FF2B5EF4-FFF2-40B4-BE49-F238E27FC236}">
                  <a16:creationId xmlns:a16="http://schemas.microsoft.com/office/drawing/2014/main" id="{0E0050BB-81A1-A30E-054D-B0AA13C5DBBA}"/>
                </a:ext>
              </a:extLst>
            </p:cNvPr>
            <p:cNvSpPr/>
            <p:nvPr/>
          </p:nvSpPr>
          <p:spPr>
            <a:xfrm>
              <a:off x="0" y="6544092"/>
              <a:ext cx="12192000" cy="31390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26" name="TextBox 10">
              <a:extLst>
                <a:ext uri="{FF2B5EF4-FFF2-40B4-BE49-F238E27FC236}">
                  <a16:creationId xmlns:a16="http://schemas.microsoft.com/office/drawing/2014/main" id="{369BBDA5-74E0-FF45-4006-B23B6D95DF06}"/>
                </a:ext>
              </a:extLst>
            </p:cNvPr>
            <p:cNvSpPr txBox="1"/>
            <p:nvPr/>
          </p:nvSpPr>
          <p:spPr>
            <a:xfrm>
              <a:off x="109932" y="6577518"/>
              <a:ext cx="2794997" cy="247055"/>
            </a:xfrm>
            <a:prstGeom prst="rect">
              <a:avLst/>
            </a:prstGeom>
            <a:noFill/>
          </p:spPr>
          <p:txBody>
            <a:bodyPr lIns="0" tIns="0" rIns="0" bIns="0" rtlCol="0" anchor="ctr">
              <a:spAutoFit/>
            </a:bodyPr>
            <a:lstStyle/>
            <a:p>
              <a:pPr algn="just">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ENGR. VIOLDAN E. BAYOCOT</a:t>
              </a:r>
            </a:p>
          </p:txBody>
        </p:sp>
        <p:sp>
          <p:nvSpPr>
            <p:cNvPr id="27" name="TextBox 26">
              <a:extLst>
                <a:ext uri="{FF2B5EF4-FFF2-40B4-BE49-F238E27FC236}">
                  <a16:creationId xmlns:a16="http://schemas.microsoft.com/office/drawing/2014/main" id="{A438F1EC-039F-39B9-6DFD-93691DCF73E9}"/>
                </a:ext>
              </a:extLst>
            </p:cNvPr>
            <p:cNvSpPr txBox="1"/>
            <p:nvPr/>
          </p:nvSpPr>
          <p:spPr>
            <a:xfrm>
              <a:off x="3158929" y="6577518"/>
              <a:ext cx="5433668" cy="248145"/>
            </a:xfrm>
            <a:prstGeom prst="rect">
              <a:avLst/>
            </a:prstGeom>
            <a:noFill/>
          </p:spPr>
          <p:txBody>
            <a:bodyPr wrap="square" lIns="0" tIns="0" rIns="0" bIns="0" rtlCol="0" anchor="t">
              <a:spAutoFit/>
            </a:bodyPr>
            <a:lstStyle/>
            <a:p>
              <a:pPr algn="ct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[Krista K.] BECOME A PROBABILITY &amp; STATISTICS MASTER</a:t>
              </a:r>
            </a:p>
          </p:txBody>
        </p:sp>
        <p:sp>
          <p:nvSpPr>
            <p:cNvPr id="28" name="TextBox 27">
              <a:extLst>
                <a:ext uri="{FF2B5EF4-FFF2-40B4-BE49-F238E27FC236}">
                  <a16:creationId xmlns:a16="http://schemas.microsoft.com/office/drawing/2014/main" id="{1D053ECD-D2A0-72C9-FB94-FE4E6EE3CBAB}"/>
                </a:ext>
              </a:extLst>
            </p:cNvPr>
            <p:cNvSpPr txBox="1"/>
            <p:nvPr/>
          </p:nvSpPr>
          <p:spPr>
            <a:xfrm>
              <a:off x="8387007" y="6577518"/>
              <a:ext cx="3701763" cy="248145"/>
            </a:xfrm>
            <a:prstGeom prst="rect">
              <a:avLst/>
            </a:prstGeom>
            <a:noFill/>
          </p:spPr>
          <p:txBody>
            <a:bodyPr wrap="square" lIns="0" tIns="0" rIns="0" bIns="0" rtlCol="0" anchor="t">
              <a:spAutoFit/>
            </a:bodyPr>
            <a:lstStyle/>
            <a:p>
              <a:pPr algn="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QUANTITATIVE METHODS</a:t>
              </a:r>
            </a:p>
          </p:txBody>
        </p:sp>
      </p:grpSp>
      <p:grpSp>
        <p:nvGrpSpPr>
          <p:cNvPr id="29" name="Group 28">
            <a:extLst>
              <a:ext uri="{FF2B5EF4-FFF2-40B4-BE49-F238E27FC236}">
                <a16:creationId xmlns:a16="http://schemas.microsoft.com/office/drawing/2014/main" id="{5F7AAF53-343B-5B2A-C920-FBFAB5293D81}"/>
              </a:ext>
            </a:extLst>
          </p:cNvPr>
          <p:cNvGrpSpPr/>
          <p:nvPr/>
        </p:nvGrpSpPr>
        <p:grpSpPr>
          <a:xfrm>
            <a:off x="8965032" y="1894438"/>
            <a:ext cx="3081528" cy="3081528"/>
            <a:chOff x="8965032" y="1894438"/>
            <a:chExt cx="3081528" cy="3081528"/>
          </a:xfrm>
        </p:grpSpPr>
        <p:pic>
          <p:nvPicPr>
            <p:cNvPr id="21" name="Picture 20">
              <a:extLst>
                <a:ext uri="{FF2B5EF4-FFF2-40B4-BE49-F238E27FC236}">
                  <a16:creationId xmlns:a16="http://schemas.microsoft.com/office/drawing/2014/main" id="{BA24E500-B224-0DE7-5CE0-21B03217C27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216469" y="2164924"/>
              <a:ext cx="2597703" cy="2597703"/>
            </a:xfrm>
            <a:prstGeom prst="rect">
              <a:avLst/>
            </a:prstGeom>
          </p:spPr>
        </p:pic>
        <p:grpSp>
          <p:nvGrpSpPr>
            <p:cNvPr id="22" name="Group 7">
              <a:extLst>
                <a:ext uri="{FF2B5EF4-FFF2-40B4-BE49-F238E27FC236}">
                  <a16:creationId xmlns:a16="http://schemas.microsoft.com/office/drawing/2014/main" id="{B2CA72EB-B47D-426D-DF67-A33D0C9C4CAB}"/>
                </a:ext>
              </a:extLst>
            </p:cNvPr>
            <p:cNvGrpSpPr>
              <a:grpSpLocks noChangeAspect="1"/>
            </p:cNvGrpSpPr>
            <p:nvPr/>
          </p:nvGrpSpPr>
          <p:grpSpPr>
            <a:xfrm>
              <a:off x="8965032" y="1894438"/>
              <a:ext cx="3081528" cy="3081528"/>
              <a:chOff x="-3810" y="-17780"/>
              <a:chExt cx="7620000" cy="7620000"/>
            </a:xfrm>
          </p:grpSpPr>
          <p:sp>
            <p:nvSpPr>
              <p:cNvPr id="23" name="Freeform 9">
                <a:extLst>
                  <a:ext uri="{FF2B5EF4-FFF2-40B4-BE49-F238E27FC236}">
                    <a16:creationId xmlns:a16="http://schemas.microsoft.com/office/drawing/2014/main" id="{EC51017D-775D-1E64-443B-BB9D8559FAEF}"/>
                  </a:ext>
                </a:extLst>
              </p:cNvPr>
              <p:cNvSpPr/>
              <p:nvPr/>
            </p:nvSpPr>
            <p:spPr>
              <a:xfrm>
                <a:off x="-3810" y="-17780"/>
                <a:ext cx="7620000" cy="7620000"/>
              </a:xfrm>
              <a:custGeom>
                <a:avLst/>
                <a:gdLst/>
                <a:ahLst/>
                <a:cxnLst/>
                <a:rect l="l" t="t" r="r" b="b"/>
                <a:pathLst>
                  <a:path w="7620000" h="7620000">
                    <a:moveTo>
                      <a:pt x="3810000" y="0"/>
                    </a:moveTo>
                    <a:cubicBezTo>
                      <a:pt x="1709420" y="0"/>
                      <a:pt x="0" y="1709420"/>
                      <a:pt x="0" y="3810000"/>
                    </a:cubicBezTo>
                    <a:cubicBezTo>
                      <a:pt x="0" y="5910580"/>
                      <a:pt x="1709420" y="7620000"/>
                      <a:pt x="3810000" y="7620000"/>
                    </a:cubicBezTo>
                    <a:cubicBezTo>
                      <a:pt x="5910580" y="7620000"/>
                      <a:pt x="7620000" y="5910580"/>
                      <a:pt x="7620000" y="3810000"/>
                    </a:cubicBezTo>
                    <a:cubicBezTo>
                      <a:pt x="7620000" y="1709420"/>
                      <a:pt x="5910580" y="0"/>
                      <a:pt x="3810000" y="0"/>
                    </a:cubicBezTo>
                    <a:close/>
                    <a:moveTo>
                      <a:pt x="3810000" y="7193280"/>
                    </a:moveTo>
                    <a:cubicBezTo>
                      <a:pt x="1941830" y="7193280"/>
                      <a:pt x="426720" y="5678170"/>
                      <a:pt x="426720" y="3810000"/>
                    </a:cubicBezTo>
                    <a:cubicBezTo>
                      <a:pt x="426720" y="1941830"/>
                      <a:pt x="1941830" y="426720"/>
                      <a:pt x="3810000" y="426720"/>
                    </a:cubicBezTo>
                    <a:cubicBezTo>
                      <a:pt x="5678170" y="426720"/>
                      <a:pt x="7193280" y="1941830"/>
                      <a:pt x="7193280" y="3810000"/>
                    </a:cubicBezTo>
                    <a:cubicBezTo>
                      <a:pt x="7193280" y="5678170"/>
                      <a:pt x="5678170" y="7193280"/>
                      <a:pt x="3810000" y="7193280"/>
                    </a:cubicBezTo>
                    <a:close/>
                  </a:path>
                </a:pathLst>
              </a:custGeom>
              <a:solidFill>
                <a:schemeClr val="bg1"/>
              </a:solidFill>
            </p:spPr>
          </p:sp>
          <p:sp>
            <p:nvSpPr>
              <p:cNvPr id="24" name="Freeform 10">
                <a:extLst>
                  <a:ext uri="{FF2B5EF4-FFF2-40B4-BE49-F238E27FC236}">
                    <a16:creationId xmlns:a16="http://schemas.microsoft.com/office/drawing/2014/main" id="{FB4003A2-A194-34E1-A1F8-5526382AD07A}"/>
                  </a:ext>
                </a:extLst>
              </p:cNvPr>
              <p:cNvSpPr/>
              <p:nvPr/>
            </p:nvSpPr>
            <p:spPr>
              <a:xfrm>
                <a:off x="422910" y="408940"/>
                <a:ext cx="6766559" cy="6766560"/>
              </a:xfrm>
              <a:custGeom>
                <a:avLst/>
                <a:gdLst/>
                <a:ahLst/>
                <a:cxnLst/>
                <a:rect l="l" t="t" r="r" b="b"/>
                <a:pathLst>
                  <a:path w="6766559" h="6766560">
                    <a:moveTo>
                      <a:pt x="3383280" y="0"/>
                    </a:moveTo>
                    <a:cubicBezTo>
                      <a:pt x="1515110" y="0"/>
                      <a:pt x="0" y="1515110"/>
                      <a:pt x="0" y="3383280"/>
                    </a:cubicBezTo>
                    <a:cubicBezTo>
                      <a:pt x="0" y="5251450"/>
                      <a:pt x="1515110" y="6766560"/>
                      <a:pt x="3383280" y="6766560"/>
                    </a:cubicBezTo>
                    <a:cubicBezTo>
                      <a:pt x="5251450" y="6766560"/>
                      <a:pt x="6766560" y="5251450"/>
                      <a:pt x="6766560" y="3383280"/>
                    </a:cubicBezTo>
                    <a:cubicBezTo>
                      <a:pt x="6766560" y="1515110"/>
                      <a:pt x="5251450" y="0"/>
                      <a:pt x="3383280" y="0"/>
                    </a:cubicBezTo>
                    <a:close/>
                    <a:moveTo>
                      <a:pt x="3383280" y="6398260"/>
                    </a:moveTo>
                    <a:cubicBezTo>
                      <a:pt x="1720850" y="6398260"/>
                      <a:pt x="368300" y="5045710"/>
                      <a:pt x="368300" y="3383280"/>
                    </a:cubicBezTo>
                    <a:cubicBezTo>
                      <a:pt x="368300" y="1720850"/>
                      <a:pt x="1720850" y="368300"/>
                      <a:pt x="3383280" y="368300"/>
                    </a:cubicBezTo>
                    <a:cubicBezTo>
                      <a:pt x="5045710" y="368300"/>
                      <a:pt x="6398260" y="1720850"/>
                      <a:pt x="6398260" y="3383280"/>
                    </a:cubicBezTo>
                    <a:cubicBezTo>
                      <a:pt x="6398260" y="5045710"/>
                      <a:pt x="5045710" y="6398260"/>
                      <a:pt x="3383280" y="6398260"/>
                    </a:cubicBezTo>
                    <a:close/>
                  </a:path>
                </a:pathLst>
              </a:custGeom>
              <a:solidFill>
                <a:schemeClr val="tx1"/>
              </a:solidFill>
            </p:spPr>
          </p:sp>
        </p:grpSp>
      </p:grpSp>
      <p:sp>
        <p:nvSpPr>
          <p:cNvPr id="31" name="Rectangle 3">
            <a:extLst>
              <a:ext uri="{FF2B5EF4-FFF2-40B4-BE49-F238E27FC236}">
                <a16:creationId xmlns:a16="http://schemas.microsoft.com/office/drawing/2014/main" id="{D00F5843-B4C5-091D-BEAA-725BB513825A}"/>
              </a:ext>
            </a:extLst>
          </p:cNvPr>
          <p:cNvSpPr txBox="1">
            <a:spLocks noChangeArrowheads="1"/>
          </p:cNvSpPr>
          <p:nvPr>
            <p:custDataLst>
              <p:tags r:id="rId1"/>
            </p:custDataLst>
          </p:nvPr>
        </p:nvSpPr>
        <p:spPr>
          <a:xfrm>
            <a:off x="329728" y="1153968"/>
            <a:ext cx="7676784" cy="339527"/>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b="1" dirty="0">
                <a:latin typeface="Times New Roman" panose="02020603050405020304" pitchFamily="18" charset="0"/>
                <a:cs typeface="Times New Roman" panose="02020603050405020304" pitchFamily="18" charset="0"/>
              </a:rPr>
              <a:t>SUB-MODULE 01.01 – ONE WAY TABLES</a:t>
            </a:r>
          </a:p>
        </p:txBody>
      </p:sp>
    </p:spTree>
    <p:extLst>
      <p:ext uri="{BB962C8B-B14F-4D97-AF65-F5344CB8AC3E}">
        <p14:creationId xmlns:p14="http://schemas.microsoft.com/office/powerpoint/2010/main" val="17659195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E9CFA-3E06-35FF-B157-DA8646F05C41}"/>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5F68DAB8-CBE8-5B1F-92B5-30D8AC044811}"/>
              </a:ext>
            </a:extLst>
          </p:cNvPr>
          <p:cNvSpPr/>
          <p:nvPr/>
        </p:nvSpPr>
        <p:spPr>
          <a:xfrm>
            <a:off x="0" y="0"/>
            <a:ext cx="12192000" cy="548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sz="3000" b="1" dirty="0">
              <a:solidFill>
                <a:schemeClr val="tx1"/>
              </a:solidFill>
              <a:latin typeface="Times New Roman" panose="02020603050405020304" pitchFamily="18" charset="0"/>
              <a:cs typeface="Times New Roman" panose="02020603050405020304" pitchFamily="18" charset="0"/>
            </a:endParaRPr>
          </a:p>
        </p:txBody>
      </p:sp>
      <p:sp>
        <p:nvSpPr>
          <p:cNvPr id="2" name="Content Placeholder 2">
            <a:extLst>
              <a:ext uri="{FF2B5EF4-FFF2-40B4-BE49-F238E27FC236}">
                <a16:creationId xmlns:a16="http://schemas.microsoft.com/office/drawing/2014/main" id="{BB522A66-D966-6AD0-2C20-01AA68095BD4}"/>
              </a:ext>
            </a:extLst>
          </p:cNvPr>
          <p:cNvSpPr txBox="1">
            <a:spLocks/>
          </p:cNvSpPr>
          <p:nvPr/>
        </p:nvSpPr>
        <p:spPr>
          <a:xfrm>
            <a:off x="0" y="0"/>
            <a:ext cx="12191998" cy="548641"/>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PH" sz="3000" b="1" dirty="0">
                <a:solidFill>
                  <a:schemeClr val="bg1"/>
                </a:solidFill>
                <a:latin typeface="Times New Roman" panose="02020603050405020304" pitchFamily="18" charset="0"/>
                <a:cs typeface="Times New Roman" panose="02020603050405020304" pitchFamily="18" charset="0"/>
              </a:rPr>
              <a:t>INDIVIDUALS AND VARIABLES</a:t>
            </a:r>
            <a:endParaRPr lang="en-PH" sz="3000" b="1" dirty="0">
              <a:solidFill>
                <a:schemeClr val="bg1"/>
              </a:solidFill>
              <a:latin typeface="Courier New" panose="02070309020205020404" pitchFamily="49" charset="0"/>
              <a:cs typeface="Courier New" panose="02070309020205020404" pitchFamily="49" charset="0"/>
            </a:endParaRPr>
          </a:p>
        </p:txBody>
      </p:sp>
      <p:sp>
        <p:nvSpPr>
          <p:cNvPr id="3" name="Subtitle 2">
            <a:extLst>
              <a:ext uri="{FF2B5EF4-FFF2-40B4-BE49-F238E27FC236}">
                <a16:creationId xmlns:a16="http://schemas.microsoft.com/office/drawing/2014/main" id="{ACFE952D-021C-D055-2519-18B2E28FD3A8}"/>
              </a:ext>
            </a:extLst>
          </p:cNvPr>
          <p:cNvSpPr txBox="1">
            <a:spLocks/>
          </p:cNvSpPr>
          <p:nvPr/>
        </p:nvSpPr>
        <p:spPr>
          <a:xfrm>
            <a:off x="1071559" y="843773"/>
            <a:ext cx="10048875" cy="757779"/>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latin typeface="Times New Roman" panose="02020603050405020304" pitchFamily="18" charset="0"/>
                <a:cs typeface="Times New Roman" panose="02020603050405020304" pitchFamily="18" charset="0"/>
              </a:rPr>
              <a:t>A set of </a:t>
            </a:r>
            <a:r>
              <a:rPr lang="en-US" b="1" dirty="0">
                <a:latin typeface="Times New Roman" panose="02020603050405020304" pitchFamily="18" charset="0"/>
                <a:cs typeface="Times New Roman" panose="02020603050405020304" pitchFamily="18" charset="0"/>
              </a:rPr>
              <a:t>individuals</a:t>
            </a:r>
            <a:r>
              <a:rPr lang="en-US" dirty="0">
                <a:latin typeface="Times New Roman" panose="02020603050405020304" pitchFamily="18" charset="0"/>
                <a:cs typeface="Times New Roman" panose="02020603050405020304" pitchFamily="18" charset="0"/>
              </a:rPr>
              <a:t> with one or more properties is called </a:t>
            </a:r>
            <a:r>
              <a:rPr lang="en-US" b="1" dirty="0">
                <a:latin typeface="Times New Roman" panose="02020603050405020304" pitchFamily="18" charset="0"/>
                <a:cs typeface="Times New Roman" panose="02020603050405020304" pitchFamily="18" charset="0"/>
              </a:rPr>
              <a:t>variables</a:t>
            </a:r>
            <a:r>
              <a:rPr lang="en-US" dirty="0">
                <a:latin typeface="Times New Roman" panose="02020603050405020304" pitchFamily="18" charset="0"/>
                <a:cs typeface="Times New Roman" panose="02020603050405020304" pitchFamily="18" charset="0"/>
              </a:rPr>
              <a:t>. The individuals are the items in the data set and can be cases, things, people, etc.</a:t>
            </a:r>
          </a:p>
        </p:txBody>
      </p:sp>
      <p:graphicFrame>
        <p:nvGraphicFramePr>
          <p:cNvPr id="11" name="Table 10">
            <a:extLst>
              <a:ext uri="{FF2B5EF4-FFF2-40B4-BE49-F238E27FC236}">
                <a16:creationId xmlns:a16="http://schemas.microsoft.com/office/drawing/2014/main" id="{0C039982-9818-279A-4D67-3D83989EE005}"/>
              </a:ext>
            </a:extLst>
          </p:cNvPr>
          <p:cNvGraphicFramePr>
            <a:graphicFrameLocks noGrp="1"/>
          </p:cNvGraphicFramePr>
          <p:nvPr>
            <p:extLst>
              <p:ext uri="{D42A27DB-BD31-4B8C-83A1-F6EECF244321}">
                <p14:modId xmlns:p14="http://schemas.microsoft.com/office/powerpoint/2010/main" val="1310274183"/>
              </p:ext>
            </p:extLst>
          </p:nvPr>
        </p:nvGraphicFramePr>
        <p:xfrm>
          <a:off x="4334678" y="1896687"/>
          <a:ext cx="3522640" cy="1854200"/>
        </p:xfrm>
        <a:graphic>
          <a:graphicData uri="http://schemas.openxmlformats.org/drawingml/2006/table">
            <a:tbl>
              <a:tblPr firstRow="1" bandRow="1">
                <a:tableStyleId>{073A0DAA-6AF3-43AB-8588-CEC1D06C72B9}</a:tableStyleId>
              </a:tblPr>
              <a:tblGrid>
                <a:gridCol w="1761320">
                  <a:extLst>
                    <a:ext uri="{9D8B030D-6E8A-4147-A177-3AD203B41FA5}">
                      <a16:colId xmlns:a16="http://schemas.microsoft.com/office/drawing/2014/main" val="1754329565"/>
                    </a:ext>
                  </a:extLst>
                </a:gridCol>
                <a:gridCol w="1761320">
                  <a:extLst>
                    <a:ext uri="{9D8B030D-6E8A-4147-A177-3AD203B41FA5}">
                      <a16:colId xmlns:a16="http://schemas.microsoft.com/office/drawing/2014/main" val="4176826622"/>
                    </a:ext>
                  </a:extLst>
                </a:gridCol>
              </a:tblGrid>
              <a:tr h="370840">
                <a:tc>
                  <a:txBody>
                    <a:bodyPr/>
                    <a:lstStyle/>
                    <a:p>
                      <a:pPr algn="ctr"/>
                      <a:r>
                        <a:rPr lang="en-US" dirty="0">
                          <a:latin typeface="Times New Roman" panose="02020603050405020304" pitchFamily="18" charset="0"/>
                          <a:cs typeface="Times New Roman" panose="02020603050405020304" pitchFamily="18" charset="0"/>
                        </a:rPr>
                        <a:t>Person</a:t>
                      </a:r>
                    </a:p>
                  </a:txBody>
                  <a:tcPr/>
                </a:tc>
                <a:tc>
                  <a:txBody>
                    <a:bodyPr/>
                    <a:lstStyle/>
                    <a:p>
                      <a:pPr algn="ctr"/>
                      <a:r>
                        <a:rPr lang="en-US" dirty="0">
                          <a:latin typeface="Times New Roman" panose="02020603050405020304" pitchFamily="18" charset="0"/>
                          <a:cs typeface="Times New Roman" panose="02020603050405020304" pitchFamily="18" charset="0"/>
                        </a:rPr>
                        <a:t>Height</a:t>
                      </a:r>
                    </a:p>
                  </a:txBody>
                  <a:tcPr/>
                </a:tc>
                <a:extLst>
                  <a:ext uri="{0D108BD9-81ED-4DB2-BD59-A6C34878D82A}">
                    <a16:rowId xmlns:a16="http://schemas.microsoft.com/office/drawing/2014/main" val="2476757618"/>
                  </a:ext>
                </a:extLst>
              </a:tr>
              <a:tr h="370840">
                <a:tc>
                  <a:txBody>
                    <a:bodyPr/>
                    <a:lstStyle/>
                    <a:p>
                      <a:pPr algn="ctr"/>
                      <a:r>
                        <a:rPr lang="en-US" dirty="0">
                          <a:latin typeface="Times New Roman" panose="02020603050405020304" pitchFamily="18" charset="0"/>
                          <a:cs typeface="Times New Roman" panose="02020603050405020304" pitchFamily="18" charset="0"/>
                        </a:rPr>
                        <a:t>Wendy</a:t>
                      </a:r>
                    </a:p>
                  </a:txBody>
                  <a:tcPr/>
                </a:tc>
                <a:tc>
                  <a:txBody>
                    <a:bodyPr/>
                    <a:lstStyle/>
                    <a:p>
                      <a:pPr algn="ctr"/>
                      <a:r>
                        <a:rPr lang="en-US" dirty="0">
                          <a:latin typeface="Times New Roman" panose="02020603050405020304" pitchFamily="18" charset="0"/>
                          <a:cs typeface="Times New Roman" panose="02020603050405020304" pitchFamily="18" charset="0"/>
                        </a:rPr>
                        <a:t>5’6”</a:t>
                      </a:r>
                    </a:p>
                  </a:txBody>
                  <a:tcPr/>
                </a:tc>
                <a:extLst>
                  <a:ext uri="{0D108BD9-81ED-4DB2-BD59-A6C34878D82A}">
                    <a16:rowId xmlns:a16="http://schemas.microsoft.com/office/drawing/2014/main" val="3170681356"/>
                  </a:ext>
                </a:extLst>
              </a:tr>
              <a:tr h="370840">
                <a:tc>
                  <a:txBody>
                    <a:bodyPr/>
                    <a:lstStyle/>
                    <a:p>
                      <a:pPr algn="ctr"/>
                      <a:r>
                        <a:rPr lang="en-US" dirty="0">
                          <a:latin typeface="Times New Roman" panose="02020603050405020304" pitchFamily="18" charset="0"/>
                          <a:cs typeface="Times New Roman" panose="02020603050405020304" pitchFamily="18" charset="0"/>
                        </a:rPr>
                        <a:t>Michael</a:t>
                      </a:r>
                    </a:p>
                  </a:txBody>
                  <a:tcPr/>
                </a:tc>
                <a:tc>
                  <a:txBody>
                    <a:bodyPr/>
                    <a:lstStyle/>
                    <a:p>
                      <a:pPr algn="ctr"/>
                      <a:r>
                        <a:rPr lang="en-US" dirty="0">
                          <a:latin typeface="Times New Roman" panose="02020603050405020304" pitchFamily="18" charset="0"/>
                          <a:cs typeface="Times New Roman" panose="02020603050405020304" pitchFamily="18" charset="0"/>
                        </a:rPr>
                        <a:t>5’9”</a:t>
                      </a:r>
                    </a:p>
                  </a:txBody>
                  <a:tcPr/>
                </a:tc>
                <a:extLst>
                  <a:ext uri="{0D108BD9-81ED-4DB2-BD59-A6C34878D82A}">
                    <a16:rowId xmlns:a16="http://schemas.microsoft.com/office/drawing/2014/main" val="2037985912"/>
                  </a:ext>
                </a:extLst>
              </a:tr>
              <a:tr h="370840">
                <a:tc>
                  <a:txBody>
                    <a:bodyPr/>
                    <a:lstStyle/>
                    <a:p>
                      <a:pPr algn="ctr"/>
                      <a:r>
                        <a:rPr lang="en-US" dirty="0">
                          <a:latin typeface="Times New Roman" panose="02020603050405020304" pitchFamily="18" charset="0"/>
                          <a:cs typeface="Times New Roman" panose="02020603050405020304" pitchFamily="18" charset="0"/>
                        </a:rPr>
                        <a:t>Rachael</a:t>
                      </a:r>
                    </a:p>
                  </a:txBody>
                  <a:tcPr/>
                </a:tc>
                <a:tc>
                  <a:txBody>
                    <a:bodyPr/>
                    <a:lstStyle/>
                    <a:p>
                      <a:pPr algn="ctr"/>
                      <a:r>
                        <a:rPr lang="en-US" dirty="0">
                          <a:latin typeface="Times New Roman" panose="02020603050405020304" pitchFamily="18" charset="0"/>
                          <a:cs typeface="Times New Roman" panose="02020603050405020304" pitchFamily="18" charset="0"/>
                        </a:rPr>
                        <a:t>5’3”</a:t>
                      </a:r>
                    </a:p>
                  </a:txBody>
                  <a:tcPr/>
                </a:tc>
                <a:extLst>
                  <a:ext uri="{0D108BD9-81ED-4DB2-BD59-A6C34878D82A}">
                    <a16:rowId xmlns:a16="http://schemas.microsoft.com/office/drawing/2014/main" val="4031217013"/>
                  </a:ext>
                </a:extLst>
              </a:tr>
              <a:tr h="370840">
                <a:tc>
                  <a:txBody>
                    <a:bodyPr/>
                    <a:lstStyle/>
                    <a:p>
                      <a:pPr algn="ctr"/>
                      <a:r>
                        <a:rPr lang="en-US" dirty="0">
                          <a:latin typeface="Times New Roman" panose="02020603050405020304" pitchFamily="18" charset="0"/>
                          <a:cs typeface="Times New Roman" panose="02020603050405020304" pitchFamily="18" charset="0"/>
                        </a:rPr>
                        <a:t>Allen</a:t>
                      </a:r>
                    </a:p>
                  </a:txBody>
                  <a:tcPr/>
                </a:tc>
                <a:tc>
                  <a:txBody>
                    <a:bodyPr/>
                    <a:lstStyle/>
                    <a:p>
                      <a:pPr algn="ctr"/>
                      <a:r>
                        <a:rPr lang="en-US" dirty="0">
                          <a:latin typeface="Times New Roman" panose="02020603050405020304" pitchFamily="18" charset="0"/>
                          <a:cs typeface="Times New Roman" panose="02020603050405020304" pitchFamily="18" charset="0"/>
                        </a:rPr>
                        <a:t>5’11”</a:t>
                      </a:r>
                    </a:p>
                  </a:txBody>
                  <a:tcPr/>
                </a:tc>
                <a:extLst>
                  <a:ext uri="{0D108BD9-81ED-4DB2-BD59-A6C34878D82A}">
                    <a16:rowId xmlns:a16="http://schemas.microsoft.com/office/drawing/2014/main" val="2622697191"/>
                  </a:ext>
                </a:extLst>
              </a:tr>
            </a:tbl>
          </a:graphicData>
        </a:graphic>
      </p:graphicFrame>
      <p:sp>
        <p:nvSpPr>
          <p:cNvPr id="12" name="Subtitle 2">
            <a:extLst>
              <a:ext uri="{FF2B5EF4-FFF2-40B4-BE49-F238E27FC236}">
                <a16:creationId xmlns:a16="http://schemas.microsoft.com/office/drawing/2014/main" id="{72BD1E44-09DA-8714-8ED3-61C5DFA99CF5}"/>
              </a:ext>
            </a:extLst>
          </p:cNvPr>
          <p:cNvSpPr txBox="1">
            <a:spLocks/>
          </p:cNvSpPr>
          <p:nvPr/>
        </p:nvSpPr>
        <p:spPr>
          <a:xfrm>
            <a:off x="2709864" y="3824445"/>
            <a:ext cx="6772271" cy="757779"/>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dirty="0">
                <a:latin typeface="Times New Roman" panose="02020603050405020304" pitchFamily="18" charset="0"/>
                <a:cs typeface="Times New Roman" panose="02020603050405020304" pitchFamily="18" charset="0"/>
              </a:rPr>
              <a:t>In this table the </a:t>
            </a:r>
            <a:r>
              <a:rPr lang="en-US" sz="2000" b="1" dirty="0">
                <a:latin typeface="Times New Roman" panose="02020603050405020304" pitchFamily="18" charset="0"/>
                <a:cs typeface="Times New Roman" panose="02020603050405020304" pitchFamily="18" charset="0"/>
              </a:rPr>
              <a:t>individuals are the people </a:t>
            </a:r>
            <a:r>
              <a:rPr lang="en-US" sz="2000" dirty="0">
                <a:latin typeface="Times New Roman" panose="02020603050405020304" pitchFamily="18" charset="0"/>
                <a:cs typeface="Times New Roman" panose="02020603050405020304" pitchFamily="18" charset="0"/>
              </a:rPr>
              <a:t>and their </a:t>
            </a:r>
            <a:r>
              <a:rPr lang="en-US" sz="2000" b="1" dirty="0">
                <a:latin typeface="Times New Roman" panose="02020603050405020304" pitchFamily="18" charset="0"/>
                <a:cs typeface="Times New Roman" panose="02020603050405020304" pitchFamily="18" charset="0"/>
              </a:rPr>
              <a:t>heights are a variable </a:t>
            </a:r>
            <a:r>
              <a:rPr lang="en-US" sz="2000" dirty="0">
                <a:latin typeface="Times New Roman" panose="02020603050405020304" pitchFamily="18" charset="0"/>
                <a:cs typeface="Times New Roman" panose="02020603050405020304" pitchFamily="18" charset="0"/>
              </a:rPr>
              <a:t>because </a:t>
            </a:r>
            <a:r>
              <a:rPr lang="en-US" sz="2000" b="1" dirty="0">
                <a:latin typeface="Times New Roman" panose="02020603050405020304" pitchFamily="18" charset="0"/>
                <a:cs typeface="Times New Roman" panose="02020603050405020304" pitchFamily="18" charset="0"/>
              </a:rPr>
              <a:t>height is a property of each individual</a:t>
            </a:r>
          </a:p>
        </p:txBody>
      </p:sp>
      <p:sp>
        <p:nvSpPr>
          <p:cNvPr id="13" name="Subtitle 2">
            <a:extLst>
              <a:ext uri="{FF2B5EF4-FFF2-40B4-BE49-F238E27FC236}">
                <a16:creationId xmlns:a16="http://schemas.microsoft.com/office/drawing/2014/main" id="{6DF25CE6-7BCE-E28B-B994-DA725A1FDCE8}"/>
              </a:ext>
            </a:extLst>
          </p:cNvPr>
          <p:cNvSpPr txBox="1">
            <a:spLocks/>
          </p:cNvSpPr>
          <p:nvPr/>
        </p:nvSpPr>
        <p:spPr>
          <a:xfrm>
            <a:off x="3047994" y="4909160"/>
            <a:ext cx="6096001" cy="388013"/>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dirty="0">
                <a:latin typeface="Times New Roman" panose="02020603050405020304" pitchFamily="18" charset="0"/>
                <a:cs typeface="Times New Roman" panose="02020603050405020304" pitchFamily="18" charset="0"/>
              </a:rPr>
              <a:t>Together, individuals and variables are called </a:t>
            </a:r>
            <a:r>
              <a:rPr lang="en-US" sz="2000" b="1" dirty="0">
                <a:latin typeface="Times New Roman" panose="02020603050405020304" pitchFamily="18" charset="0"/>
                <a:cs typeface="Times New Roman" panose="02020603050405020304" pitchFamily="18" charset="0"/>
              </a:rPr>
              <a:t>data</a:t>
            </a:r>
            <a:r>
              <a:rPr lang="en-US" sz="2000" dirty="0">
                <a:latin typeface="Times New Roman" panose="02020603050405020304" pitchFamily="18" charset="0"/>
                <a:cs typeface="Times New Roman" panose="02020603050405020304" pitchFamily="18" charset="0"/>
              </a:rPr>
              <a:t>.</a:t>
            </a:r>
            <a:endParaRPr lang="en-US" sz="2000" b="1" dirty="0">
              <a:latin typeface="Times New Roman" panose="02020603050405020304" pitchFamily="18" charset="0"/>
              <a:cs typeface="Times New Roman" panose="02020603050405020304" pitchFamily="18" charset="0"/>
            </a:endParaRPr>
          </a:p>
        </p:txBody>
      </p:sp>
      <p:sp>
        <p:nvSpPr>
          <p:cNvPr id="19" name="Subtitle 2">
            <a:extLst>
              <a:ext uri="{FF2B5EF4-FFF2-40B4-BE49-F238E27FC236}">
                <a16:creationId xmlns:a16="http://schemas.microsoft.com/office/drawing/2014/main" id="{CDAAA3E0-3DE1-EB24-D9B3-E851952185DF}"/>
              </a:ext>
            </a:extLst>
          </p:cNvPr>
          <p:cNvSpPr txBox="1">
            <a:spLocks/>
          </p:cNvSpPr>
          <p:nvPr/>
        </p:nvSpPr>
        <p:spPr>
          <a:xfrm>
            <a:off x="2652706" y="5297173"/>
            <a:ext cx="6886576" cy="388013"/>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dirty="0">
                <a:latin typeface="Times New Roman" panose="02020603050405020304" pitchFamily="18" charset="0"/>
                <a:cs typeface="Times New Roman" panose="02020603050405020304" pitchFamily="18" charset="0"/>
              </a:rPr>
              <a:t>When we organize data into a table, we call it a </a:t>
            </a:r>
            <a:r>
              <a:rPr lang="en-US" sz="2000" b="1" dirty="0">
                <a:latin typeface="Times New Roman" panose="02020603050405020304" pitchFamily="18" charset="0"/>
                <a:cs typeface="Times New Roman" panose="02020603050405020304" pitchFamily="18" charset="0"/>
              </a:rPr>
              <a:t>data table</a:t>
            </a:r>
            <a:r>
              <a:rPr lang="en-US" sz="2000" dirty="0">
                <a:latin typeface="Times New Roman" panose="02020603050405020304" pitchFamily="18" charset="0"/>
                <a:cs typeface="Times New Roman" panose="02020603050405020304" pitchFamily="18" charset="0"/>
              </a:rPr>
              <a:t>.</a:t>
            </a:r>
            <a:endParaRPr lang="en-US" sz="2000" b="1" dirty="0">
              <a:latin typeface="Times New Roman" panose="02020603050405020304" pitchFamily="18" charset="0"/>
              <a:cs typeface="Times New Roman" panose="02020603050405020304" pitchFamily="18" charset="0"/>
            </a:endParaRPr>
          </a:p>
        </p:txBody>
      </p:sp>
      <p:grpSp>
        <p:nvGrpSpPr>
          <p:cNvPr id="6" name="Group 5">
            <a:extLst>
              <a:ext uri="{FF2B5EF4-FFF2-40B4-BE49-F238E27FC236}">
                <a16:creationId xmlns:a16="http://schemas.microsoft.com/office/drawing/2014/main" id="{0E8507E6-05A5-0C83-A28F-DEF6195C4369}"/>
              </a:ext>
            </a:extLst>
          </p:cNvPr>
          <p:cNvGrpSpPr/>
          <p:nvPr/>
        </p:nvGrpSpPr>
        <p:grpSpPr>
          <a:xfrm>
            <a:off x="0" y="6544092"/>
            <a:ext cx="12192000" cy="313908"/>
            <a:chOff x="0" y="6544092"/>
            <a:chExt cx="12192000" cy="313908"/>
          </a:xfrm>
        </p:grpSpPr>
        <p:sp>
          <p:nvSpPr>
            <p:cNvPr id="7" name="Rectangle 6">
              <a:extLst>
                <a:ext uri="{FF2B5EF4-FFF2-40B4-BE49-F238E27FC236}">
                  <a16:creationId xmlns:a16="http://schemas.microsoft.com/office/drawing/2014/main" id="{21A98227-FEEF-403C-212C-509CD4CEF3F5}"/>
                </a:ext>
              </a:extLst>
            </p:cNvPr>
            <p:cNvSpPr/>
            <p:nvPr/>
          </p:nvSpPr>
          <p:spPr>
            <a:xfrm>
              <a:off x="0" y="6544092"/>
              <a:ext cx="12192000" cy="31390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8" name="TextBox 10">
              <a:extLst>
                <a:ext uri="{FF2B5EF4-FFF2-40B4-BE49-F238E27FC236}">
                  <a16:creationId xmlns:a16="http://schemas.microsoft.com/office/drawing/2014/main" id="{023F2F5D-0859-3514-6704-5D3D2A75EBD9}"/>
                </a:ext>
              </a:extLst>
            </p:cNvPr>
            <p:cNvSpPr txBox="1"/>
            <p:nvPr/>
          </p:nvSpPr>
          <p:spPr>
            <a:xfrm>
              <a:off x="109932" y="6577518"/>
              <a:ext cx="2794997" cy="247055"/>
            </a:xfrm>
            <a:prstGeom prst="rect">
              <a:avLst/>
            </a:prstGeom>
            <a:noFill/>
          </p:spPr>
          <p:txBody>
            <a:bodyPr lIns="0" tIns="0" rIns="0" bIns="0" rtlCol="0" anchor="ctr">
              <a:spAutoFit/>
            </a:bodyPr>
            <a:lstStyle/>
            <a:p>
              <a:pPr algn="just">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ENGR. VIOLDAN E. BAYOCOT</a:t>
              </a:r>
            </a:p>
          </p:txBody>
        </p:sp>
        <p:sp>
          <p:nvSpPr>
            <p:cNvPr id="9" name="TextBox 8">
              <a:extLst>
                <a:ext uri="{FF2B5EF4-FFF2-40B4-BE49-F238E27FC236}">
                  <a16:creationId xmlns:a16="http://schemas.microsoft.com/office/drawing/2014/main" id="{4188CECF-710A-CA03-F032-CCB5CC86A376}"/>
                </a:ext>
              </a:extLst>
            </p:cNvPr>
            <p:cNvSpPr txBox="1"/>
            <p:nvPr/>
          </p:nvSpPr>
          <p:spPr>
            <a:xfrm>
              <a:off x="3158929" y="6577518"/>
              <a:ext cx="5433668" cy="248145"/>
            </a:xfrm>
            <a:prstGeom prst="rect">
              <a:avLst/>
            </a:prstGeom>
            <a:noFill/>
          </p:spPr>
          <p:txBody>
            <a:bodyPr wrap="square" lIns="0" tIns="0" rIns="0" bIns="0" rtlCol="0" anchor="t">
              <a:spAutoFit/>
            </a:bodyPr>
            <a:lstStyle/>
            <a:p>
              <a:pPr algn="ct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[Krista K.] BECOME A PROBABILITY &amp; STATISTICS MASTER</a:t>
              </a:r>
            </a:p>
          </p:txBody>
        </p:sp>
        <p:sp>
          <p:nvSpPr>
            <p:cNvPr id="10" name="TextBox 9">
              <a:extLst>
                <a:ext uri="{FF2B5EF4-FFF2-40B4-BE49-F238E27FC236}">
                  <a16:creationId xmlns:a16="http://schemas.microsoft.com/office/drawing/2014/main" id="{DDC274B7-C6A2-4BED-2001-0A3955F10F74}"/>
                </a:ext>
              </a:extLst>
            </p:cNvPr>
            <p:cNvSpPr txBox="1"/>
            <p:nvPr/>
          </p:nvSpPr>
          <p:spPr>
            <a:xfrm>
              <a:off x="8387007" y="6577518"/>
              <a:ext cx="3701763" cy="248145"/>
            </a:xfrm>
            <a:prstGeom prst="rect">
              <a:avLst/>
            </a:prstGeom>
            <a:noFill/>
          </p:spPr>
          <p:txBody>
            <a:bodyPr wrap="square" lIns="0" tIns="0" rIns="0" bIns="0" rtlCol="0" anchor="t">
              <a:spAutoFit/>
            </a:bodyPr>
            <a:lstStyle/>
            <a:p>
              <a:pPr algn="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QUANTITATIVE METHODS</a:t>
              </a:r>
            </a:p>
          </p:txBody>
        </p:sp>
      </p:grpSp>
    </p:spTree>
    <p:extLst>
      <p:ext uri="{BB962C8B-B14F-4D97-AF65-F5344CB8AC3E}">
        <p14:creationId xmlns:p14="http://schemas.microsoft.com/office/powerpoint/2010/main" val="1576918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2" grpId="0"/>
      <p:bldP spid="13" grpId="0"/>
      <p:bldP spid="1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C8422-53EA-EA43-7530-E3E01D0F6847}"/>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2D7AB166-204D-B309-EC8D-2989E4AC4153}"/>
              </a:ext>
            </a:extLst>
          </p:cNvPr>
          <p:cNvSpPr/>
          <p:nvPr/>
        </p:nvSpPr>
        <p:spPr>
          <a:xfrm>
            <a:off x="0" y="0"/>
            <a:ext cx="12192000" cy="548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sz="3000" b="1" dirty="0">
              <a:solidFill>
                <a:schemeClr val="tx1"/>
              </a:solidFill>
              <a:latin typeface="Times New Roman" panose="02020603050405020304" pitchFamily="18" charset="0"/>
              <a:cs typeface="Times New Roman" panose="02020603050405020304" pitchFamily="18" charset="0"/>
            </a:endParaRPr>
          </a:p>
        </p:txBody>
      </p:sp>
      <p:sp>
        <p:nvSpPr>
          <p:cNvPr id="2" name="Content Placeholder 2">
            <a:extLst>
              <a:ext uri="{FF2B5EF4-FFF2-40B4-BE49-F238E27FC236}">
                <a16:creationId xmlns:a16="http://schemas.microsoft.com/office/drawing/2014/main" id="{F1801CC6-3899-4358-19D4-4318C982A06A}"/>
              </a:ext>
            </a:extLst>
          </p:cNvPr>
          <p:cNvSpPr txBox="1">
            <a:spLocks/>
          </p:cNvSpPr>
          <p:nvPr/>
        </p:nvSpPr>
        <p:spPr>
          <a:xfrm>
            <a:off x="0" y="0"/>
            <a:ext cx="12191998" cy="548641"/>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PH" sz="3000" b="1" dirty="0">
                <a:solidFill>
                  <a:schemeClr val="bg1"/>
                </a:solidFill>
                <a:latin typeface="Times New Roman" panose="02020603050405020304" pitchFamily="18" charset="0"/>
                <a:cs typeface="Times New Roman" panose="02020603050405020304" pitchFamily="18" charset="0"/>
              </a:rPr>
              <a:t>INDIVIDUALS AND VARIABLES</a:t>
            </a:r>
            <a:endParaRPr lang="en-PH" sz="3000" b="1" dirty="0">
              <a:solidFill>
                <a:schemeClr val="bg1"/>
              </a:solidFill>
              <a:latin typeface="Courier New" panose="02070309020205020404" pitchFamily="49" charset="0"/>
              <a:cs typeface="Courier New" panose="02070309020205020404" pitchFamily="49" charset="0"/>
            </a:endParaRPr>
          </a:p>
        </p:txBody>
      </p:sp>
      <p:sp>
        <p:nvSpPr>
          <p:cNvPr id="3" name="Subtitle 2">
            <a:extLst>
              <a:ext uri="{FF2B5EF4-FFF2-40B4-BE49-F238E27FC236}">
                <a16:creationId xmlns:a16="http://schemas.microsoft.com/office/drawing/2014/main" id="{F990F0E6-1DF0-411B-B3E3-64D7DFEF6DEB}"/>
              </a:ext>
            </a:extLst>
          </p:cNvPr>
          <p:cNvSpPr txBox="1">
            <a:spLocks/>
          </p:cNvSpPr>
          <p:nvPr/>
        </p:nvSpPr>
        <p:spPr>
          <a:xfrm>
            <a:off x="0" y="743476"/>
            <a:ext cx="12191997" cy="42810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latin typeface="Times New Roman" panose="02020603050405020304" pitchFamily="18" charset="0"/>
                <a:cs typeface="Times New Roman" panose="02020603050405020304" pitchFamily="18" charset="0"/>
              </a:rPr>
              <a:t>Here’s an example of a </a:t>
            </a:r>
            <a:r>
              <a:rPr lang="en-US" b="1" dirty="0">
                <a:latin typeface="Times New Roman" panose="02020603050405020304" pitchFamily="18" charset="0"/>
                <a:cs typeface="Times New Roman" panose="02020603050405020304" pitchFamily="18" charset="0"/>
              </a:rPr>
              <a:t>data table </a:t>
            </a:r>
            <a:r>
              <a:rPr lang="en-US" dirty="0">
                <a:latin typeface="Times New Roman" panose="02020603050405020304" pitchFamily="18" charset="0"/>
                <a:cs typeface="Times New Roman" panose="02020603050405020304" pitchFamily="18" charset="0"/>
              </a:rPr>
              <a:t>about ice cream</a:t>
            </a:r>
          </a:p>
        </p:txBody>
      </p:sp>
      <p:graphicFrame>
        <p:nvGraphicFramePr>
          <p:cNvPr id="4" name="Table 3">
            <a:extLst>
              <a:ext uri="{FF2B5EF4-FFF2-40B4-BE49-F238E27FC236}">
                <a16:creationId xmlns:a16="http://schemas.microsoft.com/office/drawing/2014/main" id="{2915A085-AFB2-E9BC-AF00-7B00CC35EA9A}"/>
              </a:ext>
            </a:extLst>
          </p:cNvPr>
          <p:cNvGraphicFramePr>
            <a:graphicFrameLocks noGrp="1"/>
          </p:cNvGraphicFramePr>
          <p:nvPr>
            <p:extLst>
              <p:ext uri="{D42A27DB-BD31-4B8C-83A1-F6EECF244321}">
                <p14:modId xmlns:p14="http://schemas.microsoft.com/office/powerpoint/2010/main" val="2651513847"/>
              </p:ext>
            </p:extLst>
          </p:nvPr>
        </p:nvGraphicFramePr>
        <p:xfrm>
          <a:off x="314322" y="1343663"/>
          <a:ext cx="11563352" cy="3200400"/>
        </p:xfrm>
        <a:graphic>
          <a:graphicData uri="http://schemas.openxmlformats.org/drawingml/2006/table">
            <a:tbl>
              <a:tblPr firstRow="1" bandRow="1">
                <a:tableStyleId>{073A0DAA-6AF3-43AB-8588-CEC1D06C72B9}</a:tableStyleId>
              </a:tblPr>
              <a:tblGrid>
                <a:gridCol w="2890838">
                  <a:extLst>
                    <a:ext uri="{9D8B030D-6E8A-4147-A177-3AD203B41FA5}">
                      <a16:colId xmlns:a16="http://schemas.microsoft.com/office/drawing/2014/main" val="3818305833"/>
                    </a:ext>
                  </a:extLst>
                </a:gridCol>
                <a:gridCol w="2890838">
                  <a:extLst>
                    <a:ext uri="{9D8B030D-6E8A-4147-A177-3AD203B41FA5}">
                      <a16:colId xmlns:a16="http://schemas.microsoft.com/office/drawing/2014/main" val="3634389892"/>
                    </a:ext>
                  </a:extLst>
                </a:gridCol>
                <a:gridCol w="2890838">
                  <a:extLst>
                    <a:ext uri="{9D8B030D-6E8A-4147-A177-3AD203B41FA5}">
                      <a16:colId xmlns:a16="http://schemas.microsoft.com/office/drawing/2014/main" val="233864074"/>
                    </a:ext>
                  </a:extLst>
                </a:gridCol>
                <a:gridCol w="2890838">
                  <a:extLst>
                    <a:ext uri="{9D8B030D-6E8A-4147-A177-3AD203B41FA5}">
                      <a16:colId xmlns:a16="http://schemas.microsoft.com/office/drawing/2014/main" val="1502901341"/>
                    </a:ext>
                  </a:extLst>
                </a:gridCol>
              </a:tblGrid>
              <a:tr h="370840">
                <a:tc>
                  <a:txBody>
                    <a:bodyPr/>
                    <a:lstStyle/>
                    <a:p>
                      <a:pPr algn="ctr"/>
                      <a:r>
                        <a:rPr lang="en-US" sz="2400" dirty="0">
                          <a:latin typeface="Times New Roman" panose="02020603050405020304" pitchFamily="18" charset="0"/>
                          <a:cs typeface="Times New Roman" panose="02020603050405020304" pitchFamily="18" charset="0"/>
                        </a:rPr>
                        <a:t>Flavor</a:t>
                      </a:r>
                    </a:p>
                  </a:txBody>
                  <a:tcPr anchor="ctr"/>
                </a:tc>
                <a:tc>
                  <a:txBody>
                    <a:bodyPr/>
                    <a:lstStyle/>
                    <a:p>
                      <a:pPr algn="ctr"/>
                      <a:r>
                        <a:rPr lang="en-US" sz="2400" dirty="0">
                          <a:latin typeface="Times New Roman" panose="02020603050405020304" pitchFamily="18" charset="0"/>
                          <a:cs typeface="Times New Roman" panose="02020603050405020304" pitchFamily="18" charset="0"/>
                        </a:rPr>
                        <a:t>Scoops Sold</a:t>
                      </a:r>
                    </a:p>
                  </a:txBody>
                  <a:tcPr anchor="ctr"/>
                </a:tc>
                <a:tc>
                  <a:txBody>
                    <a:bodyPr/>
                    <a:lstStyle/>
                    <a:p>
                      <a:pPr algn="ctr"/>
                      <a:r>
                        <a:rPr lang="en-US" sz="2400" dirty="0">
                          <a:latin typeface="Times New Roman" panose="02020603050405020304" pitchFamily="18" charset="0"/>
                          <a:cs typeface="Times New Roman" panose="02020603050405020304" pitchFamily="18" charset="0"/>
                        </a:rPr>
                        <a:t>Contains chocolate?</a:t>
                      </a:r>
                    </a:p>
                  </a:txBody>
                  <a:tcPr anchor="ctr"/>
                </a:tc>
                <a:tc>
                  <a:txBody>
                    <a:bodyPr/>
                    <a:lstStyle/>
                    <a:p>
                      <a:pPr algn="ctr"/>
                      <a:r>
                        <a:rPr lang="en-US" sz="2400" dirty="0">
                          <a:latin typeface="Times New Roman" panose="02020603050405020304" pitchFamily="18" charset="0"/>
                          <a:cs typeface="Times New Roman" panose="02020603050405020304" pitchFamily="18" charset="0"/>
                        </a:rPr>
                        <a:t>Smooth or chunky?</a:t>
                      </a:r>
                    </a:p>
                  </a:txBody>
                  <a:tcPr anchor="ctr"/>
                </a:tc>
                <a:extLst>
                  <a:ext uri="{0D108BD9-81ED-4DB2-BD59-A6C34878D82A}">
                    <a16:rowId xmlns:a16="http://schemas.microsoft.com/office/drawing/2014/main" val="3823267908"/>
                  </a:ext>
                </a:extLst>
              </a:tr>
              <a:tr h="370840">
                <a:tc>
                  <a:txBody>
                    <a:bodyPr/>
                    <a:lstStyle/>
                    <a:p>
                      <a:pPr algn="ctr"/>
                      <a:r>
                        <a:rPr lang="en-US" sz="2400" dirty="0">
                          <a:latin typeface="Times New Roman" panose="02020603050405020304" pitchFamily="18" charset="0"/>
                          <a:cs typeface="Times New Roman" panose="02020603050405020304" pitchFamily="18" charset="0"/>
                        </a:rPr>
                        <a:t>Vanilla</a:t>
                      </a:r>
                    </a:p>
                  </a:txBody>
                  <a:tcPr anchor="ctr"/>
                </a:tc>
                <a:tc>
                  <a:txBody>
                    <a:bodyPr/>
                    <a:lstStyle/>
                    <a:p>
                      <a:pPr algn="ctr"/>
                      <a:r>
                        <a:rPr lang="en-US" sz="2400" dirty="0">
                          <a:latin typeface="Times New Roman" panose="02020603050405020304" pitchFamily="18" charset="0"/>
                          <a:cs typeface="Times New Roman" panose="02020603050405020304" pitchFamily="18" charset="0"/>
                        </a:rPr>
                        <a:t>300</a:t>
                      </a:r>
                    </a:p>
                  </a:txBody>
                  <a:tcPr anchor="ctr"/>
                </a:tc>
                <a:tc>
                  <a:txBody>
                    <a:bodyPr/>
                    <a:lstStyle/>
                    <a:p>
                      <a:pPr algn="ctr"/>
                      <a:r>
                        <a:rPr lang="en-US" sz="2400" dirty="0">
                          <a:latin typeface="Times New Roman" panose="02020603050405020304" pitchFamily="18" charset="0"/>
                          <a:cs typeface="Times New Roman" panose="02020603050405020304" pitchFamily="18" charset="0"/>
                        </a:rPr>
                        <a:t>No</a:t>
                      </a:r>
                    </a:p>
                  </a:txBody>
                  <a:tcPr anchor="ctr"/>
                </a:tc>
                <a:tc>
                  <a:txBody>
                    <a:bodyPr/>
                    <a:lstStyle/>
                    <a:p>
                      <a:pPr algn="ctr"/>
                      <a:r>
                        <a:rPr lang="en-US" sz="2400" dirty="0">
                          <a:latin typeface="Times New Roman" panose="02020603050405020304" pitchFamily="18" charset="0"/>
                          <a:cs typeface="Times New Roman" panose="02020603050405020304" pitchFamily="18" charset="0"/>
                        </a:rPr>
                        <a:t>Smooth</a:t>
                      </a:r>
                    </a:p>
                  </a:txBody>
                  <a:tcPr anchor="ctr"/>
                </a:tc>
                <a:extLst>
                  <a:ext uri="{0D108BD9-81ED-4DB2-BD59-A6C34878D82A}">
                    <a16:rowId xmlns:a16="http://schemas.microsoft.com/office/drawing/2014/main" val="2425763194"/>
                  </a:ext>
                </a:extLst>
              </a:tr>
              <a:tr h="370840">
                <a:tc>
                  <a:txBody>
                    <a:bodyPr/>
                    <a:lstStyle/>
                    <a:p>
                      <a:pPr algn="ctr"/>
                      <a:r>
                        <a:rPr lang="en-US" sz="2400" dirty="0">
                          <a:latin typeface="Times New Roman" panose="02020603050405020304" pitchFamily="18" charset="0"/>
                          <a:cs typeface="Times New Roman" panose="02020603050405020304" pitchFamily="18" charset="0"/>
                        </a:rPr>
                        <a:t>Chocolate</a:t>
                      </a:r>
                    </a:p>
                  </a:txBody>
                  <a:tcPr anchor="ctr"/>
                </a:tc>
                <a:tc>
                  <a:txBody>
                    <a:bodyPr/>
                    <a:lstStyle/>
                    <a:p>
                      <a:pPr algn="ctr"/>
                      <a:r>
                        <a:rPr lang="en-US" sz="2400" dirty="0">
                          <a:latin typeface="Times New Roman" panose="02020603050405020304" pitchFamily="18" charset="0"/>
                          <a:cs typeface="Times New Roman" panose="02020603050405020304" pitchFamily="18" charset="0"/>
                        </a:rPr>
                        <a:t>450</a:t>
                      </a:r>
                    </a:p>
                  </a:txBody>
                  <a:tcPr anchor="ctr"/>
                </a:tc>
                <a:tc>
                  <a:txBody>
                    <a:bodyPr/>
                    <a:lstStyle/>
                    <a:p>
                      <a:pPr algn="ctr"/>
                      <a:r>
                        <a:rPr lang="en-US" sz="2400" dirty="0">
                          <a:latin typeface="Times New Roman" panose="02020603050405020304" pitchFamily="18" charset="0"/>
                          <a:cs typeface="Times New Roman" panose="02020603050405020304" pitchFamily="18" charset="0"/>
                        </a:rPr>
                        <a:t>Yes</a:t>
                      </a:r>
                    </a:p>
                  </a:txBody>
                  <a:tcPr anchor="ctr"/>
                </a:tc>
                <a:tc>
                  <a:txBody>
                    <a:bodyPr/>
                    <a:lstStyle/>
                    <a:p>
                      <a:pPr algn="ctr"/>
                      <a:r>
                        <a:rPr lang="en-US" sz="2400" dirty="0">
                          <a:latin typeface="Times New Roman" panose="02020603050405020304" pitchFamily="18" charset="0"/>
                          <a:cs typeface="Times New Roman" panose="02020603050405020304" pitchFamily="18" charset="0"/>
                        </a:rPr>
                        <a:t>Smooth</a:t>
                      </a:r>
                    </a:p>
                  </a:txBody>
                  <a:tcPr anchor="ctr"/>
                </a:tc>
                <a:extLst>
                  <a:ext uri="{0D108BD9-81ED-4DB2-BD59-A6C34878D82A}">
                    <a16:rowId xmlns:a16="http://schemas.microsoft.com/office/drawing/2014/main" val="191939910"/>
                  </a:ext>
                </a:extLst>
              </a:tr>
              <a:tr h="370840">
                <a:tc>
                  <a:txBody>
                    <a:bodyPr/>
                    <a:lstStyle/>
                    <a:p>
                      <a:pPr algn="ctr"/>
                      <a:r>
                        <a:rPr lang="en-US" sz="2400" dirty="0">
                          <a:latin typeface="Times New Roman" panose="02020603050405020304" pitchFamily="18" charset="0"/>
                          <a:cs typeface="Times New Roman" panose="02020603050405020304" pitchFamily="18" charset="0"/>
                        </a:rPr>
                        <a:t>Cookies &amp; Cream</a:t>
                      </a:r>
                    </a:p>
                  </a:txBody>
                  <a:tcPr anchor="ctr"/>
                </a:tc>
                <a:tc>
                  <a:txBody>
                    <a:bodyPr/>
                    <a:lstStyle/>
                    <a:p>
                      <a:pPr algn="ctr"/>
                      <a:r>
                        <a:rPr lang="en-US" sz="2400" dirty="0">
                          <a:latin typeface="Times New Roman" panose="02020603050405020304" pitchFamily="18" charset="0"/>
                          <a:cs typeface="Times New Roman" panose="02020603050405020304" pitchFamily="18" charset="0"/>
                        </a:rPr>
                        <a:t>275</a:t>
                      </a:r>
                    </a:p>
                  </a:txBody>
                  <a:tcPr anchor="ctr"/>
                </a:tc>
                <a:tc>
                  <a:txBody>
                    <a:bodyPr/>
                    <a:lstStyle/>
                    <a:p>
                      <a:pPr algn="ctr"/>
                      <a:r>
                        <a:rPr lang="en-US" sz="2400" dirty="0">
                          <a:latin typeface="Times New Roman" panose="02020603050405020304" pitchFamily="18" charset="0"/>
                          <a:cs typeface="Times New Roman" panose="02020603050405020304" pitchFamily="18" charset="0"/>
                        </a:rPr>
                        <a:t>Yes</a:t>
                      </a:r>
                    </a:p>
                  </a:txBody>
                  <a:tcPr anchor="ctr"/>
                </a:tc>
                <a:tc>
                  <a:txBody>
                    <a:bodyPr/>
                    <a:lstStyle/>
                    <a:p>
                      <a:pPr algn="ctr"/>
                      <a:r>
                        <a:rPr lang="en-US" sz="2400" dirty="0">
                          <a:latin typeface="Times New Roman" panose="02020603050405020304" pitchFamily="18" charset="0"/>
                          <a:cs typeface="Times New Roman" panose="02020603050405020304" pitchFamily="18" charset="0"/>
                        </a:rPr>
                        <a:t>Chunky</a:t>
                      </a:r>
                    </a:p>
                  </a:txBody>
                  <a:tcPr anchor="ctr"/>
                </a:tc>
                <a:extLst>
                  <a:ext uri="{0D108BD9-81ED-4DB2-BD59-A6C34878D82A}">
                    <a16:rowId xmlns:a16="http://schemas.microsoft.com/office/drawing/2014/main" val="358675720"/>
                  </a:ext>
                </a:extLst>
              </a:tr>
              <a:tr h="370840">
                <a:tc>
                  <a:txBody>
                    <a:bodyPr/>
                    <a:lstStyle/>
                    <a:p>
                      <a:pPr algn="ctr"/>
                      <a:r>
                        <a:rPr lang="en-US" sz="2400" dirty="0">
                          <a:latin typeface="Times New Roman" panose="02020603050405020304" pitchFamily="18" charset="0"/>
                          <a:cs typeface="Times New Roman" panose="02020603050405020304" pitchFamily="18" charset="0"/>
                        </a:rPr>
                        <a:t>Mint Chocolate Chip</a:t>
                      </a:r>
                    </a:p>
                  </a:txBody>
                  <a:tcPr anchor="ctr"/>
                </a:tc>
                <a:tc>
                  <a:txBody>
                    <a:bodyPr/>
                    <a:lstStyle/>
                    <a:p>
                      <a:pPr algn="ctr"/>
                      <a:r>
                        <a:rPr lang="en-US" sz="2400" dirty="0">
                          <a:latin typeface="Times New Roman" panose="02020603050405020304" pitchFamily="18" charset="0"/>
                          <a:cs typeface="Times New Roman" panose="02020603050405020304" pitchFamily="18" charset="0"/>
                        </a:rPr>
                        <a:t>315</a:t>
                      </a:r>
                    </a:p>
                  </a:txBody>
                  <a:tcPr anchor="ctr"/>
                </a:tc>
                <a:tc>
                  <a:txBody>
                    <a:bodyPr/>
                    <a:lstStyle/>
                    <a:p>
                      <a:pPr algn="ctr"/>
                      <a:r>
                        <a:rPr lang="en-US" sz="2400" dirty="0">
                          <a:latin typeface="Times New Roman" panose="02020603050405020304" pitchFamily="18" charset="0"/>
                          <a:cs typeface="Times New Roman" panose="02020603050405020304" pitchFamily="18" charset="0"/>
                        </a:rPr>
                        <a:t>Yes</a:t>
                      </a:r>
                    </a:p>
                  </a:txBody>
                  <a:tcPr anchor="ctr"/>
                </a:tc>
                <a:tc>
                  <a:txBody>
                    <a:bodyPr/>
                    <a:lstStyle/>
                    <a:p>
                      <a:pPr algn="ctr"/>
                      <a:r>
                        <a:rPr lang="en-US" sz="2400" dirty="0">
                          <a:latin typeface="Times New Roman" panose="02020603050405020304" pitchFamily="18" charset="0"/>
                          <a:cs typeface="Times New Roman" panose="02020603050405020304" pitchFamily="18" charset="0"/>
                        </a:rPr>
                        <a:t>Chunky</a:t>
                      </a:r>
                    </a:p>
                  </a:txBody>
                  <a:tcPr anchor="ctr"/>
                </a:tc>
                <a:extLst>
                  <a:ext uri="{0D108BD9-81ED-4DB2-BD59-A6C34878D82A}">
                    <a16:rowId xmlns:a16="http://schemas.microsoft.com/office/drawing/2014/main" val="975237138"/>
                  </a:ext>
                </a:extLst>
              </a:tr>
              <a:tr h="370840">
                <a:tc>
                  <a:txBody>
                    <a:bodyPr/>
                    <a:lstStyle/>
                    <a:p>
                      <a:pPr algn="ctr"/>
                      <a:r>
                        <a:rPr lang="en-US" sz="2400" dirty="0">
                          <a:latin typeface="Times New Roman" panose="02020603050405020304" pitchFamily="18" charset="0"/>
                          <a:cs typeface="Times New Roman" panose="02020603050405020304" pitchFamily="18" charset="0"/>
                        </a:rPr>
                        <a:t>Fudge Brownie</a:t>
                      </a:r>
                    </a:p>
                  </a:txBody>
                  <a:tcPr anchor="ctr"/>
                </a:tc>
                <a:tc>
                  <a:txBody>
                    <a:bodyPr/>
                    <a:lstStyle/>
                    <a:p>
                      <a:pPr algn="ctr"/>
                      <a:r>
                        <a:rPr lang="en-US" sz="2400" dirty="0">
                          <a:latin typeface="Times New Roman" panose="02020603050405020304" pitchFamily="18" charset="0"/>
                          <a:cs typeface="Times New Roman" panose="02020603050405020304" pitchFamily="18" charset="0"/>
                        </a:rPr>
                        <a:t>375</a:t>
                      </a:r>
                    </a:p>
                  </a:txBody>
                  <a:tcPr anchor="ctr"/>
                </a:tc>
                <a:tc>
                  <a:txBody>
                    <a:bodyPr/>
                    <a:lstStyle/>
                    <a:p>
                      <a:pPr algn="ctr"/>
                      <a:r>
                        <a:rPr lang="en-US" sz="2400" dirty="0">
                          <a:latin typeface="Times New Roman" panose="02020603050405020304" pitchFamily="18" charset="0"/>
                          <a:cs typeface="Times New Roman" panose="02020603050405020304" pitchFamily="18" charset="0"/>
                        </a:rPr>
                        <a:t>Yes</a:t>
                      </a:r>
                    </a:p>
                  </a:txBody>
                  <a:tcPr anchor="ctr"/>
                </a:tc>
                <a:tc>
                  <a:txBody>
                    <a:bodyPr/>
                    <a:lstStyle/>
                    <a:p>
                      <a:pPr algn="ctr"/>
                      <a:r>
                        <a:rPr lang="en-US" sz="2400" dirty="0">
                          <a:latin typeface="Times New Roman" panose="02020603050405020304" pitchFamily="18" charset="0"/>
                          <a:cs typeface="Times New Roman" panose="02020603050405020304" pitchFamily="18" charset="0"/>
                        </a:rPr>
                        <a:t>Chunky</a:t>
                      </a:r>
                    </a:p>
                  </a:txBody>
                  <a:tcPr anchor="ctr"/>
                </a:tc>
                <a:extLst>
                  <a:ext uri="{0D108BD9-81ED-4DB2-BD59-A6C34878D82A}">
                    <a16:rowId xmlns:a16="http://schemas.microsoft.com/office/drawing/2014/main" val="235726143"/>
                  </a:ext>
                </a:extLst>
              </a:tr>
              <a:tr h="370840">
                <a:tc>
                  <a:txBody>
                    <a:bodyPr/>
                    <a:lstStyle/>
                    <a:p>
                      <a:pPr algn="ctr"/>
                      <a:r>
                        <a:rPr lang="en-US" sz="2400" dirty="0">
                          <a:latin typeface="Times New Roman" panose="02020603050405020304" pitchFamily="18" charset="0"/>
                          <a:cs typeface="Times New Roman" panose="02020603050405020304" pitchFamily="18" charset="0"/>
                        </a:rPr>
                        <a:t>Rocky Road</a:t>
                      </a:r>
                    </a:p>
                  </a:txBody>
                  <a:tcPr anchor="ctr"/>
                </a:tc>
                <a:tc>
                  <a:txBody>
                    <a:bodyPr/>
                    <a:lstStyle/>
                    <a:p>
                      <a:pPr algn="ctr"/>
                      <a:r>
                        <a:rPr lang="en-US" sz="2400" dirty="0">
                          <a:latin typeface="Times New Roman" panose="02020603050405020304" pitchFamily="18" charset="0"/>
                          <a:cs typeface="Times New Roman" panose="02020603050405020304" pitchFamily="18" charset="0"/>
                        </a:rPr>
                        <a:t>250</a:t>
                      </a:r>
                    </a:p>
                  </a:txBody>
                  <a:tcPr anchor="ctr"/>
                </a:tc>
                <a:tc>
                  <a:txBody>
                    <a:bodyPr/>
                    <a:lstStyle/>
                    <a:p>
                      <a:pPr algn="ctr"/>
                      <a:r>
                        <a:rPr lang="en-US" sz="2400" dirty="0">
                          <a:latin typeface="Times New Roman" panose="02020603050405020304" pitchFamily="18" charset="0"/>
                          <a:cs typeface="Times New Roman" panose="02020603050405020304" pitchFamily="18" charset="0"/>
                        </a:rPr>
                        <a:t>Yes</a:t>
                      </a:r>
                    </a:p>
                  </a:txBody>
                  <a:tcPr anchor="ctr"/>
                </a:tc>
                <a:tc>
                  <a:txBody>
                    <a:bodyPr/>
                    <a:lstStyle/>
                    <a:p>
                      <a:pPr algn="ctr"/>
                      <a:r>
                        <a:rPr lang="en-US" sz="2400" dirty="0">
                          <a:latin typeface="Times New Roman" panose="02020603050405020304" pitchFamily="18" charset="0"/>
                          <a:cs typeface="Times New Roman" panose="02020603050405020304" pitchFamily="18" charset="0"/>
                        </a:rPr>
                        <a:t>Chunky</a:t>
                      </a:r>
                    </a:p>
                  </a:txBody>
                  <a:tcPr anchor="ctr"/>
                </a:tc>
                <a:extLst>
                  <a:ext uri="{0D108BD9-81ED-4DB2-BD59-A6C34878D82A}">
                    <a16:rowId xmlns:a16="http://schemas.microsoft.com/office/drawing/2014/main" val="1202925266"/>
                  </a:ext>
                </a:extLst>
              </a:tr>
            </a:tbl>
          </a:graphicData>
        </a:graphic>
      </p:graphicFrame>
      <p:sp>
        <p:nvSpPr>
          <p:cNvPr id="5" name="Rectangle 4">
            <a:extLst>
              <a:ext uri="{FF2B5EF4-FFF2-40B4-BE49-F238E27FC236}">
                <a16:creationId xmlns:a16="http://schemas.microsoft.com/office/drawing/2014/main" id="{52573D23-0434-49E0-89C6-845F8C3886D0}"/>
              </a:ext>
            </a:extLst>
          </p:cNvPr>
          <p:cNvSpPr/>
          <p:nvPr/>
        </p:nvSpPr>
        <p:spPr>
          <a:xfrm>
            <a:off x="314323" y="1343663"/>
            <a:ext cx="2892230" cy="321945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2" name="Rectangle 11">
            <a:extLst>
              <a:ext uri="{FF2B5EF4-FFF2-40B4-BE49-F238E27FC236}">
                <a16:creationId xmlns:a16="http://schemas.microsoft.com/office/drawing/2014/main" id="{DE1F5ECB-0C0B-45E9-9AB5-66B2E2E8F1AC}"/>
              </a:ext>
            </a:extLst>
          </p:cNvPr>
          <p:cNvSpPr/>
          <p:nvPr/>
        </p:nvSpPr>
        <p:spPr>
          <a:xfrm>
            <a:off x="3276600" y="1334138"/>
            <a:ext cx="8601074" cy="3219450"/>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3" name="Subtitle 2">
            <a:extLst>
              <a:ext uri="{FF2B5EF4-FFF2-40B4-BE49-F238E27FC236}">
                <a16:creationId xmlns:a16="http://schemas.microsoft.com/office/drawing/2014/main" id="{8BB053DD-01FD-4B51-A2CC-AB47BE498803}"/>
              </a:ext>
            </a:extLst>
          </p:cNvPr>
          <p:cNvSpPr txBox="1">
            <a:spLocks/>
          </p:cNvSpPr>
          <p:nvPr/>
        </p:nvSpPr>
        <p:spPr>
          <a:xfrm>
            <a:off x="451756" y="5300287"/>
            <a:ext cx="2617362" cy="42810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latin typeface="Times New Roman" panose="02020603050405020304" pitchFamily="18" charset="0"/>
                <a:cs typeface="Times New Roman" panose="02020603050405020304" pitchFamily="18" charset="0"/>
              </a:rPr>
              <a:t>Individuals</a:t>
            </a:r>
          </a:p>
        </p:txBody>
      </p:sp>
      <p:cxnSp>
        <p:nvCxnSpPr>
          <p:cNvPr id="14" name="Straight Arrow Connector 13">
            <a:extLst>
              <a:ext uri="{FF2B5EF4-FFF2-40B4-BE49-F238E27FC236}">
                <a16:creationId xmlns:a16="http://schemas.microsoft.com/office/drawing/2014/main" id="{8FE5D65C-1B13-4033-AF74-6B8142E4621B}"/>
              </a:ext>
            </a:extLst>
          </p:cNvPr>
          <p:cNvCxnSpPr>
            <a:endCxn id="13" idx="0"/>
          </p:cNvCxnSpPr>
          <p:nvPr/>
        </p:nvCxnSpPr>
        <p:spPr>
          <a:xfrm>
            <a:off x="1760437" y="4563113"/>
            <a:ext cx="0" cy="73717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A6B6F56-D293-4F30-A6E7-ACF25E96B26E}"/>
              </a:ext>
            </a:extLst>
          </p:cNvPr>
          <p:cNvCxnSpPr>
            <a:cxnSpLocks/>
            <a:stCxn id="12" idx="2"/>
          </p:cNvCxnSpPr>
          <p:nvPr/>
        </p:nvCxnSpPr>
        <p:spPr>
          <a:xfrm>
            <a:off x="7577137" y="4553588"/>
            <a:ext cx="0" cy="746699"/>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27" name="Subtitle 2">
            <a:extLst>
              <a:ext uri="{FF2B5EF4-FFF2-40B4-BE49-F238E27FC236}">
                <a16:creationId xmlns:a16="http://schemas.microsoft.com/office/drawing/2014/main" id="{8E3D7B31-C6F0-4F27-BC3F-5CE5D421341A}"/>
              </a:ext>
            </a:extLst>
          </p:cNvPr>
          <p:cNvSpPr txBox="1">
            <a:spLocks/>
          </p:cNvSpPr>
          <p:nvPr/>
        </p:nvSpPr>
        <p:spPr>
          <a:xfrm>
            <a:off x="6887077" y="5404160"/>
            <a:ext cx="1499928" cy="42810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latin typeface="Times New Roman" panose="02020603050405020304" pitchFamily="18" charset="0"/>
                <a:cs typeface="Times New Roman" panose="02020603050405020304" pitchFamily="18" charset="0"/>
              </a:rPr>
              <a:t>Variables</a:t>
            </a:r>
          </a:p>
        </p:txBody>
      </p:sp>
      <p:grpSp>
        <p:nvGrpSpPr>
          <p:cNvPr id="6" name="Group 5">
            <a:extLst>
              <a:ext uri="{FF2B5EF4-FFF2-40B4-BE49-F238E27FC236}">
                <a16:creationId xmlns:a16="http://schemas.microsoft.com/office/drawing/2014/main" id="{765E04C6-6FC3-69FD-F998-B52B729AB91A}"/>
              </a:ext>
            </a:extLst>
          </p:cNvPr>
          <p:cNvGrpSpPr/>
          <p:nvPr/>
        </p:nvGrpSpPr>
        <p:grpSpPr>
          <a:xfrm>
            <a:off x="0" y="6544092"/>
            <a:ext cx="12192000" cy="313908"/>
            <a:chOff x="0" y="6544092"/>
            <a:chExt cx="12192000" cy="313908"/>
          </a:xfrm>
        </p:grpSpPr>
        <p:sp>
          <p:nvSpPr>
            <p:cNvPr id="7" name="Rectangle 6">
              <a:extLst>
                <a:ext uri="{FF2B5EF4-FFF2-40B4-BE49-F238E27FC236}">
                  <a16:creationId xmlns:a16="http://schemas.microsoft.com/office/drawing/2014/main" id="{4EDF0F1C-F811-A39B-F9D2-3940493674E2}"/>
                </a:ext>
              </a:extLst>
            </p:cNvPr>
            <p:cNvSpPr/>
            <p:nvPr/>
          </p:nvSpPr>
          <p:spPr>
            <a:xfrm>
              <a:off x="0" y="6544092"/>
              <a:ext cx="12192000" cy="31390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8" name="TextBox 10">
              <a:extLst>
                <a:ext uri="{FF2B5EF4-FFF2-40B4-BE49-F238E27FC236}">
                  <a16:creationId xmlns:a16="http://schemas.microsoft.com/office/drawing/2014/main" id="{CBEFE976-8BCC-BB4D-6962-F83D2FD7B38A}"/>
                </a:ext>
              </a:extLst>
            </p:cNvPr>
            <p:cNvSpPr txBox="1"/>
            <p:nvPr/>
          </p:nvSpPr>
          <p:spPr>
            <a:xfrm>
              <a:off x="109932" y="6577518"/>
              <a:ext cx="2794997" cy="247055"/>
            </a:xfrm>
            <a:prstGeom prst="rect">
              <a:avLst/>
            </a:prstGeom>
            <a:noFill/>
          </p:spPr>
          <p:txBody>
            <a:bodyPr lIns="0" tIns="0" rIns="0" bIns="0" rtlCol="0" anchor="ctr">
              <a:spAutoFit/>
            </a:bodyPr>
            <a:lstStyle/>
            <a:p>
              <a:pPr algn="just">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ENGR. VIOLDAN E. BAYOCOT</a:t>
              </a:r>
            </a:p>
          </p:txBody>
        </p:sp>
        <p:sp>
          <p:nvSpPr>
            <p:cNvPr id="9" name="TextBox 8">
              <a:extLst>
                <a:ext uri="{FF2B5EF4-FFF2-40B4-BE49-F238E27FC236}">
                  <a16:creationId xmlns:a16="http://schemas.microsoft.com/office/drawing/2014/main" id="{4263DE89-0299-9386-5A8A-C45F62DF1369}"/>
                </a:ext>
              </a:extLst>
            </p:cNvPr>
            <p:cNvSpPr txBox="1"/>
            <p:nvPr/>
          </p:nvSpPr>
          <p:spPr>
            <a:xfrm>
              <a:off x="3158929" y="6577518"/>
              <a:ext cx="5433668" cy="248145"/>
            </a:xfrm>
            <a:prstGeom prst="rect">
              <a:avLst/>
            </a:prstGeom>
            <a:noFill/>
          </p:spPr>
          <p:txBody>
            <a:bodyPr wrap="square" lIns="0" tIns="0" rIns="0" bIns="0" rtlCol="0" anchor="t">
              <a:spAutoFit/>
            </a:bodyPr>
            <a:lstStyle/>
            <a:p>
              <a:pPr algn="ct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[Krista K.] BECOME A PROBABILITY &amp; STATISTICS MASTER</a:t>
              </a:r>
            </a:p>
          </p:txBody>
        </p:sp>
        <p:sp>
          <p:nvSpPr>
            <p:cNvPr id="10" name="TextBox 9">
              <a:extLst>
                <a:ext uri="{FF2B5EF4-FFF2-40B4-BE49-F238E27FC236}">
                  <a16:creationId xmlns:a16="http://schemas.microsoft.com/office/drawing/2014/main" id="{944BD5AA-A495-FEBB-DDB4-378E57933E4B}"/>
                </a:ext>
              </a:extLst>
            </p:cNvPr>
            <p:cNvSpPr txBox="1"/>
            <p:nvPr/>
          </p:nvSpPr>
          <p:spPr>
            <a:xfrm>
              <a:off x="8387007" y="6577518"/>
              <a:ext cx="3701763" cy="248145"/>
            </a:xfrm>
            <a:prstGeom prst="rect">
              <a:avLst/>
            </a:prstGeom>
            <a:noFill/>
          </p:spPr>
          <p:txBody>
            <a:bodyPr wrap="square" lIns="0" tIns="0" rIns="0" bIns="0" rtlCol="0" anchor="t">
              <a:spAutoFit/>
            </a:bodyPr>
            <a:lstStyle/>
            <a:p>
              <a:pPr algn="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QUANTITATIVE METHODS</a:t>
              </a:r>
            </a:p>
          </p:txBody>
        </p:sp>
      </p:grpSp>
    </p:spTree>
    <p:extLst>
      <p:ext uri="{BB962C8B-B14F-4D97-AF65-F5344CB8AC3E}">
        <p14:creationId xmlns:p14="http://schemas.microsoft.com/office/powerpoint/2010/main" val="3463003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21" presetClass="entr" presetSubtype="1"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heel(1)">
                                      <p:cBhvr>
                                        <p:cTn id="16" dur="1250"/>
                                        <p:tgtEl>
                                          <p:spTgt spid="5"/>
                                        </p:tgtEl>
                                      </p:cBhvr>
                                    </p:animEffect>
                                  </p:childTnLst>
                                </p:cTn>
                              </p:par>
                            </p:childTnLst>
                          </p:cTn>
                        </p:par>
                        <p:par>
                          <p:cTn id="17" fill="hold">
                            <p:stCondLst>
                              <p:cond delay="1250"/>
                            </p:stCondLst>
                            <p:childTnLst>
                              <p:par>
                                <p:cTn id="18" presetID="22" presetClass="entr" presetSubtype="1" fill="hold" nodeType="after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wipe(up)">
                                      <p:cBhvr>
                                        <p:cTn id="20" dur="500"/>
                                        <p:tgtEl>
                                          <p:spTgt spid="14"/>
                                        </p:tgtEl>
                                      </p:cBhvr>
                                    </p:animEffect>
                                  </p:childTnLst>
                                </p:cTn>
                              </p:par>
                            </p:childTnLst>
                          </p:cTn>
                        </p:par>
                        <p:par>
                          <p:cTn id="21" fill="hold">
                            <p:stCondLst>
                              <p:cond delay="1750"/>
                            </p:stCondLst>
                            <p:childTnLst>
                              <p:par>
                                <p:cTn id="22" presetID="22" presetClass="entr" presetSubtype="1"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wipe(up)">
                                      <p:cBhvr>
                                        <p:cTn id="24" dur="50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21" presetClass="entr" presetSubtype="1"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wheel(1)">
                                      <p:cBhvr>
                                        <p:cTn id="29" dur="1250"/>
                                        <p:tgtEl>
                                          <p:spTgt spid="12"/>
                                        </p:tgtEl>
                                      </p:cBhvr>
                                    </p:animEffect>
                                  </p:childTnLst>
                                </p:cTn>
                              </p:par>
                            </p:childTnLst>
                          </p:cTn>
                        </p:par>
                        <p:par>
                          <p:cTn id="30" fill="hold">
                            <p:stCondLst>
                              <p:cond delay="1250"/>
                            </p:stCondLst>
                            <p:childTnLst>
                              <p:par>
                                <p:cTn id="31" presetID="22" presetClass="entr" presetSubtype="1" fill="hold" nodeType="after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wipe(up)">
                                      <p:cBhvr>
                                        <p:cTn id="33" dur="500"/>
                                        <p:tgtEl>
                                          <p:spTgt spid="17"/>
                                        </p:tgtEl>
                                      </p:cBhvr>
                                    </p:animEffect>
                                  </p:childTnLst>
                                </p:cTn>
                              </p:par>
                            </p:childTnLst>
                          </p:cTn>
                        </p:par>
                        <p:par>
                          <p:cTn id="34" fill="hold">
                            <p:stCondLst>
                              <p:cond delay="1750"/>
                            </p:stCondLst>
                            <p:childTnLst>
                              <p:par>
                                <p:cTn id="35" presetID="22" presetClass="entr" presetSubtype="1" fill="hold" grpId="0" nodeType="after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wipe(up)">
                                      <p:cBhvr>
                                        <p:cTn id="3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animBg="1"/>
      <p:bldP spid="12" grpId="0" animBg="1"/>
      <p:bldP spid="13"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C8422-53EA-EA43-7530-E3E01D0F6847}"/>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2D7AB166-204D-B309-EC8D-2989E4AC4153}"/>
              </a:ext>
            </a:extLst>
          </p:cNvPr>
          <p:cNvSpPr/>
          <p:nvPr/>
        </p:nvSpPr>
        <p:spPr>
          <a:xfrm>
            <a:off x="0" y="0"/>
            <a:ext cx="12192000" cy="548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sz="3000" b="1" dirty="0">
              <a:solidFill>
                <a:schemeClr val="tx1"/>
              </a:solidFill>
              <a:latin typeface="Times New Roman" panose="02020603050405020304" pitchFamily="18" charset="0"/>
              <a:cs typeface="Times New Roman" panose="02020603050405020304" pitchFamily="18" charset="0"/>
            </a:endParaRPr>
          </a:p>
        </p:txBody>
      </p:sp>
      <p:sp>
        <p:nvSpPr>
          <p:cNvPr id="2" name="Content Placeholder 2">
            <a:extLst>
              <a:ext uri="{FF2B5EF4-FFF2-40B4-BE49-F238E27FC236}">
                <a16:creationId xmlns:a16="http://schemas.microsoft.com/office/drawing/2014/main" id="{F1801CC6-3899-4358-19D4-4318C982A06A}"/>
              </a:ext>
            </a:extLst>
          </p:cNvPr>
          <p:cNvSpPr txBox="1">
            <a:spLocks/>
          </p:cNvSpPr>
          <p:nvPr/>
        </p:nvSpPr>
        <p:spPr>
          <a:xfrm>
            <a:off x="0" y="0"/>
            <a:ext cx="12191998" cy="548641"/>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PH" sz="3000" b="1" dirty="0">
                <a:solidFill>
                  <a:schemeClr val="bg1"/>
                </a:solidFill>
                <a:latin typeface="Times New Roman" panose="02020603050405020304" pitchFamily="18" charset="0"/>
                <a:cs typeface="Times New Roman" panose="02020603050405020304" pitchFamily="18" charset="0"/>
              </a:rPr>
              <a:t>INDIVIDUALS AND VARIABLES</a:t>
            </a:r>
            <a:endParaRPr lang="en-PH" sz="3000" b="1" dirty="0">
              <a:solidFill>
                <a:schemeClr val="bg1"/>
              </a:solidFill>
              <a:latin typeface="Courier New" panose="02070309020205020404" pitchFamily="49" charset="0"/>
              <a:cs typeface="Courier New" panose="02070309020205020404" pitchFamily="49" charset="0"/>
            </a:endParaRPr>
          </a:p>
        </p:txBody>
      </p:sp>
      <p:sp>
        <p:nvSpPr>
          <p:cNvPr id="27" name="Subtitle 2">
            <a:extLst>
              <a:ext uri="{FF2B5EF4-FFF2-40B4-BE49-F238E27FC236}">
                <a16:creationId xmlns:a16="http://schemas.microsoft.com/office/drawing/2014/main" id="{8E3D7B31-C6F0-4F27-BC3F-5CE5D421341A}"/>
              </a:ext>
            </a:extLst>
          </p:cNvPr>
          <p:cNvSpPr txBox="1">
            <a:spLocks/>
          </p:cNvSpPr>
          <p:nvPr/>
        </p:nvSpPr>
        <p:spPr>
          <a:xfrm>
            <a:off x="3198268" y="850915"/>
            <a:ext cx="1433011" cy="42810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latin typeface="Times New Roman" panose="02020603050405020304" pitchFamily="18" charset="0"/>
                <a:cs typeface="Times New Roman" panose="02020603050405020304" pitchFamily="18" charset="0"/>
              </a:rPr>
              <a:t>Variables</a:t>
            </a:r>
          </a:p>
        </p:txBody>
      </p:sp>
      <p:sp>
        <p:nvSpPr>
          <p:cNvPr id="18" name="Subtitle 2">
            <a:extLst>
              <a:ext uri="{FF2B5EF4-FFF2-40B4-BE49-F238E27FC236}">
                <a16:creationId xmlns:a16="http://schemas.microsoft.com/office/drawing/2014/main" id="{CFE3A8D0-3E19-42FB-9FAC-9B305DFF5C83}"/>
              </a:ext>
            </a:extLst>
          </p:cNvPr>
          <p:cNvSpPr txBox="1">
            <a:spLocks/>
          </p:cNvSpPr>
          <p:nvPr/>
        </p:nvSpPr>
        <p:spPr>
          <a:xfrm>
            <a:off x="4521986" y="850915"/>
            <a:ext cx="4471743" cy="42810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dirty="0">
                <a:latin typeface="Times New Roman" panose="02020603050405020304" pitchFamily="18" charset="0"/>
                <a:cs typeface="Times New Roman" panose="02020603050405020304" pitchFamily="18" charset="0"/>
              </a:rPr>
              <a:t>can be </a:t>
            </a:r>
            <a:r>
              <a:rPr lang="en-US" b="1" dirty="0">
                <a:latin typeface="Times New Roman" panose="02020603050405020304" pitchFamily="18" charset="0"/>
                <a:cs typeface="Times New Roman" panose="02020603050405020304" pitchFamily="18" charset="0"/>
              </a:rPr>
              <a:t>categorical</a:t>
            </a:r>
            <a:r>
              <a:rPr lang="en-US" dirty="0">
                <a:latin typeface="Times New Roman" panose="02020603050405020304" pitchFamily="18" charset="0"/>
                <a:cs typeface="Times New Roman" panose="02020603050405020304" pitchFamily="18" charset="0"/>
              </a:rPr>
              <a:t> or </a:t>
            </a:r>
            <a:r>
              <a:rPr lang="en-US" b="1" dirty="0">
                <a:latin typeface="Times New Roman" panose="02020603050405020304" pitchFamily="18" charset="0"/>
                <a:cs typeface="Times New Roman" panose="02020603050405020304" pitchFamily="18" charset="0"/>
              </a:rPr>
              <a:t>quantitative</a:t>
            </a:r>
          </a:p>
        </p:txBody>
      </p:sp>
      <p:cxnSp>
        <p:nvCxnSpPr>
          <p:cNvPr id="16" name="Straight Connector 15">
            <a:extLst>
              <a:ext uri="{FF2B5EF4-FFF2-40B4-BE49-F238E27FC236}">
                <a16:creationId xmlns:a16="http://schemas.microsoft.com/office/drawing/2014/main" id="{EA9C17FE-B932-497B-97A9-CA3A15DB52CC}"/>
              </a:ext>
            </a:extLst>
          </p:cNvPr>
          <p:cNvCxnSpPr>
            <a:cxnSpLocks/>
          </p:cNvCxnSpPr>
          <p:nvPr/>
        </p:nvCxnSpPr>
        <p:spPr>
          <a:xfrm>
            <a:off x="5491163" y="1259967"/>
            <a:ext cx="138826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5241C5B-9089-47D4-8B37-32414A1541FF}"/>
              </a:ext>
            </a:extLst>
          </p:cNvPr>
          <p:cNvCxnSpPr>
            <a:cxnSpLocks/>
          </p:cNvCxnSpPr>
          <p:nvPr/>
        </p:nvCxnSpPr>
        <p:spPr>
          <a:xfrm>
            <a:off x="7319963" y="1259967"/>
            <a:ext cx="1547812" cy="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sp>
        <p:nvSpPr>
          <p:cNvPr id="26" name="Subtitle 2">
            <a:extLst>
              <a:ext uri="{FF2B5EF4-FFF2-40B4-BE49-F238E27FC236}">
                <a16:creationId xmlns:a16="http://schemas.microsoft.com/office/drawing/2014/main" id="{9990EEB0-DAE4-4E95-B626-69EA4275902C}"/>
              </a:ext>
            </a:extLst>
          </p:cNvPr>
          <p:cNvSpPr txBox="1">
            <a:spLocks/>
          </p:cNvSpPr>
          <p:nvPr/>
        </p:nvSpPr>
        <p:spPr>
          <a:xfrm>
            <a:off x="299608" y="2324100"/>
            <a:ext cx="3680619" cy="42810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latin typeface="Times New Roman" panose="02020603050405020304" pitchFamily="18" charset="0"/>
                <a:cs typeface="Times New Roman" panose="02020603050405020304" pitchFamily="18" charset="0"/>
              </a:rPr>
              <a:t>Non-numerical variables</a:t>
            </a:r>
          </a:p>
        </p:txBody>
      </p:sp>
      <p:cxnSp>
        <p:nvCxnSpPr>
          <p:cNvPr id="28" name="Straight Arrow Connector 27">
            <a:extLst>
              <a:ext uri="{FF2B5EF4-FFF2-40B4-BE49-F238E27FC236}">
                <a16:creationId xmlns:a16="http://schemas.microsoft.com/office/drawing/2014/main" id="{31094886-1901-4B35-B366-268ACB948131}"/>
              </a:ext>
            </a:extLst>
          </p:cNvPr>
          <p:cNvCxnSpPr>
            <a:cxnSpLocks/>
            <a:endCxn id="26" idx="0"/>
          </p:cNvCxnSpPr>
          <p:nvPr/>
        </p:nvCxnSpPr>
        <p:spPr>
          <a:xfrm flipH="1">
            <a:off x="2139918" y="1259967"/>
            <a:ext cx="4010852" cy="106413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E9F14E80-0D6E-41B2-9693-7755437D394E}"/>
              </a:ext>
            </a:extLst>
          </p:cNvPr>
          <p:cNvCxnSpPr>
            <a:cxnSpLocks/>
            <a:endCxn id="30" idx="0"/>
          </p:cNvCxnSpPr>
          <p:nvPr/>
        </p:nvCxnSpPr>
        <p:spPr>
          <a:xfrm>
            <a:off x="8084597" y="1259967"/>
            <a:ext cx="0" cy="1064133"/>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30" name="Subtitle 2">
            <a:extLst>
              <a:ext uri="{FF2B5EF4-FFF2-40B4-BE49-F238E27FC236}">
                <a16:creationId xmlns:a16="http://schemas.microsoft.com/office/drawing/2014/main" id="{937EAF47-0FC0-4FAC-B0B8-E5037324F403}"/>
              </a:ext>
            </a:extLst>
          </p:cNvPr>
          <p:cNvSpPr txBox="1">
            <a:spLocks/>
          </p:cNvSpPr>
          <p:nvPr/>
        </p:nvSpPr>
        <p:spPr>
          <a:xfrm>
            <a:off x="6669131" y="2324100"/>
            <a:ext cx="2830932" cy="42810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latin typeface="Times New Roman" panose="02020603050405020304" pitchFamily="18" charset="0"/>
                <a:cs typeface="Times New Roman" panose="02020603050405020304" pitchFamily="18" charset="0"/>
              </a:rPr>
              <a:t>Numerical variables</a:t>
            </a:r>
          </a:p>
        </p:txBody>
      </p:sp>
      <p:sp>
        <p:nvSpPr>
          <p:cNvPr id="32" name="Subtitle 2">
            <a:extLst>
              <a:ext uri="{FF2B5EF4-FFF2-40B4-BE49-F238E27FC236}">
                <a16:creationId xmlns:a16="http://schemas.microsoft.com/office/drawing/2014/main" id="{B72AF7D6-BA63-4DEC-BA4E-738A2A955490}"/>
              </a:ext>
            </a:extLst>
          </p:cNvPr>
          <p:cNvSpPr txBox="1">
            <a:spLocks/>
          </p:cNvSpPr>
          <p:nvPr/>
        </p:nvSpPr>
        <p:spPr>
          <a:xfrm>
            <a:off x="565149" y="2752199"/>
            <a:ext cx="3070855" cy="123294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600" dirty="0">
                <a:latin typeface="Times New Roman" panose="02020603050405020304" pitchFamily="18" charset="0"/>
                <a:cs typeface="Times New Roman" panose="02020603050405020304" pitchFamily="18" charset="0"/>
              </a:rPr>
              <a:t>Also called </a:t>
            </a:r>
            <a:r>
              <a:rPr lang="en-US" sz="1600" b="1" i="1" dirty="0">
                <a:latin typeface="Times New Roman" panose="02020603050405020304" pitchFamily="18" charset="0"/>
                <a:cs typeface="Times New Roman" panose="02020603050405020304" pitchFamily="18" charset="0"/>
              </a:rPr>
              <a:t>qualitative</a:t>
            </a:r>
            <a:r>
              <a:rPr lang="en-US" sz="1600" dirty="0">
                <a:latin typeface="Times New Roman" panose="02020603050405020304" pitchFamily="18" charset="0"/>
                <a:cs typeface="Times New Roman" panose="02020603050405020304" pitchFamily="18" charset="0"/>
              </a:rPr>
              <a:t> variables</a:t>
            </a:r>
          </a:p>
          <a:p>
            <a:r>
              <a:rPr lang="en-US" sz="1600" dirty="0">
                <a:latin typeface="Times New Roman" panose="02020603050405020304" pitchFamily="18" charset="0"/>
                <a:cs typeface="Times New Roman" panose="02020603050405020304" pitchFamily="18" charset="0"/>
              </a:rPr>
              <a:t>Their values aren’t represented with numbers. This is because the values there are words, not numbers.</a:t>
            </a:r>
          </a:p>
          <a:p>
            <a:endParaRPr lang="en-US" sz="16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11600703-5AEA-4916-ED88-85C07E3DD8A1}"/>
              </a:ext>
            </a:extLst>
          </p:cNvPr>
          <p:cNvSpPr txBox="1">
            <a:spLocks/>
          </p:cNvSpPr>
          <p:nvPr/>
        </p:nvSpPr>
        <p:spPr>
          <a:xfrm>
            <a:off x="6669131" y="2752199"/>
            <a:ext cx="2889233" cy="1178355"/>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600" dirty="0">
                <a:latin typeface="Times New Roman" panose="02020603050405020304" pitchFamily="18" charset="0"/>
                <a:cs typeface="Times New Roman" panose="02020603050405020304" pitchFamily="18" charset="0"/>
              </a:rPr>
              <a:t>Their values are numbers. </a:t>
            </a:r>
          </a:p>
          <a:p>
            <a:r>
              <a:rPr lang="en-US" sz="1600" dirty="0">
                <a:latin typeface="Times New Roman" panose="02020603050405020304" pitchFamily="18" charset="0"/>
                <a:cs typeface="Times New Roman" panose="02020603050405020304" pitchFamily="18" charset="0"/>
              </a:rPr>
              <a:t>The </a:t>
            </a:r>
            <a:r>
              <a:rPr lang="en-US" sz="1600" i="1" dirty="0">
                <a:latin typeface="Times New Roman" panose="02020603050405020304" pitchFamily="18" charset="0"/>
                <a:cs typeface="Times New Roman" panose="02020603050405020304" pitchFamily="18" charset="0"/>
              </a:rPr>
              <a:t>height of the people </a:t>
            </a:r>
            <a:r>
              <a:rPr lang="en-US" sz="1600" dirty="0">
                <a:latin typeface="Times New Roman" panose="02020603050405020304" pitchFamily="18" charset="0"/>
                <a:cs typeface="Times New Roman" panose="02020603050405020304" pitchFamily="18" charset="0"/>
              </a:rPr>
              <a:t>and the </a:t>
            </a:r>
            <a:r>
              <a:rPr lang="en-US" sz="1600" i="1" dirty="0">
                <a:latin typeface="Times New Roman" panose="02020603050405020304" pitchFamily="18" charset="0"/>
                <a:cs typeface="Times New Roman" panose="02020603050405020304" pitchFamily="18" charset="0"/>
              </a:rPr>
              <a:t>number of scoops of ice cream sold </a:t>
            </a:r>
            <a:r>
              <a:rPr lang="en-US" sz="1600" dirty="0">
                <a:latin typeface="Times New Roman" panose="02020603050405020304" pitchFamily="18" charset="0"/>
                <a:cs typeface="Times New Roman" panose="02020603050405020304" pitchFamily="18" charset="0"/>
              </a:rPr>
              <a:t>are quantitative variables</a:t>
            </a:r>
          </a:p>
        </p:txBody>
      </p:sp>
      <p:cxnSp>
        <p:nvCxnSpPr>
          <p:cNvPr id="11" name="Straight Arrow Connector 10">
            <a:extLst>
              <a:ext uri="{FF2B5EF4-FFF2-40B4-BE49-F238E27FC236}">
                <a16:creationId xmlns:a16="http://schemas.microsoft.com/office/drawing/2014/main" id="{044AA61D-4075-CDAD-8A3C-338578D7C590}"/>
              </a:ext>
            </a:extLst>
          </p:cNvPr>
          <p:cNvCxnSpPr>
            <a:cxnSpLocks/>
            <a:stCxn id="3" idx="2"/>
            <a:endCxn id="17" idx="0"/>
          </p:cNvCxnSpPr>
          <p:nvPr/>
        </p:nvCxnSpPr>
        <p:spPr>
          <a:xfrm flipH="1">
            <a:off x="5395693" y="3930554"/>
            <a:ext cx="2718055" cy="373333"/>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17" name="Subtitle 2">
            <a:extLst>
              <a:ext uri="{FF2B5EF4-FFF2-40B4-BE49-F238E27FC236}">
                <a16:creationId xmlns:a16="http://schemas.microsoft.com/office/drawing/2014/main" id="{494A03D0-F5B0-4CA6-2B4F-5BBB0FF57877}"/>
              </a:ext>
            </a:extLst>
          </p:cNvPr>
          <p:cNvSpPr txBox="1">
            <a:spLocks/>
          </p:cNvSpPr>
          <p:nvPr/>
        </p:nvSpPr>
        <p:spPr>
          <a:xfrm>
            <a:off x="3980227" y="4303887"/>
            <a:ext cx="2830932" cy="42810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latin typeface="Times New Roman" panose="02020603050405020304" pitchFamily="18" charset="0"/>
                <a:cs typeface="Times New Roman" panose="02020603050405020304" pitchFamily="18" charset="0"/>
              </a:rPr>
              <a:t>Discrete variables</a:t>
            </a:r>
          </a:p>
        </p:txBody>
      </p:sp>
      <p:sp>
        <p:nvSpPr>
          <p:cNvPr id="19" name="Subtitle 2">
            <a:extLst>
              <a:ext uri="{FF2B5EF4-FFF2-40B4-BE49-F238E27FC236}">
                <a16:creationId xmlns:a16="http://schemas.microsoft.com/office/drawing/2014/main" id="{2233C033-51C6-93C3-C595-45B13D1AAE38}"/>
              </a:ext>
            </a:extLst>
          </p:cNvPr>
          <p:cNvSpPr txBox="1">
            <a:spLocks/>
          </p:cNvSpPr>
          <p:nvPr/>
        </p:nvSpPr>
        <p:spPr>
          <a:xfrm>
            <a:off x="3348300" y="4703110"/>
            <a:ext cx="4094786" cy="1676696"/>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600" dirty="0">
                <a:latin typeface="Times New Roman" panose="02020603050405020304" pitchFamily="18" charset="0"/>
                <a:cs typeface="Times New Roman" panose="02020603050405020304" pitchFamily="18" charset="0"/>
              </a:rPr>
              <a:t>are those that we can obtain by counting. Therefore, they can take on only certain numerical values</a:t>
            </a:r>
          </a:p>
          <a:p>
            <a:r>
              <a:rPr lang="en-US" sz="1600" dirty="0">
                <a:latin typeface="Times New Roman" panose="02020603050405020304" pitchFamily="18" charset="0"/>
                <a:cs typeface="Times New Roman" panose="02020603050405020304" pitchFamily="18" charset="0"/>
              </a:rPr>
              <a:t> The </a:t>
            </a:r>
            <a:r>
              <a:rPr lang="en-US" sz="1600" i="1" dirty="0">
                <a:latin typeface="Times New Roman" panose="02020603050405020304" pitchFamily="18" charset="0"/>
                <a:cs typeface="Times New Roman" panose="02020603050405020304" pitchFamily="18" charset="0"/>
              </a:rPr>
              <a:t>number of scoops of ice cream sold </a:t>
            </a:r>
            <a:r>
              <a:rPr lang="en-US" sz="1600" dirty="0">
                <a:latin typeface="Times New Roman" panose="02020603050405020304" pitchFamily="18" charset="0"/>
                <a:cs typeface="Times New Roman" panose="02020603050405020304" pitchFamily="18" charset="0"/>
              </a:rPr>
              <a:t>is a discrete quantitative variable, because we can’t really sell 8.3 or 5.23 scoops of ice cream. </a:t>
            </a:r>
          </a:p>
        </p:txBody>
      </p:sp>
      <p:sp>
        <p:nvSpPr>
          <p:cNvPr id="20" name="Subtitle 2">
            <a:extLst>
              <a:ext uri="{FF2B5EF4-FFF2-40B4-BE49-F238E27FC236}">
                <a16:creationId xmlns:a16="http://schemas.microsoft.com/office/drawing/2014/main" id="{A9149D58-FB23-DBFE-35E4-F5D5B96C7034}"/>
              </a:ext>
            </a:extLst>
          </p:cNvPr>
          <p:cNvSpPr txBox="1">
            <a:spLocks/>
          </p:cNvSpPr>
          <p:nvPr/>
        </p:nvSpPr>
        <p:spPr>
          <a:xfrm>
            <a:off x="8714553" y="4303887"/>
            <a:ext cx="2985073" cy="42810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latin typeface="Times New Roman" panose="02020603050405020304" pitchFamily="18" charset="0"/>
                <a:cs typeface="Times New Roman" panose="02020603050405020304" pitchFamily="18" charset="0"/>
              </a:rPr>
              <a:t>Continuous variables</a:t>
            </a:r>
          </a:p>
        </p:txBody>
      </p:sp>
      <p:sp>
        <p:nvSpPr>
          <p:cNvPr id="21" name="Subtitle 2">
            <a:extLst>
              <a:ext uri="{FF2B5EF4-FFF2-40B4-BE49-F238E27FC236}">
                <a16:creationId xmlns:a16="http://schemas.microsoft.com/office/drawing/2014/main" id="{41F7061E-22FC-F3EC-BF00-97D275BC6768}"/>
              </a:ext>
            </a:extLst>
          </p:cNvPr>
          <p:cNvSpPr txBox="1">
            <a:spLocks/>
          </p:cNvSpPr>
          <p:nvPr/>
        </p:nvSpPr>
        <p:spPr>
          <a:xfrm>
            <a:off x="8745351" y="4756818"/>
            <a:ext cx="2985073" cy="1189110"/>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600" dirty="0">
                <a:latin typeface="Times New Roman" panose="02020603050405020304" pitchFamily="18" charset="0"/>
                <a:cs typeface="Times New Roman" panose="02020603050405020304" pitchFamily="18" charset="0"/>
              </a:rPr>
              <a:t>may include data as decimals, fractions, or irrational numbers. </a:t>
            </a:r>
          </a:p>
          <a:p>
            <a:r>
              <a:rPr lang="en-US" sz="1600" dirty="0">
                <a:latin typeface="Times New Roman" panose="02020603050405020304" pitchFamily="18" charset="0"/>
                <a:cs typeface="Times New Roman" panose="02020603050405020304" pitchFamily="18" charset="0"/>
              </a:rPr>
              <a:t>For example, the </a:t>
            </a:r>
            <a:r>
              <a:rPr lang="en-US" sz="1600" i="1" dirty="0">
                <a:latin typeface="Times New Roman" panose="02020603050405020304" pitchFamily="18" charset="0"/>
                <a:cs typeface="Times New Roman" panose="02020603050405020304" pitchFamily="18" charset="0"/>
              </a:rPr>
              <a:t>height of the people </a:t>
            </a:r>
            <a:r>
              <a:rPr lang="en-US" sz="1600" dirty="0">
                <a:latin typeface="Times New Roman" panose="02020603050405020304" pitchFamily="18" charset="0"/>
                <a:cs typeface="Times New Roman" panose="02020603050405020304" pitchFamily="18" charset="0"/>
              </a:rPr>
              <a:t>is a continuous variable.</a:t>
            </a:r>
          </a:p>
        </p:txBody>
      </p:sp>
      <p:cxnSp>
        <p:nvCxnSpPr>
          <p:cNvPr id="31" name="Straight Arrow Connector 30">
            <a:extLst>
              <a:ext uri="{FF2B5EF4-FFF2-40B4-BE49-F238E27FC236}">
                <a16:creationId xmlns:a16="http://schemas.microsoft.com/office/drawing/2014/main" id="{31BBE28E-0036-803E-B397-81882A4E1838}"/>
              </a:ext>
            </a:extLst>
          </p:cNvPr>
          <p:cNvCxnSpPr>
            <a:cxnSpLocks/>
            <a:stCxn id="3" idx="2"/>
            <a:endCxn id="20" idx="0"/>
          </p:cNvCxnSpPr>
          <p:nvPr/>
        </p:nvCxnSpPr>
        <p:spPr>
          <a:xfrm>
            <a:off x="8113748" y="3930554"/>
            <a:ext cx="2093342" cy="373333"/>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C6D13E40-BD88-9458-EF04-404A0FAC77F7}"/>
              </a:ext>
            </a:extLst>
          </p:cNvPr>
          <p:cNvGrpSpPr/>
          <p:nvPr/>
        </p:nvGrpSpPr>
        <p:grpSpPr>
          <a:xfrm>
            <a:off x="0" y="6544092"/>
            <a:ext cx="12192000" cy="313908"/>
            <a:chOff x="0" y="6544092"/>
            <a:chExt cx="12192000" cy="313908"/>
          </a:xfrm>
        </p:grpSpPr>
        <p:sp>
          <p:nvSpPr>
            <p:cNvPr id="5" name="Rectangle 4">
              <a:extLst>
                <a:ext uri="{FF2B5EF4-FFF2-40B4-BE49-F238E27FC236}">
                  <a16:creationId xmlns:a16="http://schemas.microsoft.com/office/drawing/2014/main" id="{CD513A27-17FA-C0F3-5129-19AB0E02604F}"/>
                </a:ext>
              </a:extLst>
            </p:cNvPr>
            <p:cNvSpPr/>
            <p:nvPr/>
          </p:nvSpPr>
          <p:spPr>
            <a:xfrm>
              <a:off x="0" y="6544092"/>
              <a:ext cx="12192000" cy="31390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6" name="TextBox 10">
              <a:extLst>
                <a:ext uri="{FF2B5EF4-FFF2-40B4-BE49-F238E27FC236}">
                  <a16:creationId xmlns:a16="http://schemas.microsoft.com/office/drawing/2014/main" id="{23CB9590-BC67-F4A1-D088-819F6C248EEA}"/>
                </a:ext>
              </a:extLst>
            </p:cNvPr>
            <p:cNvSpPr txBox="1"/>
            <p:nvPr/>
          </p:nvSpPr>
          <p:spPr>
            <a:xfrm>
              <a:off x="109932" y="6577518"/>
              <a:ext cx="2794997" cy="247055"/>
            </a:xfrm>
            <a:prstGeom prst="rect">
              <a:avLst/>
            </a:prstGeom>
            <a:noFill/>
          </p:spPr>
          <p:txBody>
            <a:bodyPr lIns="0" tIns="0" rIns="0" bIns="0" rtlCol="0" anchor="ctr">
              <a:spAutoFit/>
            </a:bodyPr>
            <a:lstStyle/>
            <a:p>
              <a:pPr algn="just">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ENGR. VIOLDAN E. BAYOCOT</a:t>
              </a:r>
            </a:p>
          </p:txBody>
        </p:sp>
        <p:sp>
          <p:nvSpPr>
            <p:cNvPr id="7" name="TextBox 6">
              <a:extLst>
                <a:ext uri="{FF2B5EF4-FFF2-40B4-BE49-F238E27FC236}">
                  <a16:creationId xmlns:a16="http://schemas.microsoft.com/office/drawing/2014/main" id="{D9F914DF-8CC2-64E9-8F75-0051EF3146C8}"/>
                </a:ext>
              </a:extLst>
            </p:cNvPr>
            <p:cNvSpPr txBox="1"/>
            <p:nvPr/>
          </p:nvSpPr>
          <p:spPr>
            <a:xfrm>
              <a:off x="3158929" y="6577518"/>
              <a:ext cx="5433668" cy="248145"/>
            </a:xfrm>
            <a:prstGeom prst="rect">
              <a:avLst/>
            </a:prstGeom>
            <a:noFill/>
          </p:spPr>
          <p:txBody>
            <a:bodyPr wrap="square" lIns="0" tIns="0" rIns="0" bIns="0" rtlCol="0" anchor="t">
              <a:spAutoFit/>
            </a:bodyPr>
            <a:lstStyle/>
            <a:p>
              <a:pPr algn="ct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[Krista K.] BECOME A PROBABILITY &amp; STATISTICS MASTER</a:t>
              </a:r>
            </a:p>
          </p:txBody>
        </p:sp>
        <p:sp>
          <p:nvSpPr>
            <p:cNvPr id="8" name="TextBox 7">
              <a:extLst>
                <a:ext uri="{FF2B5EF4-FFF2-40B4-BE49-F238E27FC236}">
                  <a16:creationId xmlns:a16="http://schemas.microsoft.com/office/drawing/2014/main" id="{B66507E2-9E86-CAF1-4970-EB64D45C55C4}"/>
                </a:ext>
              </a:extLst>
            </p:cNvPr>
            <p:cNvSpPr txBox="1"/>
            <p:nvPr/>
          </p:nvSpPr>
          <p:spPr>
            <a:xfrm>
              <a:off x="8387007" y="6577518"/>
              <a:ext cx="3701763" cy="248145"/>
            </a:xfrm>
            <a:prstGeom prst="rect">
              <a:avLst/>
            </a:prstGeom>
            <a:noFill/>
          </p:spPr>
          <p:txBody>
            <a:bodyPr wrap="square" lIns="0" tIns="0" rIns="0" bIns="0" rtlCol="0" anchor="t">
              <a:spAutoFit/>
            </a:bodyPr>
            <a:lstStyle/>
            <a:p>
              <a:pPr algn="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QUANTITATIVE METHODS</a:t>
              </a:r>
            </a:p>
          </p:txBody>
        </p:sp>
      </p:grpSp>
    </p:spTree>
    <p:extLst>
      <p:ext uri="{BB962C8B-B14F-4D97-AF65-F5344CB8AC3E}">
        <p14:creationId xmlns:p14="http://schemas.microsoft.com/office/powerpoint/2010/main" val="38863422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right)">
                                      <p:cBhvr>
                                        <p:cTn id="12" dur="500"/>
                                        <p:tgtEl>
                                          <p:spTgt spid="16"/>
                                        </p:tgtEl>
                                      </p:cBhvr>
                                    </p:animEffect>
                                  </p:childTnLst>
                                </p:cTn>
                              </p:par>
                            </p:childTnLst>
                          </p:cTn>
                        </p:par>
                        <p:par>
                          <p:cTn id="13" fill="hold">
                            <p:stCondLst>
                              <p:cond delay="500"/>
                            </p:stCondLst>
                            <p:childTnLst>
                              <p:par>
                                <p:cTn id="14" presetID="22" presetClass="entr" presetSubtype="2" fill="hold" nodeType="after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wipe(right)">
                                      <p:cBhvr>
                                        <p:cTn id="16" dur="500"/>
                                        <p:tgtEl>
                                          <p:spTgt spid="28"/>
                                        </p:tgtEl>
                                      </p:cBhvr>
                                    </p:animEffect>
                                  </p:childTnLst>
                                </p:cTn>
                              </p:par>
                            </p:childTnLst>
                          </p:cTn>
                        </p:par>
                        <p:par>
                          <p:cTn id="17" fill="hold">
                            <p:stCondLst>
                              <p:cond delay="1000"/>
                            </p:stCondLst>
                            <p:childTnLst>
                              <p:par>
                                <p:cTn id="18" presetID="22" presetClass="entr" presetSubtype="1" fill="hold" grpId="0" nodeType="after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wipe(up)">
                                      <p:cBhvr>
                                        <p:cTn id="20" dur="500"/>
                                        <p:tgtEl>
                                          <p:spTgt spid="26"/>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32"/>
                                        </p:tgtEl>
                                        <p:attrNameLst>
                                          <p:attrName>style.visibility</p:attrName>
                                        </p:attrNameLst>
                                      </p:cBhvr>
                                      <p:to>
                                        <p:strVal val="visible"/>
                                      </p:to>
                                    </p:set>
                                    <p:animEffect transition="in" filter="wipe(up)">
                                      <p:cBhvr>
                                        <p:cTn id="25" dur="500"/>
                                        <p:tgtEl>
                                          <p:spTgt spid="3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wipe(left)">
                                      <p:cBhvr>
                                        <p:cTn id="30" dur="500"/>
                                        <p:tgtEl>
                                          <p:spTgt spid="22"/>
                                        </p:tgtEl>
                                      </p:cBhvr>
                                    </p:animEffect>
                                  </p:childTnLst>
                                </p:cTn>
                              </p:par>
                            </p:childTnLst>
                          </p:cTn>
                        </p:par>
                        <p:par>
                          <p:cTn id="31" fill="hold">
                            <p:stCondLst>
                              <p:cond delay="500"/>
                            </p:stCondLst>
                            <p:childTnLst>
                              <p:par>
                                <p:cTn id="32" presetID="22" presetClass="entr" presetSubtype="1" fill="hold" nodeType="after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wipe(up)">
                                      <p:cBhvr>
                                        <p:cTn id="34" dur="500"/>
                                        <p:tgtEl>
                                          <p:spTgt spid="29"/>
                                        </p:tgtEl>
                                      </p:cBhvr>
                                    </p:animEffect>
                                  </p:childTnLst>
                                </p:cTn>
                              </p:par>
                            </p:childTnLst>
                          </p:cTn>
                        </p:par>
                        <p:par>
                          <p:cTn id="35" fill="hold">
                            <p:stCondLst>
                              <p:cond delay="1000"/>
                            </p:stCondLst>
                            <p:childTnLst>
                              <p:par>
                                <p:cTn id="36" presetID="22" presetClass="entr" presetSubtype="1" fill="hold" grpId="0" nodeType="afterEffect">
                                  <p:stCondLst>
                                    <p:cond delay="0"/>
                                  </p:stCondLst>
                                  <p:childTnLst>
                                    <p:set>
                                      <p:cBhvr>
                                        <p:cTn id="37" dur="1" fill="hold">
                                          <p:stCondLst>
                                            <p:cond delay="0"/>
                                          </p:stCondLst>
                                        </p:cTn>
                                        <p:tgtEl>
                                          <p:spTgt spid="30"/>
                                        </p:tgtEl>
                                        <p:attrNameLst>
                                          <p:attrName>style.visibility</p:attrName>
                                        </p:attrNameLst>
                                      </p:cBhvr>
                                      <p:to>
                                        <p:strVal val="visible"/>
                                      </p:to>
                                    </p:set>
                                    <p:animEffect transition="in" filter="wipe(up)">
                                      <p:cBhvr>
                                        <p:cTn id="38" dur="500"/>
                                        <p:tgtEl>
                                          <p:spTgt spid="30"/>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grpId="0" nodeType="clickEffect">
                                  <p:stCondLst>
                                    <p:cond delay="0"/>
                                  </p:stCondLst>
                                  <p:childTnLst>
                                    <p:set>
                                      <p:cBhvr>
                                        <p:cTn id="42" dur="1" fill="hold">
                                          <p:stCondLst>
                                            <p:cond delay="0"/>
                                          </p:stCondLst>
                                        </p:cTn>
                                        <p:tgtEl>
                                          <p:spTgt spid="3"/>
                                        </p:tgtEl>
                                        <p:attrNameLst>
                                          <p:attrName>style.visibility</p:attrName>
                                        </p:attrNameLst>
                                      </p:cBhvr>
                                      <p:to>
                                        <p:strVal val="visible"/>
                                      </p:to>
                                    </p:set>
                                    <p:animEffect transition="in" filter="wipe(up)">
                                      <p:cBhvr>
                                        <p:cTn id="43" dur="500"/>
                                        <p:tgtEl>
                                          <p:spTgt spid="3"/>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2" fill="hold" nodeType="click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wipe(right)">
                                      <p:cBhvr>
                                        <p:cTn id="48" dur="500"/>
                                        <p:tgtEl>
                                          <p:spTgt spid="11"/>
                                        </p:tgtEl>
                                      </p:cBhvr>
                                    </p:animEffect>
                                  </p:childTnLst>
                                </p:cTn>
                              </p:par>
                              <p:par>
                                <p:cTn id="49" presetID="22" presetClass="entr" presetSubtype="8" fill="hold" nodeType="withEffect">
                                  <p:stCondLst>
                                    <p:cond delay="0"/>
                                  </p:stCondLst>
                                  <p:childTnLst>
                                    <p:set>
                                      <p:cBhvr>
                                        <p:cTn id="50" dur="1" fill="hold">
                                          <p:stCondLst>
                                            <p:cond delay="0"/>
                                          </p:stCondLst>
                                        </p:cTn>
                                        <p:tgtEl>
                                          <p:spTgt spid="31"/>
                                        </p:tgtEl>
                                        <p:attrNameLst>
                                          <p:attrName>style.visibility</p:attrName>
                                        </p:attrNameLst>
                                      </p:cBhvr>
                                      <p:to>
                                        <p:strVal val="visible"/>
                                      </p:to>
                                    </p:set>
                                    <p:animEffect transition="in" filter="wipe(left)">
                                      <p:cBhvr>
                                        <p:cTn id="51" dur="500"/>
                                        <p:tgtEl>
                                          <p:spTgt spid="31"/>
                                        </p:tgtEl>
                                      </p:cBhvr>
                                    </p:animEffect>
                                  </p:childTnLst>
                                </p:cTn>
                              </p:par>
                            </p:childTnLst>
                          </p:cTn>
                        </p:par>
                        <p:par>
                          <p:cTn id="52" fill="hold">
                            <p:stCondLst>
                              <p:cond delay="500"/>
                            </p:stCondLst>
                            <p:childTnLst>
                              <p:par>
                                <p:cTn id="53" presetID="22" presetClass="entr" presetSubtype="1" fill="hold" grpId="0" nodeType="after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wipe(up)">
                                      <p:cBhvr>
                                        <p:cTn id="55" dur="500"/>
                                        <p:tgtEl>
                                          <p:spTgt spid="17"/>
                                        </p:tgtEl>
                                      </p:cBhvr>
                                    </p:animEffect>
                                  </p:childTnLst>
                                </p:cTn>
                              </p:par>
                              <p:par>
                                <p:cTn id="56" presetID="22" presetClass="entr" presetSubtype="1"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wipe(up)">
                                      <p:cBhvr>
                                        <p:cTn id="58" dur="500"/>
                                        <p:tgtEl>
                                          <p:spTgt spid="20"/>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1" fill="hold" grpId="0" nodeType="click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wipe(up)">
                                      <p:cBhvr>
                                        <p:cTn id="63" dur="500"/>
                                        <p:tgtEl>
                                          <p:spTgt spid="19"/>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1" fill="hold" grpId="0" nodeType="clickEffect">
                                  <p:stCondLst>
                                    <p:cond delay="0"/>
                                  </p:stCondLst>
                                  <p:childTnLst>
                                    <p:set>
                                      <p:cBhvr>
                                        <p:cTn id="67" dur="1" fill="hold">
                                          <p:stCondLst>
                                            <p:cond delay="0"/>
                                          </p:stCondLst>
                                        </p:cTn>
                                        <p:tgtEl>
                                          <p:spTgt spid="21"/>
                                        </p:tgtEl>
                                        <p:attrNameLst>
                                          <p:attrName>style.visibility</p:attrName>
                                        </p:attrNameLst>
                                      </p:cBhvr>
                                      <p:to>
                                        <p:strVal val="visible"/>
                                      </p:to>
                                    </p:set>
                                    <p:animEffect transition="in" filter="wipe(up)">
                                      <p:cBhvr>
                                        <p:cTn id="6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6" grpId="0"/>
      <p:bldP spid="30" grpId="0"/>
      <p:bldP spid="32" grpId="0"/>
      <p:bldP spid="3" grpId="0"/>
      <p:bldP spid="17" grpId="0"/>
      <p:bldP spid="19" grpId="0"/>
      <p:bldP spid="20" grpId="0"/>
      <p:bldP spid="2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20A96-3CAC-B55C-2948-531FB707B7DD}"/>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0811680C-11F1-B667-E67D-F26026BDD981}"/>
              </a:ext>
            </a:extLst>
          </p:cNvPr>
          <p:cNvSpPr/>
          <p:nvPr/>
        </p:nvSpPr>
        <p:spPr>
          <a:xfrm>
            <a:off x="0" y="0"/>
            <a:ext cx="12192000" cy="548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sz="3000" b="1" dirty="0">
              <a:solidFill>
                <a:schemeClr val="tx1"/>
              </a:solidFill>
              <a:latin typeface="Times New Roman" panose="02020603050405020304" pitchFamily="18" charset="0"/>
              <a:cs typeface="Times New Roman" panose="02020603050405020304" pitchFamily="18" charset="0"/>
            </a:endParaRPr>
          </a:p>
        </p:txBody>
      </p:sp>
      <p:sp>
        <p:nvSpPr>
          <p:cNvPr id="2" name="Content Placeholder 2">
            <a:extLst>
              <a:ext uri="{FF2B5EF4-FFF2-40B4-BE49-F238E27FC236}">
                <a16:creationId xmlns:a16="http://schemas.microsoft.com/office/drawing/2014/main" id="{9FA96326-6E61-8095-8139-7A25D2D64EC6}"/>
              </a:ext>
            </a:extLst>
          </p:cNvPr>
          <p:cNvSpPr txBox="1">
            <a:spLocks/>
          </p:cNvSpPr>
          <p:nvPr/>
        </p:nvSpPr>
        <p:spPr>
          <a:xfrm>
            <a:off x="0" y="0"/>
            <a:ext cx="12191998" cy="548641"/>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PH" sz="3000" b="1" dirty="0">
                <a:solidFill>
                  <a:schemeClr val="bg1"/>
                </a:solidFill>
                <a:latin typeface="Times New Roman" panose="02020603050405020304" pitchFamily="18" charset="0"/>
                <a:cs typeface="Times New Roman" panose="02020603050405020304" pitchFamily="18" charset="0"/>
              </a:rPr>
              <a:t>LEVELS OF MEASUREMENT</a:t>
            </a:r>
            <a:endParaRPr lang="en-PH" sz="3000" b="1" dirty="0">
              <a:solidFill>
                <a:schemeClr val="bg1"/>
              </a:solidFill>
              <a:latin typeface="Courier New" panose="02070309020205020404" pitchFamily="49" charset="0"/>
              <a:cs typeface="Courier New" panose="02070309020205020404" pitchFamily="49" charset="0"/>
            </a:endParaRPr>
          </a:p>
        </p:txBody>
      </p:sp>
      <p:sp>
        <p:nvSpPr>
          <p:cNvPr id="18" name="Subtitle 2">
            <a:extLst>
              <a:ext uri="{FF2B5EF4-FFF2-40B4-BE49-F238E27FC236}">
                <a16:creationId xmlns:a16="http://schemas.microsoft.com/office/drawing/2014/main" id="{87B83B83-BA40-53A3-F6FE-517C96CDCEBC}"/>
              </a:ext>
            </a:extLst>
          </p:cNvPr>
          <p:cNvSpPr txBox="1">
            <a:spLocks/>
          </p:cNvSpPr>
          <p:nvPr/>
        </p:nvSpPr>
        <p:spPr>
          <a:xfrm>
            <a:off x="1953976" y="686193"/>
            <a:ext cx="8284045" cy="42810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latin typeface="Times New Roman" panose="02020603050405020304" pitchFamily="18" charset="0"/>
                <a:cs typeface="Times New Roman" panose="02020603050405020304" pitchFamily="18" charset="0"/>
              </a:rPr>
              <a:t>Not every statistical test can be used with every type of data set.</a:t>
            </a:r>
            <a:endParaRPr lang="en-US" b="1" dirty="0">
              <a:latin typeface="Times New Roman" panose="02020603050405020304" pitchFamily="18" charset="0"/>
              <a:cs typeface="Times New Roman" panose="02020603050405020304" pitchFamily="18" charset="0"/>
            </a:endParaRPr>
          </a:p>
        </p:txBody>
      </p:sp>
      <p:sp>
        <p:nvSpPr>
          <p:cNvPr id="32" name="Subtitle 2">
            <a:extLst>
              <a:ext uri="{FF2B5EF4-FFF2-40B4-BE49-F238E27FC236}">
                <a16:creationId xmlns:a16="http://schemas.microsoft.com/office/drawing/2014/main" id="{2DBAA691-13D2-76F7-FA85-FAF410990AF0}"/>
              </a:ext>
            </a:extLst>
          </p:cNvPr>
          <p:cNvSpPr txBox="1">
            <a:spLocks/>
          </p:cNvSpPr>
          <p:nvPr/>
        </p:nvSpPr>
        <p:spPr>
          <a:xfrm>
            <a:off x="263991" y="2438653"/>
            <a:ext cx="2720684" cy="47403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sz="1600" dirty="0">
                <a:latin typeface="Times New Roman" panose="02020603050405020304" pitchFamily="18" charset="0"/>
                <a:cs typeface="Times New Roman" panose="02020603050405020304" pitchFamily="18" charset="0"/>
              </a:rPr>
              <a:t>Only categorical data can be measured with a nominal scale</a:t>
            </a:r>
          </a:p>
        </p:txBody>
      </p:sp>
      <p:sp>
        <p:nvSpPr>
          <p:cNvPr id="4" name="Subtitle 2">
            <a:extLst>
              <a:ext uri="{FF2B5EF4-FFF2-40B4-BE49-F238E27FC236}">
                <a16:creationId xmlns:a16="http://schemas.microsoft.com/office/drawing/2014/main" id="{BC9CFE08-C036-C1B8-5470-81FB9389E0C7}"/>
              </a:ext>
            </a:extLst>
          </p:cNvPr>
          <p:cNvSpPr txBox="1">
            <a:spLocks/>
          </p:cNvSpPr>
          <p:nvPr/>
        </p:nvSpPr>
        <p:spPr>
          <a:xfrm>
            <a:off x="1953976" y="1253441"/>
            <a:ext cx="8284045" cy="42810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latin typeface="Times New Roman" panose="02020603050405020304" pitchFamily="18" charset="0"/>
                <a:cs typeface="Times New Roman" panose="02020603050405020304" pitchFamily="18" charset="0"/>
              </a:rPr>
              <a:t>There are four levels of data measurement:</a:t>
            </a:r>
            <a:endParaRPr lang="en-US" b="1" dirty="0">
              <a:latin typeface="Times New Roman" panose="02020603050405020304" pitchFamily="18" charset="0"/>
              <a:cs typeface="Times New Roman" panose="02020603050405020304" pitchFamily="18" charset="0"/>
            </a:endParaRPr>
          </a:p>
        </p:txBody>
      </p:sp>
      <p:sp>
        <p:nvSpPr>
          <p:cNvPr id="5" name="Subtitle 2">
            <a:extLst>
              <a:ext uri="{FF2B5EF4-FFF2-40B4-BE49-F238E27FC236}">
                <a16:creationId xmlns:a16="http://schemas.microsoft.com/office/drawing/2014/main" id="{69E2BB04-DCEF-6AE5-41AE-DE20EF4234F9}"/>
              </a:ext>
            </a:extLst>
          </p:cNvPr>
          <p:cNvSpPr txBox="1">
            <a:spLocks/>
          </p:cNvSpPr>
          <p:nvPr/>
        </p:nvSpPr>
        <p:spPr>
          <a:xfrm>
            <a:off x="916596" y="2015535"/>
            <a:ext cx="1415466" cy="42810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latin typeface="Times New Roman" panose="02020603050405020304" pitchFamily="18" charset="0"/>
                <a:cs typeface="Times New Roman" panose="02020603050405020304" pitchFamily="18" charset="0"/>
              </a:rPr>
              <a:t>Nominal</a:t>
            </a:r>
          </a:p>
        </p:txBody>
      </p:sp>
      <p:sp>
        <p:nvSpPr>
          <p:cNvPr id="12" name="Subtitle 2">
            <a:extLst>
              <a:ext uri="{FF2B5EF4-FFF2-40B4-BE49-F238E27FC236}">
                <a16:creationId xmlns:a16="http://schemas.microsoft.com/office/drawing/2014/main" id="{3F9D3A7E-31F7-0A0D-44C6-C941B5F86267}"/>
              </a:ext>
            </a:extLst>
          </p:cNvPr>
          <p:cNvSpPr txBox="1">
            <a:spLocks/>
          </p:cNvSpPr>
          <p:nvPr/>
        </p:nvSpPr>
        <p:spPr>
          <a:xfrm>
            <a:off x="3897709" y="2010553"/>
            <a:ext cx="1415466" cy="42810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latin typeface="Times New Roman" panose="02020603050405020304" pitchFamily="18" charset="0"/>
                <a:cs typeface="Times New Roman" panose="02020603050405020304" pitchFamily="18" charset="0"/>
              </a:rPr>
              <a:t>Ordinal</a:t>
            </a:r>
          </a:p>
        </p:txBody>
      </p:sp>
      <p:sp>
        <p:nvSpPr>
          <p:cNvPr id="13" name="Subtitle 2">
            <a:extLst>
              <a:ext uri="{FF2B5EF4-FFF2-40B4-BE49-F238E27FC236}">
                <a16:creationId xmlns:a16="http://schemas.microsoft.com/office/drawing/2014/main" id="{04C40021-59AF-678A-E421-6C0A632B37EE}"/>
              </a:ext>
            </a:extLst>
          </p:cNvPr>
          <p:cNvSpPr txBox="1">
            <a:spLocks/>
          </p:cNvSpPr>
          <p:nvPr/>
        </p:nvSpPr>
        <p:spPr>
          <a:xfrm>
            <a:off x="6878822" y="2010553"/>
            <a:ext cx="1415466" cy="42810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latin typeface="Times New Roman" panose="02020603050405020304" pitchFamily="18" charset="0"/>
                <a:cs typeface="Times New Roman" panose="02020603050405020304" pitchFamily="18" charset="0"/>
              </a:rPr>
              <a:t>Interval</a:t>
            </a:r>
          </a:p>
        </p:txBody>
      </p:sp>
      <p:sp>
        <p:nvSpPr>
          <p:cNvPr id="14" name="Subtitle 2">
            <a:extLst>
              <a:ext uri="{FF2B5EF4-FFF2-40B4-BE49-F238E27FC236}">
                <a16:creationId xmlns:a16="http://schemas.microsoft.com/office/drawing/2014/main" id="{C9429138-04D4-33A6-985A-1A6BF771F302}"/>
              </a:ext>
            </a:extLst>
          </p:cNvPr>
          <p:cNvSpPr txBox="1">
            <a:spLocks/>
          </p:cNvSpPr>
          <p:nvPr/>
        </p:nvSpPr>
        <p:spPr>
          <a:xfrm>
            <a:off x="9859934" y="2010553"/>
            <a:ext cx="1415466" cy="42810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latin typeface="Times New Roman" panose="02020603050405020304" pitchFamily="18" charset="0"/>
                <a:cs typeface="Times New Roman" panose="02020603050405020304" pitchFamily="18" charset="0"/>
              </a:rPr>
              <a:t>Ratio</a:t>
            </a:r>
          </a:p>
        </p:txBody>
      </p:sp>
      <p:sp>
        <p:nvSpPr>
          <p:cNvPr id="23" name="Subtitle 2">
            <a:extLst>
              <a:ext uri="{FF2B5EF4-FFF2-40B4-BE49-F238E27FC236}">
                <a16:creationId xmlns:a16="http://schemas.microsoft.com/office/drawing/2014/main" id="{BDA21744-FC54-51F5-1FE2-7DDE8F56AF99}"/>
              </a:ext>
            </a:extLst>
          </p:cNvPr>
          <p:cNvSpPr txBox="1">
            <a:spLocks/>
          </p:cNvSpPr>
          <p:nvPr/>
        </p:nvSpPr>
        <p:spPr>
          <a:xfrm>
            <a:off x="263987" y="3047196"/>
            <a:ext cx="2720684" cy="1048714"/>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sz="1600" dirty="0">
                <a:latin typeface="Times New Roman" panose="02020603050405020304" pitchFamily="18" charset="0"/>
                <a:cs typeface="Times New Roman" panose="02020603050405020304" pitchFamily="18" charset="0"/>
              </a:rPr>
              <a:t>Things like </a:t>
            </a:r>
            <a:r>
              <a:rPr lang="en-US" sz="1600" i="1" dirty="0">
                <a:latin typeface="Times New Roman" panose="02020603050405020304" pitchFamily="18" charset="0"/>
                <a:cs typeface="Times New Roman" panose="02020603050405020304" pitchFamily="18" charset="0"/>
              </a:rPr>
              <a:t>favorite food</a:t>
            </a:r>
            <a:r>
              <a:rPr lang="en-US" sz="1600" dirty="0">
                <a:latin typeface="Times New Roman" panose="02020603050405020304" pitchFamily="18" charset="0"/>
                <a:cs typeface="Times New Roman" panose="02020603050405020304" pitchFamily="18" charset="0"/>
              </a:rPr>
              <a:t>, </a:t>
            </a:r>
            <a:r>
              <a:rPr lang="en-US" sz="1600" i="1" dirty="0">
                <a:latin typeface="Times New Roman" panose="02020603050405020304" pitchFamily="18" charset="0"/>
                <a:cs typeface="Times New Roman" panose="02020603050405020304" pitchFamily="18" charset="0"/>
              </a:rPr>
              <a:t>colors</a:t>
            </a:r>
            <a:r>
              <a:rPr lang="en-US" sz="1600" dirty="0">
                <a:latin typeface="Times New Roman" panose="02020603050405020304" pitchFamily="18" charset="0"/>
                <a:cs typeface="Times New Roman" panose="02020603050405020304" pitchFamily="18" charset="0"/>
              </a:rPr>
              <a:t>, </a:t>
            </a:r>
            <a:r>
              <a:rPr lang="en-US" sz="1600" i="1" dirty="0">
                <a:latin typeface="Times New Roman" panose="02020603050405020304" pitchFamily="18" charset="0"/>
                <a:cs typeface="Times New Roman" panose="02020603050405020304" pitchFamily="18" charset="0"/>
              </a:rPr>
              <a:t>names </a:t>
            </a:r>
            <a:r>
              <a:rPr lang="en-US" sz="1600" dirty="0">
                <a:latin typeface="Times New Roman" panose="02020603050405020304" pitchFamily="18" charset="0"/>
                <a:cs typeface="Times New Roman" panose="02020603050405020304" pitchFamily="18" charset="0"/>
              </a:rPr>
              <a:t>and </a:t>
            </a:r>
            <a:r>
              <a:rPr lang="en-US" sz="1600" i="1" dirty="0">
                <a:latin typeface="Times New Roman" panose="02020603050405020304" pitchFamily="18" charset="0"/>
                <a:cs typeface="Times New Roman" panose="02020603050405020304" pitchFamily="18" charset="0"/>
              </a:rPr>
              <a:t>yes or no responses </a:t>
            </a:r>
            <a:r>
              <a:rPr lang="en-US" sz="1600" dirty="0">
                <a:latin typeface="Times New Roman" panose="02020603050405020304" pitchFamily="18" charset="0"/>
                <a:cs typeface="Times New Roman" panose="02020603050405020304" pitchFamily="18" charset="0"/>
              </a:rPr>
              <a:t>have a </a:t>
            </a:r>
            <a:r>
              <a:rPr lang="en-US" sz="1600" b="1" dirty="0">
                <a:latin typeface="Times New Roman" panose="02020603050405020304" pitchFamily="18" charset="0"/>
                <a:cs typeface="Times New Roman" panose="02020603050405020304" pitchFamily="18" charset="0"/>
              </a:rPr>
              <a:t>nominal </a:t>
            </a:r>
            <a:r>
              <a:rPr lang="en-US" sz="1600" dirty="0">
                <a:latin typeface="Times New Roman" panose="02020603050405020304" pitchFamily="18" charset="0"/>
                <a:cs typeface="Times New Roman" panose="02020603050405020304" pitchFamily="18" charset="0"/>
              </a:rPr>
              <a:t>scale of measurement</a:t>
            </a:r>
          </a:p>
        </p:txBody>
      </p:sp>
      <p:sp>
        <p:nvSpPr>
          <p:cNvPr id="25" name="Subtitle 2">
            <a:extLst>
              <a:ext uri="{FF2B5EF4-FFF2-40B4-BE49-F238E27FC236}">
                <a16:creationId xmlns:a16="http://schemas.microsoft.com/office/drawing/2014/main" id="{8FCDD207-F489-845D-3FDA-15F835167D2E}"/>
              </a:ext>
            </a:extLst>
          </p:cNvPr>
          <p:cNvSpPr txBox="1">
            <a:spLocks/>
          </p:cNvSpPr>
          <p:nvPr/>
        </p:nvSpPr>
        <p:spPr>
          <a:xfrm>
            <a:off x="3245100" y="2443846"/>
            <a:ext cx="2720684" cy="724775"/>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sz="1600" dirty="0">
                <a:latin typeface="Times New Roman" panose="02020603050405020304" pitchFamily="18" charset="0"/>
                <a:cs typeface="Times New Roman" panose="02020603050405020304" pitchFamily="18" charset="0"/>
              </a:rPr>
              <a:t>Categorical data can also be </a:t>
            </a:r>
            <a:r>
              <a:rPr lang="en-US" sz="1600" b="1" dirty="0">
                <a:latin typeface="Times New Roman" panose="02020603050405020304" pitchFamily="18" charset="0"/>
                <a:cs typeface="Times New Roman" panose="02020603050405020304" pitchFamily="18" charset="0"/>
              </a:rPr>
              <a:t>ordinal</a:t>
            </a:r>
            <a:r>
              <a:rPr lang="en-US" sz="1600" dirty="0">
                <a:latin typeface="Times New Roman" panose="02020603050405020304" pitchFamily="18" charset="0"/>
                <a:cs typeface="Times New Roman" panose="02020603050405020304" pitchFamily="18" charset="0"/>
              </a:rPr>
              <a:t>. This type of data can be ordered.</a:t>
            </a:r>
          </a:p>
        </p:txBody>
      </p:sp>
      <p:sp>
        <p:nvSpPr>
          <p:cNvPr id="34" name="Subtitle 2">
            <a:extLst>
              <a:ext uri="{FF2B5EF4-FFF2-40B4-BE49-F238E27FC236}">
                <a16:creationId xmlns:a16="http://schemas.microsoft.com/office/drawing/2014/main" id="{15920AF3-7E65-CD7A-BD15-0D34BBB380D0}"/>
              </a:ext>
            </a:extLst>
          </p:cNvPr>
          <p:cNvSpPr txBox="1">
            <a:spLocks/>
          </p:cNvSpPr>
          <p:nvPr/>
        </p:nvSpPr>
        <p:spPr>
          <a:xfrm>
            <a:off x="3245096" y="3308565"/>
            <a:ext cx="2720684" cy="2362398"/>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sz="1600" dirty="0">
                <a:latin typeface="Times New Roman" panose="02020603050405020304" pitchFamily="18" charset="0"/>
                <a:cs typeface="Times New Roman" panose="02020603050405020304" pitchFamily="18" charset="0"/>
              </a:rPr>
              <a:t>The top three national parks in Philippines is an example of ordinal data. Or, for example, when we ask a group of people about how they liked their trip, we may get responses like </a:t>
            </a:r>
            <a:r>
              <a:rPr lang="en-US" sz="1600" i="1" dirty="0">
                <a:latin typeface="Times New Roman" panose="02020603050405020304" pitchFamily="18" charset="0"/>
                <a:cs typeface="Times New Roman" panose="02020603050405020304" pitchFamily="18" charset="0"/>
              </a:rPr>
              <a:t>awesome</a:t>
            </a:r>
            <a:r>
              <a:rPr lang="en-US" sz="1600" dirty="0">
                <a:latin typeface="Times New Roman" panose="02020603050405020304" pitchFamily="18" charset="0"/>
                <a:cs typeface="Times New Roman" panose="02020603050405020304" pitchFamily="18" charset="0"/>
              </a:rPr>
              <a:t>, </a:t>
            </a:r>
            <a:r>
              <a:rPr lang="en-US" sz="1600" i="1" dirty="0">
                <a:latin typeface="Times New Roman" panose="02020603050405020304" pitchFamily="18" charset="0"/>
                <a:cs typeface="Times New Roman" panose="02020603050405020304" pitchFamily="18" charset="0"/>
              </a:rPr>
              <a:t>good</a:t>
            </a:r>
            <a:r>
              <a:rPr lang="en-US" sz="1600" dirty="0">
                <a:latin typeface="Times New Roman" panose="02020603050405020304" pitchFamily="18" charset="0"/>
                <a:cs typeface="Times New Roman" panose="02020603050405020304" pitchFamily="18" charset="0"/>
              </a:rPr>
              <a:t>, </a:t>
            </a:r>
            <a:r>
              <a:rPr lang="en-US" sz="1600" i="1" dirty="0">
                <a:latin typeface="Times New Roman" panose="02020603050405020304" pitchFamily="18" charset="0"/>
                <a:cs typeface="Times New Roman" panose="02020603050405020304" pitchFamily="18" charset="0"/>
              </a:rPr>
              <a:t>satisfactory</a:t>
            </a:r>
            <a:r>
              <a:rPr lang="en-US" sz="1600" dirty="0">
                <a:latin typeface="Times New Roman" panose="02020603050405020304" pitchFamily="18" charset="0"/>
                <a:cs typeface="Times New Roman" panose="02020603050405020304" pitchFamily="18" charset="0"/>
              </a:rPr>
              <a:t>, </a:t>
            </a:r>
            <a:r>
              <a:rPr lang="en-US" sz="1600" i="1" dirty="0">
                <a:latin typeface="Times New Roman" panose="02020603050405020304" pitchFamily="18" charset="0"/>
                <a:cs typeface="Times New Roman" panose="02020603050405020304" pitchFamily="18" charset="0"/>
              </a:rPr>
              <a:t>terrible</a:t>
            </a:r>
            <a:r>
              <a:rPr lang="en-US" sz="1600" dirty="0">
                <a:latin typeface="Times New Roman" panose="02020603050405020304" pitchFamily="18" charset="0"/>
                <a:cs typeface="Times New Roman" panose="02020603050405020304" pitchFamily="18" charset="0"/>
              </a:rPr>
              <a:t>, or in numerical form (</a:t>
            </a:r>
            <a:r>
              <a:rPr lang="en-US" sz="1600" i="1" dirty="0">
                <a:latin typeface="Times New Roman" panose="02020603050405020304" pitchFamily="18" charset="0"/>
                <a:cs typeface="Times New Roman" panose="02020603050405020304" pitchFamily="18" charset="0"/>
              </a:rPr>
              <a:t>4,3,2,1</a:t>
            </a:r>
            <a:r>
              <a:rPr lang="en-US" sz="1600" dirty="0">
                <a:latin typeface="Times New Roman" panose="02020603050405020304" pitchFamily="18" charset="0"/>
                <a:cs typeface="Times New Roman" panose="02020603050405020304" pitchFamily="18" charset="0"/>
              </a:rPr>
              <a:t>), which follow an order from best to worst.</a:t>
            </a:r>
          </a:p>
        </p:txBody>
      </p:sp>
      <p:sp>
        <p:nvSpPr>
          <p:cNvPr id="35" name="Subtitle 2">
            <a:extLst>
              <a:ext uri="{FF2B5EF4-FFF2-40B4-BE49-F238E27FC236}">
                <a16:creationId xmlns:a16="http://schemas.microsoft.com/office/drawing/2014/main" id="{BD7A9390-BFA7-E875-3F07-3FA2DAFA94F4}"/>
              </a:ext>
            </a:extLst>
          </p:cNvPr>
          <p:cNvSpPr txBox="1">
            <a:spLocks/>
          </p:cNvSpPr>
          <p:nvPr/>
        </p:nvSpPr>
        <p:spPr>
          <a:xfrm>
            <a:off x="6226217" y="2434357"/>
            <a:ext cx="2720684" cy="943829"/>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sz="1600" dirty="0">
                <a:latin typeface="Times New Roman" panose="02020603050405020304" pitchFamily="18" charset="0"/>
                <a:cs typeface="Times New Roman" panose="02020603050405020304" pitchFamily="18" charset="0"/>
              </a:rPr>
              <a:t>Can be ordered like ordinal data but interval data also gives us a known interval between measurements</a:t>
            </a:r>
          </a:p>
        </p:txBody>
      </p:sp>
      <p:sp>
        <p:nvSpPr>
          <p:cNvPr id="36" name="Subtitle 2">
            <a:extLst>
              <a:ext uri="{FF2B5EF4-FFF2-40B4-BE49-F238E27FC236}">
                <a16:creationId xmlns:a16="http://schemas.microsoft.com/office/drawing/2014/main" id="{CFCB599D-F5D6-80BE-4258-32F5C83A379C}"/>
              </a:ext>
            </a:extLst>
          </p:cNvPr>
          <p:cNvSpPr txBox="1">
            <a:spLocks/>
          </p:cNvSpPr>
          <p:nvPr/>
        </p:nvSpPr>
        <p:spPr>
          <a:xfrm>
            <a:off x="6226201" y="3516713"/>
            <a:ext cx="2720684" cy="1469203"/>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sz="1600" dirty="0">
                <a:latin typeface="Times New Roman" panose="02020603050405020304" pitchFamily="18" charset="0"/>
                <a:cs typeface="Times New Roman" panose="02020603050405020304" pitchFamily="18" charset="0"/>
              </a:rPr>
              <a:t>For example, temperature is measured using an interval scale, because we can understand the exact interval of difference between 50 and 60 degrees.</a:t>
            </a:r>
          </a:p>
        </p:txBody>
      </p:sp>
      <p:sp>
        <p:nvSpPr>
          <p:cNvPr id="37" name="Subtitle 2">
            <a:extLst>
              <a:ext uri="{FF2B5EF4-FFF2-40B4-BE49-F238E27FC236}">
                <a16:creationId xmlns:a16="http://schemas.microsoft.com/office/drawing/2014/main" id="{7BC83D6E-AFC7-2B77-537C-EA3621808184}"/>
              </a:ext>
            </a:extLst>
          </p:cNvPr>
          <p:cNvSpPr txBox="1">
            <a:spLocks/>
          </p:cNvSpPr>
          <p:nvPr/>
        </p:nvSpPr>
        <p:spPr>
          <a:xfrm>
            <a:off x="9207325" y="2434357"/>
            <a:ext cx="2720684" cy="734264"/>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sz="1600" dirty="0">
                <a:latin typeface="Times New Roman" panose="02020603050405020304" pitchFamily="18" charset="0"/>
                <a:cs typeface="Times New Roman" panose="02020603050405020304" pitchFamily="18" charset="0"/>
              </a:rPr>
              <a:t>Just like interval scale data, except that it has a starting point, or absolute zero.</a:t>
            </a:r>
          </a:p>
        </p:txBody>
      </p:sp>
      <p:sp>
        <p:nvSpPr>
          <p:cNvPr id="38" name="Subtitle 2">
            <a:extLst>
              <a:ext uri="{FF2B5EF4-FFF2-40B4-BE49-F238E27FC236}">
                <a16:creationId xmlns:a16="http://schemas.microsoft.com/office/drawing/2014/main" id="{FBBB5A52-2689-E25B-92E0-7031BA3A3E8D}"/>
              </a:ext>
            </a:extLst>
          </p:cNvPr>
          <p:cNvSpPr txBox="1">
            <a:spLocks/>
          </p:cNvSpPr>
          <p:nvPr/>
        </p:nvSpPr>
        <p:spPr>
          <a:xfrm>
            <a:off x="9207325" y="3308565"/>
            <a:ext cx="2720684" cy="1860506"/>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sz="1600" dirty="0">
                <a:latin typeface="Times New Roman" panose="02020603050405020304" pitchFamily="18" charset="0"/>
                <a:cs typeface="Times New Roman" panose="02020603050405020304" pitchFamily="18" charset="0"/>
              </a:rPr>
              <a:t>Whereas interval data like temperature can have negative and positive values, things like time duration, height, and weight are examples of ratio scale data because those measures can never be negative.</a:t>
            </a:r>
          </a:p>
        </p:txBody>
      </p:sp>
      <p:grpSp>
        <p:nvGrpSpPr>
          <p:cNvPr id="3" name="Group 2">
            <a:extLst>
              <a:ext uri="{FF2B5EF4-FFF2-40B4-BE49-F238E27FC236}">
                <a16:creationId xmlns:a16="http://schemas.microsoft.com/office/drawing/2014/main" id="{A1D4118E-21D0-6CF5-C425-8C40E0DEDC2F}"/>
              </a:ext>
            </a:extLst>
          </p:cNvPr>
          <p:cNvGrpSpPr/>
          <p:nvPr/>
        </p:nvGrpSpPr>
        <p:grpSpPr>
          <a:xfrm>
            <a:off x="0" y="6544092"/>
            <a:ext cx="12192000" cy="313908"/>
            <a:chOff x="0" y="6544092"/>
            <a:chExt cx="12192000" cy="313908"/>
          </a:xfrm>
        </p:grpSpPr>
        <p:sp>
          <p:nvSpPr>
            <p:cNvPr id="6" name="Rectangle 5">
              <a:extLst>
                <a:ext uri="{FF2B5EF4-FFF2-40B4-BE49-F238E27FC236}">
                  <a16:creationId xmlns:a16="http://schemas.microsoft.com/office/drawing/2014/main" id="{2055A8E6-DBB3-13A4-1B82-3EB3EB7F4689}"/>
                </a:ext>
              </a:extLst>
            </p:cNvPr>
            <p:cNvSpPr/>
            <p:nvPr/>
          </p:nvSpPr>
          <p:spPr>
            <a:xfrm>
              <a:off x="0" y="6544092"/>
              <a:ext cx="12192000" cy="31390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7" name="TextBox 10">
              <a:extLst>
                <a:ext uri="{FF2B5EF4-FFF2-40B4-BE49-F238E27FC236}">
                  <a16:creationId xmlns:a16="http://schemas.microsoft.com/office/drawing/2014/main" id="{D313DC4E-AB52-AE42-AF4E-3B2926E63B79}"/>
                </a:ext>
              </a:extLst>
            </p:cNvPr>
            <p:cNvSpPr txBox="1"/>
            <p:nvPr/>
          </p:nvSpPr>
          <p:spPr>
            <a:xfrm>
              <a:off x="109932" y="6577518"/>
              <a:ext cx="2794997" cy="247055"/>
            </a:xfrm>
            <a:prstGeom prst="rect">
              <a:avLst/>
            </a:prstGeom>
            <a:noFill/>
          </p:spPr>
          <p:txBody>
            <a:bodyPr lIns="0" tIns="0" rIns="0" bIns="0" rtlCol="0" anchor="ctr">
              <a:spAutoFit/>
            </a:bodyPr>
            <a:lstStyle/>
            <a:p>
              <a:pPr algn="just">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ENGR. VIOLDAN E. BAYOCOT</a:t>
              </a:r>
            </a:p>
          </p:txBody>
        </p:sp>
        <p:sp>
          <p:nvSpPr>
            <p:cNvPr id="8" name="TextBox 7">
              <a:extLst>
                <a:ext uri="{FF2B5EF4-FFF2-40B4-BE49-F238E27FC236}">
                  <a16:creationId xmlns:a16="http://schemas.microsoft.com/office/drawing/2014/main" id="{E9ABDCDE-EC3B-5BE9-28FB-388CFD36D3B3}"/>
                </a:ext>
              </a:extLst>
            </p:cNvPr>
            <p:cNvSpPr txBox="1"/>
            <p:nvPr/>
          </p:nvSpPr>
          <p:spPr>
            <a:xfrm>
              <a:off x="3158929" y="6577518"/>
              <a:ext cx="5433668" cy="248145"/>
            </a:xfrm>
            <a:prstGeom prst="rect">
              <a:avLst/>
            </a:prstGeom>
            <a:noFill/>
          </p:spPr>
          <p:txBody>
            <a:bodyPr wrap="square" lIns="0" tIns="0" rIns="0" bIns="0" rtlCol="0" anchor="t">
              <a:spAutoFit/>
            </a:bodyPr>
            <a:lstStyle/>
            <a:p>
              <a:pPr algn="ct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[Krista K.] BECOME A PROBABILITY &amp; STATISTICS MASTER</a:t>
              </a:r>
            </a:p>
          </p:txBody>
        </p:sp>
        <p:sp>
          <p:nvSpPr>
            <p:cNvPr id="9" name="TextBox 8">
              <a:extLst>
                <a:ext uri="{FF2B5EF4-FFF2-40B4-BE49-F238E27FC236}">
                  <a16:creationId xmlns:a16="http://schemas.microsoft.com/office/drawing/2014/main" id="{84A16A37-A430-02F8-67F1-8F7EAC6209D9}"/>
                </a:ext>
              </a:extLst>
            </p:cNvPr>
            <p:cNvSpPr txBox="1"/>
            <p:nvPr/>
          </p:nvSpPr>
          <p:spPr>
            <a:xfrm>
              <a:off x="8387007" y="6577518"/>
              <a:ext cx="3701763" cy="248145"/>
            </a:xfrm>
            <a:prstGeom prst="rect">
              <a:avLst/>
            </a:prstGeom>
            <a:noFill/>
          </p:spPr>
          <p:txBody>
            <a:bodyPr wrap="square" lIns="0" tIns="0" rIns="0" bIns="0" rtlCol="0" anchor="t">
              <a:spAutoFit/>
            </a:bodyPr>
            <a:lstStyle/>
            <a:p>
              <a:pPr algn="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QUANTITATIVE METHODS</a:t>
              </a:r>
            </a:p>
          </p:txBody>
        </p:sp>
      </p:grpSp>
    </p:spTree>
    <p:extLst>
      <p:ext uri="{BB962C8B-B14F-4D97-AF65-F5344CB8AC3E}">
        <p14:creationId xmlns:p14="http://schemas.microsoft.com/office/powerpoint/2010/main" val="6396539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left)">
                                      <p:cBhvr>
                                        <p:cTn id="21" dur="500"/>
                                        <p:tgtEl>
                                          <p:spTgt spid="12"/>
                                        </p:tgtEl>
                                      </p:cBhvr>
                                    </p:animEffect>
                                  </p:childTnLst>
                                </p:cTn>
                              </p:par>
                            </p:childTnLst>
                          </p:cTn>
                        </p:par>
                        <p:par>
                          <p:cTn id="22" fill="hold">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left)">
                                      <p:cBhvr>
                                        <p:cTn id="25" dur="500"/>
                                        <p:tgtEl>
                                          <p:spTgt spid="13"/>
                                        </p:tgtEl>
                                      </p:cBhvr>
                                    </p:animEffect>
                                  </p:childTnLst>
                                </p:cTn>
                              </p:par>
                            </p:childTnLst>
                          </p:cTn>
                        </p:par>
                        <p:par>
                          <p:cTn id="26" fill="hold">
                            <p:stCondLst>
                              <p:cond delay="1500"/>
                            </p:stCondLst>
                            <p:childTnLst>
                              <p:par>
                                <p:cTn id="27" presetID="22" presetClass="entr" presetSubtype="8" fill="hold" grpId="0" nodeType="after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wipe(left)">
                                      <p:cBhvr>
                                        <p:cTn id="29" dur="500"/>
                                        <p:tgtEl>
                                          <p:spTgt spid="14"/>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32"/>
                                        </p:tgtEl>
                                        <p:attrNameLst>
                                          <p:attrName>style.visibility</p:attrName>
                                        </p:attrNameLst>
                                      </p:cBhvr>
                                      <p:to>
                                        <p:strVal val="visible"/>
                                      </p:to>
                                    </p:set>
                                    <p:animEffect transition="in" filter="wipe(up)">
                                      <p:cBhvr>
                                        <p:cTn id="34" dur="500"/>
                                        <p:tgtEl>
                                          <p:spTgt spid="32"/>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25"/>
                                        </p:tgtEl>
                                        <p:attrNameLst>
                                          <p:attrName>style.visibility</p:attrName>
                                        </p:attrNameLst>
                                      </p:cBhvr>
                                      <p:to>
                                        <p:strVal val="visible"/>
                                      </p:to>
                                    </p:set>
                                    <p:animEffect transition="in" filter="wipe(up)">
                                      <p:cBhvr>
                                        <p:cTn id="44" dur="500"/>
                                        <p:tgtEl>
                                          <p:spTgt spid="25"/>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grpId="0" nodeType="clickEffect">
                                  <p:stCondLst>
                                    <p:cond delay="0"/>
                                  </p:stCondLst>
                                  <p:childTnLst>
                                    <p:set>
                                      <p:cBhvr>
                                        <p:cTn id="48" dur="1" fill="hold">
                                          <p:stCondLst>
                                            <p:cond delay="0"/>
                                          </p:stCondLst>
                                        </p:cTn>
                                        <p:tgtEl>
                                          <p:spTgt spid="34"/>
                                        </p:tgtEl>
                                        <p:attrNameLst>
                                          <p:attrName>style.visibility</p:attrName>
                                        </p:attrNameLst>
                                      </p:cBhvr>
                                      <p:to>
                                        <p:strVal val="visible"/>
                                      </p:to>
                                    </p:set>
                                    <p:animEffect transition="in" filter="wipe(up)">
                                      <p:cBhvr>
                                        <p:cTn id="49" dur="500"/>
                                        <p:tgtEl>
                                          <p:spTgt spid="34"/>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1" fill="hold" grpId="0" nodeType="clickEffect">
                                  <p:stCondLst>
                                    <p:cond delay="0"/>
                                  </p:stCondLst>
                                  <p:childTnLst>
                                    <p:set>
                                      <p:cBhvr>
                                        <p:cTn id="53" dur="1" fill="hold">
                                          <p:stCondLst>
                                            <p:cond delay="0"/>
                                          </p:stCondLst>
                                        </p:cTn>
                                        <p:tgtEl>
                                          <p:spTgt spid="35"/>
                                        </p:tgtEl>
                                        <p:attrNameLst>
                                          <p:attrName>style.visibility</p:attrName>
                                        </p:attrNameLst>
                                      </p:cBhvr>
                                      <p:to>
                                        <p:strVal val="visible"/>
                                      </p:to>
                                    </p:set>
                                    <p:animEffect transition="in" filter="wipe(up)">
                                      <p:cBhvr>
                                        <p:cTn id="54" dur="500"/>
                                        <p:tgtEl>
                                          <p:spTgt spid="35"/>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1" fill="hold" grpId="0" nodeType="clickEffect">
                                  <p:stCondLst>
                                    <p:cond delay="0"/>
                                  </p:stCondLst>
                                  <p:childTnLst>
                                    <p:set>
                                      <p:cBhvr>
                                        <p:cTn id="58" dur="1" fill="hold">
                                          <p:stCondLst>
                                            <p:cond delay="0"/>
                                          </p:stCondLst>
                                        </p:cTn>
                                        <p:tgtEl>
                                          <p:spTgt spid="36"/>
                                        </p:tgtEl>
                                        <p:attrNameLst>
                                          <p:attrName>style.visibility</p:attrName>
                                        </p:attrNameLst>
                                      </p:cBhvr>
                                      <p:to>
                                        <p:strVal val="visible"/>
                                      </p:to>
                                    </p:set>
                                    <p:animEffect transition="in" filter="wipe(up)">
                                      <p:cBhvr>
                                        <p:cTn id="59" dur="500"/>
                                        <p:tgtEl>
                                          <p:spTgt spid="36"/>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1" fill="hold" grpId="0" nodeType="clickEffect">
                                  <p:stCondLst>
                                    <p:cond delay="0"/>
                                  </p:stCondLst>
                                  <p:childTnLst>
                                    <p:set>
                                      <p:cBhvr>
                                        <p:cTn id="63" dur="1" fill="hold">
                                          <p:stCondLst>
                                            <p:cond delay="0"/>
                                          </p:stCondLst>
                                        </p:cTn>
                                        <p:tgtEl>
                                          <p:spTgt spid="37"/>
                                        </p:tgtEl>
                                        <p:attrNameLst>
                                          <p:attrName>style.visibility</p:attrName>
                                        </p:attrNameLst>
                                      </p:cBhvr>
                                      <p:to>
                                        <p:strVal val="visible"/>
                                      </p:to>
                                    </p:set>
                                    <p:animEffect transition="in" filter="wipe(up)">
                                      <p:cBhvr>
                                        <p:cTn id="64" dur="500"/>
                                        <p:tgtEl>
                                          <p:spTgt spid="37"/>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1" fill="hold" grpId="0" nodeType="clickEffect">
                                  <p:stCondLst>
                                    <p:cond delay="0"/>
                                  </p:stCondLst>
                                  <p:childTnLst>
                                    <p:set>
                                      <p:cBhvr>
                                        <p:cTn id="68" dur="1" fill="hold">
                                          <p:stCondLst>
                                            <p:cond delay="0"/>
                                          </p:stCondLst>
                                        </p:cTn>
                                        <p:tgtEl>
                                          <p:spTgt spid="38"/>
                                        </p:tgtEl>
                                        <p:attrNameLst>
                                          <p:attrName>style.visibility</p:attrName>
                                        </p:attrNameLst>
                                      </p:cBhvr>
                                      <p:to>
                                        <p:strVal val="visible"/>
                                      </p:to>
                                    </p:set>
                                    <p:animEffect transition="in" filter="wipe(up)">
                                      <p:cBhvr>
                                        <p:cTn id="69"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32" grpId="0"/>
      <p:bldP spid="4" grpId="0"/>
      <p:bldP spid="5" grpId="0"/>
      <p:bldP spid="12" grpId="0"/>
      <p:bldP spid="13" grpId="0"/>
      <p:bldP spid="14" grpId="0"/>
      <p:bldP spid="23" grpId="0"/>
      <p:bldP spid="25" grpId="0"/>
      <p:bldP spid="34" grpId="0"/>
      <p:bldP spid="35" grpId="0"/>
      <p:bldP spid="36" grpId="0"/>
      <p:bldP spid="37" grpId="0"/>
      <p:bldP spid="3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DA934-D60B-92E4-5A9F-66DF26D3CE0E}"/>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5B4D656C-DEE0-6334-9B03-76B03C6DBFA0}"/>
              </a:ext>
            </a:extLst>
          </p:cNvPr>
          <p:cNvSpPr/>
          <p:nvPr/>
        </p:nvSpPr>
        <p:spPr>
          <a:xfrm>
            <a:off x="0" y="0"/>
            <a:ext cx="12192000" cy="548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sz="3000" b="1" dirty="0">
              <a:solidFill>
                <a:schemeClr val="tx1"/>
              </a:solidFill>
              <a:latin typeface="Times New Roman" panose="02020603050405020304" pitchFamily="18" charset="0"/>
              <a:cs typeface="Times New Roman" panose="02020603050405020304" pitchFamily="18" charset="0"/>
            </a:endParaRPr>
          </a:p>
        </p:txBody>
      </p:sp>
      <p:sp>
        <p:nvSpPr>
          <p:cNvPr id="2" name="Content Placeholder 2">
            <a:extLst>
              <a:ext uri="{FF2B5EF4-FFF2-40B4-BE49-F238E27FC236}">
                <a16:creationId xmlns:a16="http://schemas.microsoft.com/office/drawing/2014/main" id="{DAFD44C3-B74B-D90D-C266-28C8C783D9FF}"/>
              </a:ext>
            </a:extLst>
          </p:cNvPr>
          <p:cNvSpPr txBox="1">
            <a:spLocks/>
          </p:cNvSpPr>
          <p:nvPr/>
        </p:nvSpPr>
        <p:spPr>
          <a:xfrm>
            <a:off x="0" y="0"/>
            <a:ext cx="12191998" cy="548641"/>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PH" sz="3000" b="1" dirty="0">
                <a:solidFill>
                  <a:schemeClr val="bg1"/>
                </a:solidFill>
                <a:latin typeface="Times New Roman" panose="02020603050405020304" pitchFamily="18" charset="0"/>
                <a:cs typeface="Times New Roman" panose="02020603050405020304" pitchFamily="18" charset="0"/>
              </a:rPr>
              <a:t>CONSTRUCTION ONE-WAY TABLES</a:t>
            </a:r>
            <a:endParaRPr lang="en-PH" sz="3000" b="1" dirty="0">
              <a:solidFill>
                <a:schemeClr val="bg1"/>
              </a:solidFill>
              <a:latin typeface="Courier New" panose="02070309020205020404" pitchFamily="49" charset="0"/>
              <a:cs typeface="Courier New" panose="02070309020205020404" pitchFamily="49" charset="0"/>
            </a:endParaRPr>
          </a:p>
        </p:txBody>
      </p:sp>
      <p:sp>
        <p:nvSpPr>
          <p:cNvPr id="18" name="Subtitle 2">
            <a:extLst>
              <a:ext uri="{FF2B5EF4-FFF2-40B4-BE49-F238E27FC236}">
                <a16:creationId xmlns:a16="http://schemas.microsoft.com/office/drawing/2014/main" id="{F4C515E5-966D-57F7-007F-41662B24DD9E}"/>
              </a:ext>
            </a:extLst>
          </p:cNvPr>
          <p:cNvSpPr txBox="1">
            <a:spLocks/>
          </p:cNvSpPr>
          <p:nvPr/>
        </p:nvSpPr>
        <p:spPr>
          <a:xfrm>
            <a:off x="781335" y="665615"/>
            <a:ext cx="10843145" cy="428100"/>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dirty="0">
                <a:latin typeface="Times New Roman" panose="02020603050405020304" pitchFamily="18" charset="0"/>
                <a:cs typeface="Times New Roman" panose="02020603050405020304" pitchFamily="18" charset="0"/>
              </a:rPr>
              <a:t>When we construct a table, we want to think about whether we have more individuals or more variables.  </a:t>
            </a:r>
            <a:endParaRPr lang="en-US" sz="20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3764111F-63D0-DB67-958E-B6582B1E20AE}"/>
              </a:ext>
            </a:extLst>
          </p:cNvPr>
          <p:cNvSpPr txBox="1">
            <a:spLocks/>
          </p:cNvSpPr>
          <p:nvPr/>
        </p:nvSpPr>
        <p:spPr>
          <a:xfrm>
            <a:off x="781335" y="1210689"/>
            <a:ext cx="10843146" cy="571402"/>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dirty="0">
                <a:latin typeface="Times New Roman" panose="02020603050405020304" pitchFamily="18" charset="0"/>
                <a:cs typeface="Times New Roman" panose="02020603050405020304" pitchFamily="18" charset="0"/>
              </a:rPr>
              <a:t> If we have lots of variables but only a few individuals, it can be helpful to list the individuals across the top and the variables down the left side. </a:t>
            </a:r>
            <a:endParaRPr lang="en-US" sz="2000" b="1" dirty="0">
              <a:latin typeface="Times New Roman" panose="02020603050405020304" pitchFamily="18" charset="0"/>
              <a:cs typeface="Times New Roman" panose="02020603050405020304" pitchFamily="18" charset="0"/>
            </a:endParaRPr>
          </a:p>
        </p:txBody>
      </p:sp>
      <p:sp>
        <p:nvSpPr>
          <p:cNvPr id="16" name="Subtitle 2">
            <a:extLst>
              <a:ext uri="{FF2B5EF4-FFF2-40B4-BE49-F238E27FC236}">
                <a16:creationId xmlns:a16="http://schemas.microsoft.com/office/drawing/2014/main" id="{204743A5-D1F6-9ACF-7CC6-FF9B301C5864}"/>
              </a:ext>
            </a:extLst>
          </p:cNvPr>
          <p:cNvSpPr txBox="1">
            <a:spLocks/>
          </p:cNvSpPr>
          <p:nvPr/>
        </p:nvSpPr>
        <p:spPr>
          <a:xfrm>
            <a:off x="674426" y="2072537"/>
            <a:ext cx="10843146" cy="571402"/>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dirty="0">
                <a:latin typeface="Times New Roman" panose="02020603050405020304" pitchFamily="18" charset="0"/>
                <a:cs typeface="Times New Roman" panose="02020603050405020304" pitchFamily="18" charset="0"/>
              </a:rPr>
              <a:t>For example, if we’re comparing lots of information about two houses for  sale in the same neighborhood, we might make a table like this:</a:t>
            </a:r>
            <a:endParaRPr lang="en-US" sz="2000" b="1" dirty="0">
              <a:latin typeface="Times New Roman" panose="02020603050405020304" pitchFamily="18" charset="0"/>
              <a:cs typeface="Times New Roman" panose="02020603050405020304" pitchFamily="18" charset="0"/>
            </a:endParaRPr>
          </a:p>
        </p:txBody>
      </p:sp>
      <p:grpSp>
        <p:nvGrpSpPr>
          <p:cNvPr id="4" name="Group 3">
            <a:extLst>
              <a:ext uri="{FF2B5EF4-FFF2-40B4-BE49-F238E27FC236}">
                <a16:creationId xmlns:a16="http://schemas.microsoft.com/office/drawing/2014/main" id="{307E3174-A4A1-985E-994E-8C3D00D75A76}"/>
              </a:ext>
            </a:extLst>
          </p:cNvPr>
          <p:cNvGrpSpPr/>
          <p:nvPr/>
        </p:nvGrpSpPr>
        <p:grpSpPr>
          <a:xfrm>
            <a:off x="0" y="6544092"/>
            <a:ext cx="12192000" cy="313908"/>
            <a:chOff x="0" y="6544092"/>
            <a:chExt cx="12192000" cy="313908"/>
          </a:xfrm>
        </p:grpSpPr>
        <p:sp>
          <p:nvSpPr>
            <p:cNvPr id="5" name="Rectangle 4">
              <a:extLst>
                <a:ext uri="{FF2B5EF4-FFF2-40B4-BE49-F238E27FC236}">
                  <a16:creationId xmlns:a16="http://schemas.microsoft.com/office/drawing/2014/main" id="{9D03CA48-E89D-06F2-50F4-AFBF9BEA4630}"/>
                </a:ext>
              </a:extLst>
            </p:cNvPr>
            <p:cNvSpPr/>
            <p:nvPr/>
          </p:nvSpPr>
          <p:spPr>
            <a:xfrm>
              <a:off x="0" y="6544092"/>
              <a:ext cx="12192000" cy="31390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6" name="TextBox 10">
              <a:extLst>
                <a:ext uri="{FF2B5EF4-FFF2-40B4-BE49-F238E27FC236}">
                  <a16:creationId xmlns:a16="http://schemas.microsoft.com/office/drawing/2014/main" id="{1736B0CC-4D83-E4CE-B884-C2AE04B807F2}"/>
                </a:ext>
              </a:extLst>
            </p:cNvPr>
            <p:cNvSpPr txBox="1"/>
            <p:nvPr/>
          </p:nvSpPr>
          <p:spPr>
            <a:xfrm>
              <a:off x="109932" y="6577518"/>
              <a:ext cx="2794997" cy="247055"/>
            </a:xfrm>
            <a:prstGeom prst="rect">
              <a:avLst/>
            </a:prstGeom>
            <a:noFill/>
          </p:spPr>
          <p:txBody>
            <a:bodyPr lIns="0" tIns="0" rIns="0" bIns="0" rtlCol="0" anchor="ctr">
              <a:spAutoFit/>
            </a:bodyPr>
            <a:lstStyle/>
            <a:p>
              <a:pPr algn="just">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ENGR. VIOLDAN E. BAYOCOT</a:t>
              </a:r>
            </a:p>
          </p:txBody>
        </p:sp>
        <p:sp>
          <p:nvSpPr>
            <p:cNvPr id="7" name="TextBox 6">
              <a:extLst>
                <a:ext uri="{FF2B5EF4-FFF2-40B4-BE49-F238E27FC236}">
                  <a16:creationId xmlns:a16="http://schemas.microsoft.com/office/drawing/2014/main" id="{8F56C23A-228B-0935-9608-63E249F44940}"/>
                </a:ext>
              </a:extLst>
            </p:cNvPr>
            <p:cNvSpPr txBox="1"/>
            <p:nvPr/>
          </p:nvSpPr>
          <p:spPr>
            <a:xfrm>
              <a:off x="3158929" y="6577518"/>
              <a:ext cx="5433668" cy="248145"/>
            </a:xfrm>
            <a:prstGeom prst="rect">
              <a:avLst/>
            </a:prstGeom>
            <a:noFill/>
          </p:spPr>
          <p:txBody>
            <a:bodyPr wrap="square" lIns="0" tIns="0" rIns="0" bIns="0" rtlCol="0" anchor="t">
              <a:spAutoFit/>
            </a:bodyPr>
            <a:lstStyle/>
            <a:p>
              <a:pPr algn="ct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[Krista K.] BECOME A PROBABILITY &amp; STATISTICS MASTER</a:t>
              </a:r>
            </a:p>
          </p:txBody>
        </p:sp>
        <p:sp>
          <p:nvSpPr>
            <p:cNvPr id="8" name="TextBox 7">
              <a:extLst>
                <a:ext uri="{FF2B5EF4-FFF2-40B4-BE49-F238E27FC236}">
                  <a16:creationId xmlns:a16="http://schemas.microsoft.com/office/drawing/2014/main" id="{591EE212-5468-7E93-7D18-8F825FD29F1F}"/>
                </a:ext>
              </a:extLst>
            </p:cNvPr>
            <p:cNvSpPr txBox="1"/>
            <p:nvPr/>
          </p:nvSpPr>
          <p:spPr>
            <a:xfrm>
              <a:off x="8387007" y="6577518"/>
              <a:ext cx="3701763" cy="248145"/>
            </a:xfrm>
            <a:prstGeom prst="rect">
              <a:avLst/>
            </a:prstGeom>
            <a:noFill/>
          </p:spPr>
          <p:txBody>
            <a:bodyPr wrap="square" lIns="0" tIns="0" rIns="0" bIns="0" rtlCol="0" anchor="t">
              <a:spAutoFit/>
            </a:bodyPr>
            <a:lstStyle/>
            <a:p>
              <a:pPr algn="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QUANTITATIVE METHODS</a:t>
              </a:r>
            </a:p>
          </p:txBody>
        </p:sp>
      </p:grpSp>
    </p:spTree>
    <p:extLst>
      <p:ext uri="{BB962C8B-B14F-4D97-AF65-F5344CB8AC3E}">
        <p14:creationId xmlns:p14="http://schemas.microsoft.com/office/powerpoint/2010/main" val="9003868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3" grpId="0"/>
      <p:bldP spid="1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114CC-B2F8-FF4F-956B-61626542081A}"/>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D38485F3-4005-E0A3-B4E2-F435F98F8040}"/>
              </a:ext>
            </a:extLst>
          </p:cNvPr>
          <p:cNvSpPr/>
          <p:nvPr/>
        </p:nvSpPr>
        <p:spPr>
          <a:xfrm>
            <a:off x="0" y="0"/>
            <a:ext cx="12192000" cy="548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sz="3000" b="1" dirty="0">
              <a:solidFill>
                <a:schemeClr val="tx1"/>
              </a:solidFill>
              <a:latin typeface="Times New Roman" panose="02020603050405020304" pitchFamily="18" charset="0"/>
              <a:cs typeface="Times New Roman" panose="02020603050405020304" pitchFamily="18" charset="0"/>
            </a:endParaRPr>
          </a:p>
        </p:txBody>
      </p:sp>
      <p:sp>
        <p:nvSpPr>
          <p:cNvPr id="10" name="Content Placeholder 2">
            <a:extLst>
              <a:ext uri="{FF2B5EF4-FFF2-40B4-BE49-F238E27FC236}">
                <a16:creationId xmlns:a16="http://schemas.microsoft.com/office/drawing/2014/main" id="{EF8E3373-5D0B-B284-8C0B-5F9CA113839F}"/>
              </a:ext>
            </a:extLst>
          </p:cNvPr>
          <p:cNvSpPr txBox="1">
            <a:spLocks/>
          </p:cNvSpPr>
          <p:nvPr/>
        </p:nvSpPr>
        <p:spPr>
          <a:xfrm>
            <a:off x="0" y="0"/>
            <a:ext cx="12191998" cy="548641"/>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PH" sz="3000" b="1" dirty="0">
                <a:solidFill>
                  <a:schemeClr val="bg1"/>
                </a:solidFill>
                <a:latin typeface="Times New Roman" panose="02020603050405020304" pitchFamily="18" charset="0"/>
                <a:cs typeface="Times New Roman" panose="02020603050405020304" pitchFamily="18" charset="0"/>
              </a:rPr>
              <a:t>CONSTRUCTION ONE-WAY TABLES</a:t>
            </a:r>
            <a:endParaRPr lang="en-PH" sz="3000" b="1" dirty="0">
              <a:solidFill>
                <a:schemeClr val="bg1"/>
              </a:solidFill>
              <a:latin typeface="Courier New" panose="02070309020205020404" pitchFamily="49" charset="0"/>
              <a:cs typeface="Courier New" panose="02070309020205020404" pitchFamily="49" charset="0"/>
            </a:endParaRPr>
          </a:p>
        </p:txBody>
      </p:sp>
      <p:sp>
        <p:nvSpPr>
          <p:cNvPr id="17" name="Subtitle 2">
            <a:extLst>
              <a:ext uri="{FF2B5EF4-FFF2-40B4-BE49-F238E27FC236}">
                <a16:creationId xmlns:a16="http://schemas.microsoft.com/office/drawing/2014/main" id="{8C0B9F9B-3C41-D355-CC76-9F42853183E0}"/>
              </a:ext>
            </a:extLst>
          </p:cNvPr>
          <p:cNvSpPr txBox="1">
            <a:spLocks/>
          </p:cNvSpPr>
          <p:nvPr/>
        </p:nvSpPr>
        <p:spPr>
          <a:xfrm>
            <a:off x="608173" y="1230098"/>
            <a:ext cx="4347950" cy="1254811"/>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dirty="0">
                <a:latin typeface="Times New Roman" panose="02020603050405020304" pitchFamily="18" charset="0"/>
                <a:cs typeface="Times New Roman" panose="02020603050405020304" pitchFamily="18" charset="0"/>
              </a:rPr>
              <a:t>For example, if we’re comparing lots of information about two houses for  sale in the same neighborhood, we might make a table like this:</a:t>
            </a:r>
            <a:endParaRPr lang="en-US" sz="2000" b="1" dirty="0">
              <a:latin typeface="Times New Roman" panose="02020603050405020304" pitchFamily="18" charset="0"/>
              <a:cs typeface="Times New Roman" panose="02020603050405020304" pitchFamily="18" charset="0"/>
            </a:endParaRPr>
          </a:p>
        </p:txBody>
      </p:sp>
      <p:graphicFrame>
        <p:nvGraphicFramePr>
          <p:cNvPr id="19" name="Table 18">
            <a:extLst>
              <a:ext uri="{FF2B5EF4-FFF2-40B4-BE49-F238E27FC236}">
                <a16:creationId xmlns:a16="http://schemas.microsoft.com/office/drawing/2014/main" id="{6E163A41-7100-651E-0ECD-E6120FB4711C}"/>
              </a:ext>
            </a:extLst>
          </p:cNvPr>
          <p:cNvGraphicFramePr>
            <a:graphicFrameLocks noGrp="1"/>
          </p:cNvGraphicFramePr>
          <p:nvPr>
            <p:extLst>
              <p:ext uri="{D42A27DB-BD31-4B8C-83A1-F6EECF244321}">
                <p14:modId xmlns:p14="http://schemas.microsoft.com/office/powerpoint/2010/main" val="3059514619"/>
              </p:ext>
            </p:extLst>
          </p:nvPr>
        </p:nvGraphicFramePr>
        <p:xfrm>
          <a:off x="5297096" y="868680"/>
          <a:ext cx="6179821" cy="5120640"/>
        </p:xfrm>
        <a:graphic>
          <a:graphicData uri="http://schemas.openxmlformats.org/drawingml/2006/table">
            <a:tbl>
              <a:tblPr firstRow="1" bandRow="1">
                <a:tableStyleId>{073A0DAA-6AF3-43AB-8588-CEC1D06C72B9}</a:tableStyleId>
              </a:tblPr>
              <a:tblGrid>
                <a:gridCol w="2427190">
                  <a:extLst>
                    <a:ext uri="{9D8B030D-6E8A-4147-A177-3AD203B41FA5}">
                      <a16:colId xmlns:a16="http://schemas.microsoft.com/office/drawing/2014/main" val="3206533361"/>
                    </a:ext>
                  </a:extLst>
                </a:gridCol>
                <a:gridCol w="1690221">
                  <a:extLst>
                    <a:ext uri="{9D8B030D-6E8A-4147-A177-3AD203B41FA5}">
                      <a16:colId xmlns:a16="http://schemas.microsoft.com/office/drawing/2014/main" val="1195676913"/>
                    </a:ext>
                  </a:extLst>
                </a:gridCol>
                <a:gridCol w="2062410">
                  <a:extLst>
                    <a:ext uri="{9D8B030D-6E8A-4147-A177-3AD203B41FA5}">
                      <a16:colId xmlns:a16="http://schemas.microsoft.com/office/drawing/2014/main" val="3774165977"/>
                    </a:ext>
                  </a:extLst>
                </a:gridCol>
              </a:tblGrid>
              <a:tr h="177169">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317 Molave St</a:t>
                      </a:r>
                    </a:p>
                  </a:txBody>
                  <a:tcPr/>
                </a:tc>
                <a:tc>
                  <a:txBody>
                    <a:bodyPr/>
                    <a:lstStyle/>
                    <a:p>
                      <a:r>
                        <a:rPr lang="en-US" dirty="0">
                          <a:latin typeface="Times New Roman" panose="02020603050405020304" pitchFamily="18" charset="0"/>
                          <a:cs typeface="Times New Roman" panose="02020603050405020304" pitchFamily="18" charset="0"/>
                        </a:rPr>
                        <a:t>819 </a:t>
                      </a:r>
                      <a:r>
                        <a:rPr lang="en-US" dirty="0" err="1">
                          <a:latin typeface="Times New Roman" panose="02020603050405020304" pitchFamily="18" charset="0"/>
                          <a:cs typeface="Times New Roman" panose="02020603050405020304" pitchFamily="18" charset="0"/>
                        </a:rPr>
                        <a:t>Camagong</a:t>
                      </a:r>
                      <a:r>
                        <a:rPr lang="en-US" dirty="0">
                          <a:latin typeface="Times New Roman" panose="02020603050405020304" pitchFamily="18" charset="0"/>
                          <a:cs typeface="Times New Roman" panose="02020603050405020304" pitchFamily="18" charset="0"/>
                        </a:rPr>
                        <a:t> St</a:t>
                      </a:r>
                    </a:p>
                  </a:txBody>
                  <a:tcPr/>
                </a:tc>
                <a:extLst>
                  <a:ext uri="{0D108BD9-81ED-4DB2-BD59-A6C34878D82A}">
                    <a16:rowId xmlns:a16="http://schemas.microsoft.com/office/drawing/2014/main" val="127712952"/>
                  </a:ext>
                </a:extLst>
              </a:tr>
              <a:tr h="359490">
                <a:tc>
                  <a:txBody>
                    <a:bodyPr/>
                    <a:lstStyle/>
                    <a:p>
                      <a:pPr algn="ctr"/>
                      <a:r>
                        <a:rPr lang="en-US" b="1" dirty="0">
                          <a:latin typeface="Times New Roman" panose="02020603050405020304" pitchFamily="18" charset="0"/>
                          <a:cs typeface="Times New Roman" panose="02020603050405020304" pitchFamily="18" charset="0"/>
                        </a:rPr>
                        <a:t>Price</a:t>
                      </a:r>
                    </a:p>
                  </a:txBody>
                  <a:tcPr/>
                </a:tc>
                <a:tc>
                  <a:txBody>
                    <a:bodyPr/>
                    <a:lstStyle/>
                    <a:p>
                      <a:pPr algn="ctr"/>
                      <a:r>
                        <a:rPr lang="en-US" dirty="0"/>
                        <a:t>₱</a:t>
                      </a:r>
                      <a:r>
                        <a:rPr lang="en-US" dirty="0">
                          <a:latin typeface="Times New Roman" panose="02020603050405020304" pitchFamily="18" charset="0"/>
                          <a:cs typeface="Times New Roman" panose="02020603050405020304" pitchFamily="18" charset="0"/>
                        </a:rPr>
                        <a:t>16,800,000</a:t>
                      </a:r>
                    </a:p>
                  </a:txBody>
                  <a:tcPr/>
                </a:tc>
                <a:tc>
                  <a:txBody>
                    <a:bodyPr/>
                    <a:lstStyle/>
                    <a:p>
                      <a:pPr algn="ctr"/>
                      <a:r>
                        <a:rPr lang="en-US" dirty="0"/>
                        <a:t>₱</a:t>
                      </a:r>
                      <a:r>
                        <a:rPr lang="en-US" dirty="0">
                          <a:latin typeface="Times New Roman" panose="02020603050405020304" pitchFamily="18" charset="0"/>
                          <a:cs typeface="Times New Roman" panose="02020603050405020304" pitchFamily="18" charset="0"/>
                        </a:rPr>
                        <a:t>19,500,000</a:t>
                      </a:r>
                    </a:p>
                  </a:txBody>
                  <a:tcPr/>
                </a:tc>
                <a:extLst>
                  <a:ext uri="{0D108BD9-81ED-4DB2-BD59-A6C34878D82A}">
                    <a16:rowId xmlns:a16="http://schemas.microsoft.com/office/drawing/2014/main" val="2600262438"/>
                  </a:ext>
                </a:extLst>
              </a:tr>
              <a:tr h="359490">
                <a:tc>
                  <a:txBody>
                    <a:bodyPr/>
                    <a:lstStyle/>
                    <a:p>
                      <a:pPr algn="ctr"/>
                      <a:r>
                        <a:rPr lang="en-US" b="1" dirty="0">
                          <a:latin typeface="Times New Roman" panose="02020603050405020304" pitchFamily="18" charset="0"/>
                          <a:cs typeface="Times New Roman" panose="02020603050405020304" pitchFamily="18" charset="0"/>
                        </a:rPr>
                        <a:t>Square meter</a:t>
                      </a:r>
                    </a:p>
                  </a:txBody>
                  <a:tcPr/>
                </a:tc>
                <a:tc>
                  <a:txBody>
                    <a:bodyPr/>
                    <a:lstStyle/>
                    <a:p>
                      <a:pPr algn="ctr"/>
                      <a:r>
                        <a:rPr lang="en-US" dirty="0">
                          <a:latin typeface="Times New Roman" panose="02020603050405020304" pitchFamily="18" charset="0"/>
                          <a:cs typeface="Times New Roman" panose="02020603050405020304" pitchFamily="18" charset="0"/>
                        </a:rPr>
                        <a:t>339</a:t>
                      </a:r>
                    </a:p>
                  </a:txBody>
                  <a:tcPr/>
                </a:tc>
                <a:tc>
                  <a:txBody>
                    <a:bodyPr/>
                    <a:lstStyle/>
                    <a:p>
                      <a:pPr algn="ctr"/>
                      <a:r>
                        <a:rPr lang="en-US" dirty="0">
                          <a:latin typeface="Times New Roman" panose="02020603050405020304" pitchFamily="18" charset="0"/>
                          <a:cs typeface="Times New Roman" panose="02020603050405020304" pitchFamily="18" charset="0"/>
                        </a:rPr>
                        <a:t>354</a:t>
                      </a:r>
                    </a:p>
                  </a:txBody>
                  <a:tcPr/>
                </a:tc>
                <a:extLst>
                  <a:ext uri="{0D108BD9-81ED-4DB2-BD59-A6C34878D82A}">
                    <a16:rowId xmlns:a16="http://schemas.microsoft.com/office/drawing/2014/main" val="637864671"/>
                  </a:ext>
                </a:extLst>
              </a:tr>
              <a:tr h="359490">
                <a:tc>
                  <a:txBody>
                    <a:bodyPr/>
                    <a:lstStyle/>
                    <a:p>
                      <a:pPr algn="ctr"/>
                      <a:r>
                        <a:rPr lang="en-US" b="1" dirty="0">
                          <a:latin typeface="Times New Roman" panose="02020603050405020304" pitchFamily="18" charset="0"/>
                          <a:cs typeface="Times New Roman" panose="02020603050405020304" pitchFamily="18" charset="0"/>
                        </a:rPr>
                        <a:t>Price per square meter</a:t>
                      </a:r>
                    </a:p>
                  </a:txBody>
                  <a:tcPr/>
                </a:tc>
                <a:tc>
                  <a:txBody>
                    <a:bodyPr/>
                    <a:lstStyle/>
                    <a:p>
                      <a:pPr algn="ctr"/>
                      <a:r>
                        <a:rPr lang="en-US" dirty="0"/>
                        <a:t>₱</a:t>
                      </a:r>
                      <a:r>
                        <a:rPr lang="en-US" dirty="0">
                          <a:latin typeface="Times New Roman" panose="02020603050405020304" pitchFamily="18" charset="0"/>
                          <a:cs typeface="Times New Roman" panose="02020603050405020304" pitchFamily="18" charset="0"/>
                        </a:rPr>
                        <a:t>49,560</a:t>
                      </a:r>
                    </a:p>
                  </a:txBody>
                  <a:tcPr/>
                </a:tc>
                <a:tc>
                  <a:txBody>
                    <a:bodyPr/>
                    <a:lstStyle/>
                    <a:p>
                      <a:pPr algn="ctr"/>
                      <a:r>
                        <a:rPr lang="en-US" dirty="0"/>
                        <a:t>₱</a:t>
                      </a:r>
                      <a:r>
                        <a:rPr lang="en-US" dirty="0">
                          <a:latin typeface="Times New Roman" panose="02020603050405020304" pitchFamily="18" charset="0"/>
                          <a:cs typeface="Times New Roman" panose="02020603050405020304" pitchFamily="18" charset="0"/>
                        </a:rPr>
                        <a:t>55,085</a:t>
                      </a:r>
                    </a:p>
                  </a:txBody>
                  <a:tcPr/>
                </a:tc>
                <a:extLst>
                  <a:ext uri="{0D108BD9-81ED-4DB2-BD59-A6C34878D82A}">
                    <a16:rowId xmlns:a16="http://schemas.microsoft.com/office/drawing/2014/main" val="3990123916"/>
                  </a:ext>
                </a:extLst>
              </a:tr>
              <a:tr h="359490">
                <a:tc>
                  <a:txBody>
                    <a:bodyPr/>
                    <a:lstStyle/>
                    <a:p>
                      <a:pPr algn="ctr"/>
                      <a:r>
                        <a:rPr lang="en-US" b="1" dirty="0">
                          <a:latin typeface="Times New Roman" panose="02020603050405020304" pitchFamily="18" charset="0"/>
                          <a:cs typeface="Times New Roman" panose="02020603050405020304" pitchFamily="18" charset="0"/>
                        </a:rPr>
                        <a:t>Bedroom</a:t>
                      </a:r>
                    </a:p>
                  </a:txBody>
                  <a:tcPr/>
                </a:tc>
                <a:tc>
                  <a:txBody>
                    <a:bodyPr/>
                    <a:lstStyle/>
                    <a:p>
                      <a:pPr algn="ctr"/>
                      <a:r>
                        <a:rPr lang="en-US" dirty="0">
                          <a:latin typeface="Times New Roman" panose="02020603050405020304" pitchFamily="18" charset="0"/>
                          <a:cs typeface="Times New Roman" panose="02020603050405020304" pitchFamily="18" charset="0"/>
                        </a:rPr>
                        <a:t>4</a:t>
                      </a:r>
                    </a:p>
                  </a:txBody>
                  <a:tcPr/>
                </a:tc>
                <a:tc>
                  <a:txBody>
                    <a:bodyPr/>
                    <a:lstStyle/>
                    <a:p>
                      <a:pPr algn="ctr"/>
                      <a:r>
                        <a:rPr lang="en-US" dirty="0">
                          <a:latin typeface="Times New Roman" panose="02020603050405020304" pitchFamily="18" charset="0"/>
                          <a:cs typeface="Times New Roman" panose="02020603050405020304" pitchFamily="18" charset="0"/>
                        </a:rPr>
                        <a:t>5</a:t>
                      </a:r>
                    </a:p>
                  </a:txBody>
                  <a:tcPr/>
                </a:tc>
                <a:extLst>
                  <a:ext uri="{0D108BD9-81ED-4DB2-BD59-A6C34878D82A}">
                    <a16:rowId xmlns:a16="http://schemas.microsoft.com/office/drawing/2014/main" val="228393026"/>
                  </a:ext>
                </a:extLst>
              </a:tr>
              <a:tr h="359490">
                <a:tc>
                  <a:txBody>
                    <a:bodyPr/>
                    <a:lstStyle/>
                    <a:p>
                      <a:pPr algn="ctr"/>
                      <a:r>
                        <a:rPr lang="en-US" b="1" dirty="0">
                          <a:latin typeface="Times New Roman" panose="02020603050405020304" pitchFamily="18" charset="0"/>
                          <a:cs typeface="Times New Roman" panose="02020603050405020304" pitchFamily="18" charset="0"/>
                        </a:rPr>
                        <a:t>Bathrooms</a:t>
                      </a:r>
                    </a:p>
                  </a:txBody>
                  <a:tcPr/>
                </a:tc>
                <a:tc>
                  <a:txBody>
                    <a:bodyPr/>
                    <a:lstStyle/>
                    <a:p>
                      <a:pPr algn="ctr"/>
                      <a:r>
                        <a:rPr lang="en-US" dirty="0">
                          <a:latin typeface="Times New Roman" panose="02020603050405020304" pitchFamily="18" charset="0"/>
                          <a:cs typeface="Times New Roman" panose="02020603050405020304" pitchFamily="18" charset="0"/>
                        </a:rPr>
                        <a:t>3</a:t>
                      </a:r>
                    </a:p>
                  </a:txBody>
                  <a:tcPr/>
                </a:tc>
                <a:tc>
                  <a:txBody>
                    <a:bodyPr/>
                    <a:lstStyle/>
                    <a:p>
                      <a:pPr algn="ctr"/>
                      <a:r>
                        <a:rPr lang="en-US" dirty="0">
                          <a:latin typeface="Times New Roman" panose="02020603050405020304" pitchFamily="18" charset="0"/>
                          <a:cs typeface="Times New Roman" panose="02020603050405020304" pitchFamily="18" charset="0"/>
                        </a:rPr>
                        <a:t>3</a:t>
                      </a:r>
                    </a:p>
                  </a:txBody>
                  <a:tcPr/>
                </a:tc>
                <a:extLst>
                  <a:ext uri="{0D108BD9-81ED-4DB2-BD59-A6C34878D82A}">
                    <a16:rowId xmlns:a16="http://schemas.microsoft.com/office/drawing/2014/main" val="3953132985"/>
                  </a:ext>
                </a:extLst>
              </a:tr>
              <a:tr h="359490">
                <a:tc>
                  <a:txBody>
                    <a:bodyPr/>
                    <a:lstStyle/>
                    <a:p>
                      <a:pPr algn="ctr"/>
                      <a:r>
                        <a:rPr lang="en-US" b="1" dirty="0" err="1">
                          <a:latin typeface="Times New Roman" panose="02020603050405020304" pitchFamily="18" charset="0"/>
                          <a:cs typeface="Times New Roman" panose="02020603050405020304" pitchFamily="18" charset="0"/>
                        </a:rPr>
                        <a:t>Storeys</a:t>
                      </a:r>
                      <a:endParaRPr lang="en-US" b="1"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3</a:t>
                      </a:r>
                    </a:p>
                  </a:txBody>
                  <a:tcPr/>
                </a:tc>
                <a:tc>
                  <a:txBody>
                    <a:bodyPr/>
                    <a:lstStyle/>
                    <a:p>
                      <a:pPr algn="ctr"/>
                      <a:r>
                        <a:rPr lang="en-US" dirty="0">
                          <a:latin typeface="Times New Roman" panose="02020603050405020304" pitchFamily="18" charset="0"/>
                          <a:cs typeface="Times New Roman" panose="02020603050405020304" pitchFamily="18" charset="0"/>
                        </a:rPr>
                        <a:t>2</a:t>
                      </a:r>
                    </a:p>
                  </a:txBody>
                  <a:tcPr/>
                </a:tc>
                <a:extLst>
                  <a:ext uri="{0D108BD9-81ED-4DB2-BD59-A6C34878D82A}">
                    <a16:rowId xmlns:a16="http://schemas.microsoft.com/office/drawing/2014/main" val="4094105477"/>
                  </a:ext>
                </a:extLst>
              </a:tr>
              <a:tr h="359490">
                <a:tc>
                  <a:txBody>
                    <a:bodyPr/>
                    <a:lstStyle/>
                    <a:p>
                      <a:pPr algn="ctr"/>
                      <a:r>
                        <a:rPr lang="en-US" b="1" dirty="0">
                          <a:latin typeface="Times New Roman" panose="02020603050405020304" pitchFamily="18" charset="0"/>
                          <a:cs typeface="Times New Roman" panose="02020603050405020304" pitchFamily="18" charset="0"/>
                        </a:rPr>
                        <a:t>Basement</a:t>
                      </a:r>
                    </a:p>
                  </a:txBody>
                  <a:tcPr/>
                </a:tc>
                <a:tc>
                  <a:txBody>
                    <a:bodyPr/>
                    <a:lstStyle/>
                    <a:p>
                      <a:pPr algn="ctr"/>
                      <a:r>
                        <a:rPr lang="en-US" dirty="0">
                          <a:latin typeface="Times New Roman" panose="02020603050405020304" pitchFamily="18" charset="0"/>
                          <a:cs typeface="Times New Roman" panose="02020603050405020304" pitchFamily="18" charset="0"/>
                        </a:rPr>
                        <a:t>Finished</a:t>
                      </a:r>
                    </a:p>
                  </a:txBody>
                  <a:tcPr/>
                </a:tc>
                <a:tc>
                  <a:txBody>
                    <a:bodyPr/>
                    <a:lstStyle/>
                    <a:p>
                      <a:pPr algn="ctr"/>
                      <a:r>
                        <a:rPr lang="en-US" dirty="0">
                          <a:latin typeface="Times New Roman" panose="02020603050405020304" pitchFamily="18" charset="0"/>
                          <a:cs typeface="Times New Roman" panose="02020603050405020304" pitchFamily="18" charset="0"/>
                        </a:rPr>
                        <a:t>Unfinished</a:t>
                      </a:r>
                    </a:p>
                  </a:txBody>
                  <a:tcPr/>
                </a:tc>
                <a:extLst>
                  <a:ext uri="{0D108BD9-81ED-4DB2-BD59-A6C34878D82A}">
                    <a16:rowId xmlns:a16="http://schemas.microsoft.com/office/drawing/2014/main" val="4090079762"/>
                  </a:ext>
                </a:extLst>
              </a:tr>
              <a:tr h="359490">
                <a:tc>
                  <a:txBody>
                    <a:bodyPr/>
                    <a:lstStyle/>
                    <a:p>
                      <a:pPr algn="ctr"/>
                      <a:r>
                        <a:rPr lang="en-US" b="1" dirty="0">
                          <a:latin typeface="Times New Roman" panose="02020603050405020304" pitchFamily="18" charset="0"/>
                          <a:cs typeface="Times New Roman" panose="02020603050405020304" pitchFamily="18" charset="0"/>
                        </a:rPr>
                        <a:t>Garage Spaces</a:t>
                      </a:r>
                    </a:p>
                  </a:txBody>
                  <a:tcPr/>
                </a:tc>
                <a:tc>
                  <a:txBody>
                    <a:bodyPr/>
                    <a:lstStyle/>
                    <a:p>
                      <a:pPr algn="ctr"/>
                      <a:r>
                        <a:rPr lang="en-US" dirty="0">
                          <a:latin typeface="Times New Roman" panose="02020603050405020304" pitchFamily="18" charset="0"/>
                          <a:cs typeface="Times New Roman" panose="02020603050405020304" pitchFamily="18" charset="0"/>
                        </a:rPr>
                        <a:t>3</a:t>
                      </a:r>
                    </a:p>
                  </a:txBody>
                  <a:tcPr/>
                </a:tc>
                <a:tc>
                  <a:txBody>
                    <a:bodyPr/>
                    <a:lstStyle/>
                    <a:p>
                      <a:pPr algn="ctr"/>
                      <a:r>
                        <a:rPr lang="en-US" dirty="0">
                          <a:latin typeface="Times New Roman" panose="02020603050405020304" pitchFamily="18" charset="0"/>
                          <a:cs typeface="Times New Roman" panose="02020603050405020304" pitchFamily="18" charset="0"/>
                        </a:rPr>
                        <a:t>2</a:t>
                      </a:r>
                    </a:p>
                  </a:txBody>
                  <a:tcPr/>
                </a:tc>
                <a:extLst>
                  <a:ext uri="{0D108BD9-81ED-4DB2-BD59-A6C34878D82A}">
                    <a16:rowId xmlns:a16="http://schemas.microsoft.com/office/drawing/2014/main" val="3725549235"/>
                  </a:ext>
                </a:extLst>
              </a:tr>
              <a:tr h="359490">
                <a:tc>
                  <a:txBody>
                    <a:bodyPr/>
                    <a:lstStyle/>
                    <a:p>
                      <a:pPr algn="ctr"/>
                      <a:r>
                        <a:rPr lang="en-US" b="1" dirty="0">
                          <a:latin typeface="Times New Roman" panose="02020603050405020304" pitchFamily="18" charset="0"/>
                          <a:cs typeface="Times New Roman" panose="02020603050405020304" pitchFamily="18" charset="0"/>
                        </a:rPr>
                        <a:t>Lot area (sqm)</a:t>
                      </a:r>
                    </a:p>
                  </a:txBody>
                  <a:tcPr/>
                </a:tc>
                <a:tc>
                  <a:txBody>
                    <a:bodyPr/>
                    <a:lstStyle/>
                    <a:p>
                      <a:pPr algn="ctr"/>
                      <a:r>
                        <a:rPr lang="en-US" dirty="0">
                          <a:latin typeface="Times New Roman" panose="02020603050405020304" pitchFamily="18" charset="0"/>
                          <a:cs typeface="Times New Roman" panose="02020603050405020304" pitchFamily="18" charset="0"/>
                        </a:rPr>
                        <a:t>300</a:t>
                      </a:r>
                    </a:p>
                  </a:txBody>
                  <a:tcPr/>
                </a:tc>
                <a:tc>
                  <a:txBody>
                    <a:bodyPr/>
                    <a:lstStyle/>
                    <a:p>
                      <a:pPr algn="ctr"/>
                      <a:r>
                        <a:rPr lang="en-US" dirty="0">
                          <a:latin typeface="Times New Roman" panose="02020603050405020304" pitchFamily="18" charset="0"/>
                          <a:cs typeface="Times New Roman" panose="02020603050405020304" pitchFamily="18" charset="0"/>
                        </a:rPr>
                        <a:t>288</a:t>
                      </a:r>
                    </a:p>
                  </a:txBody>
                  <a:tcPr/>
                </a:tc>
                <a:extLst>
                  <a:ext uri="{0D108BD9-81ED-4DB2-BD59-A6C34878D82A}">
                    <a16:rowId xmlns:a16="http://schemas.microsoft.com/office/drawing/2014/main" val="1271378287"/>
                  </a:ext>
                </a:extLst>
              </a:tr>
              <a:tr h="359490">
                <a:tc>
                  <a:txBody>
                    <a:bodyPr/>
                    <a:lstStyle/>
                    <a:p>
                      <a:pPr algn="ctr"/>
                      <a:r>
                        <a:rPr lang="en-US" b="1" dirty="0">
                          <a:latin typeface="Times New Roman" panose="02020603050405020304" pitchFamily="18" charset="0"/>
                          <a:cs typeface="Times New Roman" panose="02020603050405020304" pitchFamily="18" charset="0"/>
                        </a:rPr>
                        <a:t>Grass Backyard</a:t>
                      </a:r>
                    </a:p>
                  </a:txBody>
                  <a:tcPr/>
                </a:tc>
                <a:tc>
                  <a:txBody>
                    <a:bodyPr/>
                    <a:lstStyle/>
                    <a:p>
                      <a:pPr algn="ctr"/>
                      <a:r>
                        <a:rPr lang="en-US" dirty="0">
                          <a:latin typeface="Times New Roman" panose="02020603050405020304" pitchFamily="18" charset="0"/>
                          <a:cs typeface="Times New Roman" panose="02020603050405020304" pitchFamily="18" charset="0"/>
                        </a:rPr>
                        <a:t>Yes</a:t>
                      </a:r>
                    </a:p>
                  </a:txBody>
                  <a:tcPr/>
                </a:tc>
                <a:tc>
                  <a:txBody>
                    <a:bodyPr/>
                    <a:lstStyle/>
                    <a:p>
                      <a:pPr algn="ctr"/>
                      <a:r>
                        <a:rPr lang="en-US" dirty="0">
                          <a:latin typeface="Times New Roman" panose="02020603050405020304" pitchFamily="18" charset="0"/>
                          <a:cs typeface="Times New Roman" panose="02020603050405020304" pitchFamily="18" charset="0"/>
                        </a:rPr>
                        <a:t>Yes</a:t>
                      </a:r>
                    </a:p>
                  </a:txBody>
                  <a:tcPr/>
                </a:tc>
                <a:extLst>
                  <a:ext uri="{0D108BD9-81ED-4DB2-BD59-A6C34878D82A}">
                    <a16:rowId xmlns:a16="http://schemas.microsoft.com/office/drawing/2014/main" val="4250036546"/>
                  </a:ext>
                </a:extLst>
              </a:tr>
              <a:tr h="359490">
                <a:tc>
                  <a:txBody>
                    <a:bodyPr/>
                    <a:lstStyle/>
                    <a:p>
                      <a:pPr algn="ctr"/>
                      <a:r>
                        <a:rPr lang="en-US" b="1" dirty="0">
                          <a:latin typeface="Times New Roman" panose="02020603050405020304" pitchFamily="18" charset="0"/>
                          <a:cs typeface="Times New Roman" panose="02020603050405020304" pitchFamily="18" charset="0"/>
                        </a:rPr>
                        <a:t>Year built</a:t>
                      </a:r>
                    </a:p>
                  </a:txBody>
                  <a:tcPr/>
                </a:tc>
                <a:tc>
                  <a:txBody>
                    <a:bodyPr/>
                    <a:lstStyle/>
                    <a:p>
                      <a:pPr algn="ctr"/>
                      <a:r>
                        <a:rPr lang="en-US" dirty="0">
                          <a:latin typeface="Times New Roman" panose="02020603050405020304" pitchFamily="18" charset="0"/>
                          <a:cs typeface="Times New Roman" panose="02020603050405020304" pitchFamily="18" charset="0"/>
                        </a:rPr>
                        <a:t>2005</a:t>
                      </a:r>
                    </a:p>
                  </a:txBody>
                  <a:tcPr/>
                </a:tc>
                <a:tc>
                  <a:txBody>
                    <a:bodyPr/>
                    <a:lstStyle/>
                    <a:p>
                      <a:pPr algn="ctr"/>
                      <a:r>
                        <a:rPr lang="en-US" dirty="0">
                          <a:latin typeface="Times New Roman" panose="02020603050405020304" pitchFamily="18" charset="0"/>
                          <a:cs typeface="Times New Roman" panose="02020603050405020304" pitchFamily="18" charset="0"/>
                        </a:rPr>
                        <a:t>2018</a:t>
                      </a:r>
                    </a:p>
                  </a:txBody>
                  <a:tcPr/>
                </a:tc>
                <a:extLst>
                  <a:ext uri="{0D108BD9-81ED-4DB2-BD59-A6C34878D82A}">
                    <a16:rowId xmlns:a16="http://schemas.microsoft.com/office/drawing/2014/main" val="3329259219"/>
                  </a:ext>
                </a:extLst>
              </a:tr>
              <a:tr h="359490">
                <a:tc>
                  <a:txBody>
                    <a:bodyPr/>
                    <a:lstStyle/>
                    <a:p>
                      <a:pPr algn="ctr"/>
                      <a:r>
                        <a:rPr lang="en-US" b="1" dirty="0">
                          <a:latin typeface="Times New Roman" panose="02020603050405020304" pitchFamily="18" charset="0"/>
                          <a:cs typeface="Times New Roman" panose="02020603050405020304" pitchFamily="18" charset="0"/>
                        </a:rPr>
                        <a:t>Property Tax</a:t>
                      </a:r>
                    </a:p>
                  </a:txBody>
                  <a:tcPr/>
                </a:tc>
                <a:tc>
                  <a:txBody>
                    <a:bodyPr/>
                    <a:lstStyle/>
                    <a:p>
                      <a:pPr algn="ctr"/>
                      <a:r>
                        <a:rPr lang="en-US" dirty="0"/>
                        <a:t>₱</a:t>
                      </a:r>
                      <a:r>
                        <a:rPr lang="en-US" dirty="0">
                          <a:latin typeface="Times New Roman" panose="02020603050405020304" pitchFamily="18" charset="0"/>
                          <a:cs typeface="Times New Roman" panose="02020603050405020304" pitchFamily="18" charset="0"/>
                        </a:rPr>
                        <a:t>18,500</a:t>
                      </a:r>
                    </a:p>
                  </a:txBody>
                  <a:tcPr/>
                </a:tc>
                <a:tc>
                  <a:txBody>
                    <a:bodyPr/>
                    <a:lstStyle/>
                    <a:p>
                      <a:pPr algn="ctr"/>
                      <a:r>
                        <a:rPr lang="en-US" dirty="0"/>
                        <a:t>₱</a:t>
                      </a:r>
                      <a:r>
                        <a:rPr lang="en-US" dirty="0">
                          <a:latin typeface="Times New Roman" panose="02020603050405020304" pitchFamily="18" charset="0"/>
                          <a:cs typeface="Times New Roman" panose="02020603050405020304" pitchFamily="18" charset="0"/>
                        </a:rPr>
                        <a:t>22,000</a:t>
                      </a:r>
                    </a:p>
                  </a:txBody>
                  <a:tcPr/>
                </a:tc>
                <a:extLst>
                  <a:ext uri="{0D108BD9-81ED-4DB2-BD59-A6C34878D82A}">
                    <a16:rowId xmlns:a16="http://schemas.microsoft.com/office/drawing/2014/main" val="3427352718"/>
                  </a:ext>
                </a:extLst>
              </a:tr>
              <a:tr h="359490">
                <a:tc>
                  <a:txBody>
                    <a:bodyPr/>
                    <a:lstStyle/>
                    <a:p>
                      <a:pPr algn="ctr"/>
                      <a:r>
                        <a:rPr lang="en-US" b="1" dirty="0">
                          <a:latin typeface="Times New Roman" panose="02020603050405020304" pitchFamily="18" charset="0"/>
                          <a:cs typeface="Times New Roman" panose="02020603050405020304" pitchFamily="18" charset="0"/>
                        </a:rPr>
                        <a:t>Payment</a:t>
                      </a:r>
                    </a:p>
                  </a:txBody>
                  <a:tcPr/>
                </a:tc>
                <a:tc>
                  <a:txBody>
                    <a:bodyPr/>
                    <a:lstStyle/>
                    <a:p>
                      <a:pPr algn="ctr"/>
                      <a:r>
                        <a:rPr lang="en-US" dirty="0"/>
                        <a:t>₱</a:t>
                      </a:r>
                      <a:r>
                        <a:rPr lang="en-US" dirty="0">
                          <a:latin typeface="Times New Roman" panose="02020603050405020304" pitchFamily="18" charset="0"/>
                          <a:cs typeface="Times New Roman" panose="02020603050405020304" pitchFamily="18" charset="0"/>
                        </a:rPr>
                        <a:t>78,000</a:t>
                      </a:r>
                    </a:p>
                  </a:txBody>
                  <a:tcPr/>
                </a:tc>
                <a:tc>
                  <a:txBody>
                    <a:bodyPr/>
                    <a:lstStyle/>
                    <a:p>
                      <a:pPr algn="ctr"/>
                      <a:r>
                        <a:rPr lang="en-US" dirty="0"/>
                        <a:t>₱</a:t>
                      </a:r>
                      <a:r>
                        <a:rPr lang="en-US" dirty="0">
                          <a:latin typeface="Times New Roman" panose="02020603050405020304" pitchFamily="18" charset="0"/>
                          <a:cs typeface="Times New Roman" panose="02020603050405020304" pitchFamily="18" charset="0"/>
                        </a:rPr>
                        <a:t>72,000</a:t>
                      </a:r>
                    </a:p>
                  </a:txBody>
                  <a:tcPr/>
                </a:tc>
                <a:extLst>
                  <a:ext uri="{0D108BD9-81ED-4DB2-BD59-A6C34878D82A}">
                    <a16:rowId xmlns:a16="http://schemas.microsoft.com/office/drawing/2014/main" val="3459345808"/>
                  </a:ext>
                </a:extLst>
              </a:tr>
            </a:tbl>
          </a:graphicData>
        </a:graphic>
      </p:graphicFrame>
      <p:sp>
        <p:nvSpPr>
          <p:cNvPr id="13" name="Subtitle 2">
            <a:extLst>
              <a:ext uri="{FF2B5EF4-FFF2-40B4-BE49-F238E27FC236}">
                <a16:creationId xmlns:a16="http://schemas.microsoft.com/office/drawing/2014/main" id="{568B7234-7E07-4A0B-A404-6182D13452D9}"/>
              </a:ext>
            </a:extLst>
          </p:cNvPr>
          <p:cNvSpPr txBox="1">
            <a:spLocks/>
          </p:cNvSpPr>
          <p:nvPr/>
        </p:nvSpPr>
        <p:spPr>
          <a:xfrm>
            <a:off x="608173" y="2918959"/>
            <a:ext cx="4347950" cy="627406"/>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dirty="0">
                <a:latin typeface="Times New Roman" panose="02020603050405020304" pitchFamily="18" charset="0"/>
                <a:cs typeface="Times New Roman" panose="02020603050405020304" pitchFamily="18" charset="0"/>
              </a:rPr>
              <a:t>All the variables are listed down the left side of the table. </a:t>
            </a:r>
            <a:endParaRPr lang="en-US" sz="2000" b="1" dirty="0">
              <a:latin typeface="Times New Roman" panose="02020603050405020304" pitchFamily="18" charset="0"/>
              <a:cs typeface="Times New Roman" panose="02020603050405020304" pitchFamily="18" charset="0"/>
            </a:endParaRPr>
          </a:p>
        </p:txBody>
      </p:sp>
      <p:sp>
        <p:nvSpPr>
          <p:cNvPr id="14" name="Subtitle 2">
            <a:extLst>
              <a:ext uri="{FF2B5EF4-FFF2-40B4-BE49-F238E27FC236}">
                <a16:creationId xmlns:a16="http://schemas.microsoft.com/office/drawing/2014/main" id="{22FD723E-0A13-4CD6-BCD0-0A9ACF2FEF11}"/>
              </a:ext>
            </a:extLst>
          </p:cNvPr>
          <p:cNvSpPr txBox="1">
            <a:spLocks/>
          </p:cNvSpPr>
          <p:nvPr/>
        </p:nvSpPr>
        <p:spPr>
          <a:xfrm>
            <a:off x="608173" y="3983773"/>
            <a:ext cx="4347950" cy="1536085"/>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dirty="0">
                <a:latin typeface="Times New Roman" panose="02020603050405020304" pitchFamily="18" charset="0"/>
                <a:cs typeface="Times New Roman" panose="02020603050405020304" pitchFamily="18" charset="0"/>
              </a:rPr>
              <a:t>Since there are so many more variables than individuals,  listing the variables vertically makes the table fit better on paper than if we  had tried to list all the variables horizontally.</a:t>
            </a:r>
            <a:endParaRPr lang="en-US" sz="2000" b="1" dirty="0">
              <a:latin typeface="Times New Roman" panose="02020603050405020304" pitchFamily="18" charset="0"/>
              <a:cs typeface="Times New Roman" panose="02020603050405020304" pitchFamily="18" charset="0"/>
            </a:endParaRPr>
          </a:p>
        </p:txBody>
      </p:sp>
      <p:grpSp>
        <p:nvGrpSpPr>
          <p:cNvPr id="2" name="Group 1">
            <a:extLst>
              <a:ext uri="{FF2B5EF4-FFF2-40B4-BE49-F238E27FC236}">
                <a16:creationId xmlns:a16="http://schemas.microsoft.com/office/drawing/2014/main" id="{85BB9033-4977-E51D-57B0-297BD66CAB75}"/>
              </a:ext>
            </a:extLst>
          </p:cNvPr>
          <p:cNvGrpSpPr/>
          <p:nvPr/>
        </p:nvGrpSpPr>
        <p:grpSpPr>
          <a:xfrm>
            <a:off x="0" y="6544092"/>
            <a:ext cx="12192000" cy="313908"/>
            <a:chOff x="0" y="6544092"/>
            <a:chExt cx="12192000" cy="313908"/>
          </a:xfrm>
        </p:grpSpPr>
        <p:sp>
          <p:nvSpPr>
            <p:cNvPr id="3" name="Rectangle 2">
              <a:extLst>
                <a:ext uri="{FF2B5EF4-FFF2-40B4-BE49-F238E27FC236}">
                  <a16:creationId xmlns:a16="http://schemas.microsoft.com/office/drawing/2014/main" id="{24B7448A-58C5-91D0-B4EB-DDEB5368F7DC}"/>
                </a:ext>
              </a:extLst>
            </p:cNvPr>
            <p:cNvSpPr/>
            <p:nvPr/>
          </p:nvSpPr>
          <p:spPr>
            <a:xfrm>
              <a:off x="0" y="6544092"/>
              <a:ext cx="12192000" cy="31390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4" name="TextBox 10">
              <a:extLst>
                <a:ext uri="{FF2B5EF4-FFF2-40B4-BE49-F238E27FC236}">
                  <a16:creationId xmlns:a16="http://schemas.microsoft.com/office/drawing/2014/main" id="{3E037883-EFE0-A4B5-0619-B0141286541D}"/>
                </a:ext>
              </a:extLst>
            </p:cNvPr>
            <p:cNvSpPr txBox="1"/>
            <p:nvPr/>
          </p:nvSpPr>
          <p:spPr>
            <a:xfrm>
              <a:off x="109932" y="6577518"/>
              <a:ext cx="2794997" cy="247055"/>
            </a:xfrm>
            <a:prstGeom prst="rect">
              <a:avLst/>
            </a:prstGeom>
            <a:noFill/>
          </p:spPr>
          <p:txBody>
            <a:bodyPr lIns="0" tIns="0" rIns="0" bIns="0" rtlCol="0" anchor="ctr">
              <a:spAutoFit/>
            </a:bodyPr>
            <a:lstStyle/>
            <a:p>
              <a:pPr algn="just">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ENGR. VIOLDAN E. BAYOCOT</a:t>
              </a:r>
            </a:p>
          </p:txBody>
        </p:sp>
        <p:sp>
          <p:nvSpPr>
            <p:cNvPr id="5" name="TextBox 4">
              <a:extLst>
                <a:ext uri="{FF2B5EF4-FFF2-40B4-BE49-F238E27FC236}">
                  <a16:creationId xmlns:a16="http://schemas.microsoft.com/office/drawing/2014/main" id="{6522F5EE-2B8B-2369-0760-98F2895C771E}"/>
                </a:ext>
              </a:extLst>
            </p:cNvPr>
            <p:cNvSpPr txBox="1"/>
            <p:nvPr/>
          </p:nvSpPr>
          <p:spPr>
            <a:xfrm>
              <a:off x="3158929" y="6577518"/>
              <a:ext cx="5433668" cy="248145"/>
            </a:xfrm>
            <a:prstGeom prst="rect">
              <a:avLst/>
            </a:prstGeom>
            <a:noFill/>
          </p:spPr>
          <p:txBody>
            <a:bodyPr wrap="square" lIns="0" tIns="0" rIns="0" bIns="0" rtlCol="0" anchor="t">
              <a:spAutoFit/>
            </a:bodyPr>
            <a:lstStyle/>
            <a:p>
              <a:pPr algn="ct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[Krista K.] BECOME A PROBABILITY &amp; STATISTICS MASTER</a:t>
              </a:r>
            </a:p>
          </p:txBody>
        </p:sp>
        <p:sp>
          <p:nvSpPr>
            <p:cNvPr id="6" name="TextBox 5">
              <a:extLst>
                <a:ext uri="{FF2B5EF4-FFF2-40B4-BE49-F238E27FC236}">
                  <a16:creationId xmlns:a16="http://schemas.microsoft.com/office/drawing/2014/main" id="{2260B50F-508F-7675-1745-50E195FE6E3E}"/>
                </a:ext>
              </a:extLst>
            </p:cNvPr>
            <p:cNvSpPr txBox="1"/>
            <p:nvPr/>
          </p:nvSpPr>
          <p:spPr>
            <a:xfrm>
              <a:off x="8387007" y="6577518"/>
              <a:ext cx="3701763" cy="248145"/>
            </a:xfrm>
            <a:prstGeom prst="rect">
              <a:avLst/>
            </a:prstGeom>
            <a:noFill/>
          </p:spPr>
          <p:txBody>
            <a:bodyPr wrap="square" lIns="0" tIns="0" rIns="0" bIns="0" rtlCol="0" anchor="t">
              <a:spAutoFit/>
            </a:bodyPr>
            <a:lstStyle/>
            <a:p>
              <a:pPr algn="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QUANTITATIVE METHODS</a:t>
              </a:r>
            </a:p>
          </p:txBody>
        </p:sp>
      </p:grpSp>
    </p:spTree>
    <p:extLst>
      <p:ext uri="{BB962C8B-B14F-4D97-AF65-F5344CB8AC3E}">
        <p14:creationId xmlns:p14="http://schemas.microsoft.com/office/powerpoint/2010/main" val="26324639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C2CFA-3CCA-2B46-5856-4F51CEE22C5A}"/>
            </a:ext>
          </a:extLst>
        </p:cNvPr>
        <p:cNvGrpSpPr/>
        <p:nvPr/>
      </p:nvGrpSpPr>
      <p:grpSpPr>
        <a:xfrm>
          <a:off x="0" y="0"/>
          <a:ext cx="0" cy="0"/>
          <a:chOff x="0" y="0"/>
          <a:chExt cx="0" cy="0"/>
        </a:xfrm>
      </p:grpSpPr>
      <p:pic>
        <p:nvPicPr>
          <p:cNvPr id="30" name="Picture 29">
            <a:extLst>
              <a:ext uri="{FF2B5EF4-FFF2-40B4-BE49-F238E27FC236}">
                <a16:creationId xmlns:a16="http://schemas.microsoft.com/office/drawing/2014/main" id="{7D212A04-15BA-F625-CAC1-ED8464D3FB61}"/>
              </a:ext>
            </a:extLst>
          </p:cNvPr>
          <p:cNvPicPr>
            <a:picLocks noChangeAspect="1"/>
          </p:cNvPicPr>
          <p:nvPr/>
        </p:nvPicPr>
        <p:blipFill rotWithShape="1">
          <a:blip r:embed="rId4">
            <a:extLst>
              <a:ext uri="{28A0092B-C50C-407E-A947-70E740481C1C}">
                <a14:useLocalDpi xmlns:a14="http://schemas.microsoft.com/office/drawing/2010/main" val="0"/>
              </a:ext>
            </a:extLst>
          </a:blip>
          <a:srcRect l="43383" r="15817"/>
          <a:stretch/>
        </p:blipFill>
        <p:spPr>
          <a:xfrm>
            <a:off x="8462421" y="-2"/>
            <a:ext cx="4209729" cy="6858000"/>
          </a:xfrm>
          <a:prstGeom prst="rect">
            <a:avLst/>
          </a:prstGeom>
        </p:spPr>
      </p:pic>
      <p:sp>
        <p:nvSpPr>
          <p:cNvPr id="4" name="AutoShape 4">
            <a:extLst>
              <a:ext uri="{FF2B5EF4-FFF2-40B4-BE49-F238E27FC236}">
                <a16:creationId xmlns:a16="http://schemas.microsoft.com/office/drawing/2014/main" id="{5FF96BA6-CBD7-B85C-C9C9-AE38D3DD0236}"/>
              </a:ext>
            </a:extLst>
          </p:cNvPr>
          <p:cNvSpPr/>
          <p:nvPr/>
        </p:nvSpPr>
        <p:spPr>
          <a:xfrm>
            <a:off x="8462421" y="0"/>
            <a:ext cx="0" cy="6666105"/>
          </a:xfrm>
          <a:prstGeom prst="line">
            <a:avLst/>
          </a:prstGeom>
          <a:ln w="390525" cap="flat">
            <a:solidFill>
              <a:srgbClr val="212020"/>
            </a:solidFill>
            <a:prstDash val="sysDot"/>
            <a:headEnd type="none" w="sm" len="sm"/>
            <a:tailEnd type="none" w="sm" len="sm"/>
          </a:ln>
        </p:spPr>
      </p:sp>
      <p:sp>
        <p:nvSpPr>
          <p:cNvPr id="5" name="AutoShape 5">
            <a:extLst>
              <a:ext uri="{FF2B5EF4-FFF2-40B4-BE49-F238E27FC236}">
                <a16:creationId xmlns:a16="http://schemas.microsoft.com/office/drawing/2014/main" id="{B0B2A309-C5B3-470C-2869-99AD561DF987}"/>
              </a:ext>
            </a:extLst>
          </p:cNvPr>
          <p:cNvSpPr/>
          <p:nvPr/>
        </p:nvSpPr>
        <p:spPr>
          <a:xfrm>
            <a:off x="8592596" y="191895"/>
            <a:ext cx="0" cy="6666105"/>
          </a:xfrm>
          <a:prstGeom prst="line">
            <a:avLst/>
          </a:prstGeom>
          <a:ln w="390525" cap="flat">
            <a:solidFill>
              <a:srgbClr val="212020"/>
            </a:solidFill>
            <a:prstDash val="sysDot"/>
            <a:headEnd type="none" w="sm" len="sm"/>
            <a:tailEnd type="none" w="sm" len="sm"/>
          </a:ln>
        </p:spPr>
      </p:sp>
      <p:sp>
        <p:nvSpPr>
          <p:cNvPr id="6" name="AutoShape 6">
            <a:extLst>
              <a:ext uri="{FF2B5EF4-FFF2-40B4-BE49-F238E27FC236}">
                <a16:creationId xmlns:a16="http://schemas.microsoft.com/office/drawing/2014/main" id="{FF6A4380-C471-0A47-B3EF-4F4049F5723D}"/>
              </a:ext>
            </a:extLst>
          </p:cNvPr>
          <p:cNvSpPr/>
          <p:nvPr/>
        </p:nvSpPr>
        <p:spPr>
          <a:xfrm>
            <a:off x="8338596" y="191895"/>
            <a:ext cx="0" cy="6666105"/>
          </a:xfrm>
          <a:prstGeom prst="line">
            <a:avLst/>
          </a:prstGeom>
          <a:ln w="390525" cap="flat">
            <a:solidFill>
              <a:srgbClr val="212020"/>
            </a:solidFill>
            <a:prstDash val="sysDot"/>
            <a:headEnd type="none" w="sm" len="sm"/>
            <a:tailEnd type="none" w="sm" len="sm"/>
          </a:ln>
        </p:spPr>
      </p:sp>
      <p:sp>
        <p:nvSpPr>
          <p:cNvPr id="7" name="AutoShape 7">
            <a:extLst>
              <a:ext uri="{FF2B5EF4-FFF2-40B4-BE49-F238E27FC236}">
                <a16:creationId xmlns:a16="http://schemas.microsoft.com/office/drawing/2014/main" id="{F8259980-A604-EC88-A976-85E6B4B08C83}"/>
              </a:ext>
            </a:extLst>
          </p:cNvPr>
          <p:cNvSpPr/>
          <p:nvPr/>
        </p:nvSpPr>
        <p:spPr>
          <a:xfrm>
            <a:off x="329727" y="1076011"/>
            <a:ext cx="7667735" cy="0"/>
          </a:xfrm>
          <a:prstGeom prst="line">
            <a:avLst/>
          </a:prstGeom>
          <a:ln>
            <a:headEnd type="none" w="sm" len="sm"/>
            <a:tailEnd type="none" w="sm" len="sm"/>
          </a:ln>
        </p:spPr>
        <p:style>
          <a:lnRef idx="3">
            <a:schemeClr val="dk1"/>
          </a:lnRef>
          <a:fillRef idx="0">
            <a:schemeClr val="dk1"/>
          </a:fillRef>
          <a:effectRef idx="2">
            <a:schemeClr val="dk1"/>
          </a:effectRef>
          <a:fontRef idx="minor">
            <a:schemeClr val="tx1"/>
          </a:fontRef>
        </p:style>
      </p:sp>
      <p:grpSp>
        <p:nvGrpSpPr>
          <p:cNvPr id="8" name="Group 8">
            <a:extLst>
              <a:ext uri="{FF2B5EF4-FFF2-40B4-BE49-F238E27FC236}">
                <a16:creationId xmlns:a16="http://schemas.microsoft.com/office/drawing/2014/main" id="{E3C5CF8D-2A20-ACEC-D508-2A3E2A0AF4CE}"/>
              </a:ext>
            </a:extLst>
          </p:cNvPr>
          <p:cNvGrpSpPr/>
          <p:nvPr/>
        </p:nvGrpSpPr>
        <p:grpSpPr>
          <a:xfrm>
            <a:off x="419417" y="380188"/>
            <a:ext cx="511045" cy="511045"/>
            <a:chOff x="0" y="0"/>
            <a:chExt cx="812800" cy="812800"/>
          </a:xfrm>
        </p:grpSpPr>
        <p:sp>
          <p:nvSpPr>
            <p:cNvPr id="9" name="Freeform 9">
              <a:extLst>
                <a:ext uri="{FF2B5EF4-FFF2-40B4-BE49-F238E27FC236}">
                  <a16:creationId xmlns:a16="http://schemas.microsoft.com/office/drawing/2014/main" id="{5B703B75-41A8-85F3-7DB4-1FB479000E66}"/>
                </a:ext>
              </a:extLst>
            </p:cNvPr>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5"/>
              <a:stretch>
                <a:fillRect t="-2173" b="-2173"/>
              </a:stretch>
            </a:blipFill>
          </p:spPr>
        </p:sp>
      </p:grpSp>
      <p:sp>
        <p:nvSpPr>
          <p:cNvPr id="11" name="TextBox 11">
            <a:extLst>
              <a:ext uri="{FF2B5EF4-FFF2-40B4-BE49-F238E27FC236}">
                <a16:creationId xmlns:a16="http://schemas.microsoft.com/office/drawing/2014/main" id="{8128FAEB-736C-2391-E688-B7C7E4593BC5}"/>
              </a:ext>
            </a:extLst>
          </p:cNvPr>
          <p:cNvSpPr txBox="1"/>
          <p:nvPr/>
        </p:nvSpPr>
        <p:spPr>
          <a:xfrm>
            <a:off x="1019362" y="367741"/>
            <a:ext cx="6987150" cy="512961"/>
          </a:xfrm>
          <a:prstGeom prst="rect">
            <a:avLst/>
          </a:prstGeom>
        </p:spPr>
        <p:txBody>
          <a:bodyPr wrap="square" lIns="0" tIns="0" rIns="0" bIns="0" rtlCol="0" anchor="t">
            <a:spAutoFit/>
          </a:bodyPr>
          <a:lstStyle/>
          <a:p>
            <a:pPr>
              <a:lnSpc>
                <a:spcPts val="1960"/>
              </a:lnSpc>
            </a:pPr>
            <a:r>
              <a:rPr lang="en-US" b="1" dirty="0">
                <a:latin typeface="Times New Roman" panose="02020603050405020304" pitchFamily="18" charset="0"/>
                <a:ea typeface="Gotham Bold"/>
                <a:cs typeface="Times New Roman" panose="02020603050405020304" pitchFamily="18" charset="0"/>
                <a:sym typeface="Gotham Bold"/>
              </a:rPr>
              <a:t>| University of San Jose - </a:t>
            </a:r>
            <a:r>
              <a:rPr lang="en-US" b="1" dirty="0" err="1">
                <a:latin typeface="Times New Roman" panose="02020603050405020304" pitchFamily="18" charset="0"/>
                <a:ea typeface="Gotham Bold"/>
                <a:cs typeface="Times New Roman" panose="02020603050405020304" pitchFamily="18" charset="0"/>
                <a:sym typeface="Gotham Bold"/>
              </a:rPr>
              <a:t>Recoletos</a:t>
            </a:r>
            <a:r>
              <a:rPr lang="en-US" b="1" dirty="0">
                <a:latin typeface="Times New Roman" panose="02020603050405020304" pitchFamily="18" charset="0"/>
                <a:ea typeface="Gotham Bold"/>
                <a:cs typeface="Times New Roman" panose="02020603050405020304" pitchFamily="18" charset="0"/>
                <a:sym typeface="Gotham Bold"/>
              </a:rPr>
              <a:t> | School of Computer Studies </a:t>
            </a:r>
          </a:p>
          <a:p>
            <a:pPr>
              <a:lnSpc>
                <a:spcPts val="1960"/>
              </a:lnSpc>
            </a:pPr>
            <a:r>
              <a:rPr lang="en-US" b="1" dirty="0">
                <a:latin typeface="Times New Roman" panose="02020603050405020304" pitchFamily="18" charset="0"/>
                <a:ea typeface="Gotham Bold"/>
                <a:cs typeface="Times New Roman" panose="02020603050405020304" pitchFamily="18" charset="0"/>
                <a:sym typeface="Gotham Bold"/>
              </a:rPr>
              <a:t>| Quantitative Methods | Engr. </a:t>
            </a:r>
            <a:r>
              <a:rPr lang="en-US" b="1" dirty="0" err="1">
                <a:latin typeface="Times New Roman" panose="02020603050405020304" pitchFamily="18" charset="0"/>
                <a:ea typeface="Gotham Bold"/>
                <a:cs typeface="Times New Roman" panose="02020603050405020304" pitchFamily="18" charset="0"/>
                <a:sym typeface="Gotham Bold"/>
              </a:rPr>
              <a:t>Violdan</a:t>
            </a:r>
            <a:r>
              <a:rPr lang="en-US" b="1" dirty="0">
                <a:latin typeface="Times New Roman" panose="02020603050405020304" pitchFamily="18" charset="0"/>
                <a:ea typeface="Gotham Bold"/>
                <a:cs typeface="Times New Roman" panose="02020603050405020304" pitchFamily="18" charset="0"/>
                <a:sym typeface="Gotham Bold"/>
              </a:rPr>
              <a:t> E. </a:t>
            </a:r>
            <a:r>
              <a:rPr lang="en-US" b="1" dirty="0" err="1">
                <a:latin typeface="Times New Roman" panose="02020603050405020304" pitchFamily="18" charset="0"/>
                <a:ea typeface="Gotham Bold"/>
                <a:cs typeface="Times New Roman" panose="02020603050405020304" pitchFamily="18" charset="0"/>
                <a:sym typeface="Gotham Bold"/>
              </a:rPr>
              <a:t>Bayocot</a:t>
            </a:r>
            <a:endParaRPr lang="en-US" b="1" dirty="0">
              <a:latin typeface="Times New Roman" panose="02020603050405020304" pitchFamily="18" charset="0"/>
              <a:ea typeface="Gotham Bold"/>
              <a:cs typeface="Times New Roman" panose="02020603050405020304" pitchFamily="18" charset="0"/>
              <a:sym typeface="Gotham Bold"/>
            </a:endParaRPr>
          </a:p>
        </p:txBody>
      </p:sp>
      <p:grpSp>
        <p:nvGrpSpPr>
          <p:cNvPr id="12" name="Group 11">
            <a:extLst>
              <a:ext uri="{FF2B5EF4-FFF2-40B4-BE49-F238E27FC236}">
                <a16:creationId xmlns:a16="http://schemas.microsoft.com/office/drawing/2014/main" id="{B77262FF-33D4-F4F3-871B-3808A2E06CC5}"/>
              </a:ext>
            </a:extLst>
          </p:cNvPr>
          <p:cNvGrpSpPr/>
          <p:nvPr/>
        </p:nvGrpSpPr>
        <p:grpSpPr>
          <a:xfrm>
            <a:off x="221008" y="2436010"/>
            <a:ext cx="7896580" cy="2378526"/>
            <a:chOff x="109932" y="2228795"/>
            <a:chExt cx="7896580" cy="2378526"/>
          </a:xfrm>
        </p:grpSpPr>
        <p:sp>
          <p:nvSpPr>
            <p:cNvPr id="13" name="TextBox 10">
              <a:extLst>
                <a:ext uri="{FF2B5EF4-FFF2-40B4-BE49-F238E27FC236}">
                  <a16:creationId xmlns:a16="http://schemas.microsoft.com/office/drawing/2014/main" id="{82FEC1F7-8BA2-97B1-8CEE-6E32E29BF66F}"/>
                </a:ext>
              </a:extLst>
            </p:cNvPr>
            <p:cNvSpPr txBox="1"/>
            <p:nvPr/>
          </p:nvSpPr>
          <p:spPr>
            <a:xfrm>
              <a:off x="109932" y="2575996"/>
              <a:ext cx="7896580" cy="2031325"/>
            </a:xfrm>
            <a:prstGeom prst="rect">
              <a:avLst/>
            </a:prstGeom>
          </p:spPr>
          <p:txBody>
            <a:bodyPr lIns="0" tIns="0" rIns="0" bIns="0" rtlCol="0" anchor="t">
              <a:spAutoFit/>
            </a:bodyPr>
            <a:lstStyle/>
            <a:p>
              <a:pPr algn="ctr"/>
              <a:r>
                <a:rPr lang="en-PH" sz="6600" b="1" dirty="0">
                  <a:latin typeface="Times New Roman" panose="02020603050405020304" pitchFamily="18" charset="0"/>
                  <a:cs typeface="Times New Roman" panose="02020603050405020304" pitchFamily="18" charset="0"/>
                </a:rPr>
                <a:t>VISUALIZING DATA</a:t>
              </a:r>
              <a:endParaRPr lang="en-US" sz="6600" b="1" dirty="0">
                <a:latin typeface="Times New Roman" panose="02020603050405020304" pitchFamily="18" charset="0"/>
                <a:ea typeface="Archivo Black"/>
                <a:cs typeface="Times New Roman" panose="02020603050405020304" pitchFamily="18" charset="0"/>
                <a:sym typeface="Archivo Black"/>
              </a:endParaRPr>
            </a:p>
          </p:txBody>
        </p:sp>
        <p:sp>
          <p:nvSpPr>
            <p:cNvPr id="16" name="Rectangle 3">
              <a:extLst>
                <a:ext uri="{FF2B5EF4-FFF2-40B4-BE49-F238E27FC236}">
                  <a16:creationId xmlns:a16="http://schemas.microsoft.com/office/drawing/2014/main" id="{87BC8016-E574-4647-FB84-8ED7E9C5A0DE}"/>
                </a:ext>
              </a:extLst>
            </p:cNvPr>
            <p:cNvSpPr txBox="1">
              <a:spLocks noChangeArrowheads="1"/>
            </p:cNvSpPr>
            <p:nvPr>
              <p:custDataLst>
                <p:tags r:id="rId2"/>
              </p:custDataLst>
            </p:nvPr>
          </p:nvSpPr>
          <p:spPr>
            <a:xfrm>
              <a:off x="1565603" y="2228795"/>
              <a:ext cx="4985238" cy="452472"/>
            </a:xfrm>
            <a:prstGeom prst="rect">
              <a:avLst/>
            </a:prstGeom>
          </p:spPr>
          <p:txBody>
            <a:bodyPr vert="horz" lIns="91440" tIns="45720" rIns="91440" bIns="45720" rtlCol="0" anchor="ct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latin typeface="Times New Roman" panose="02020603050405020304" pitchFamily="18" charset="0"/>
                  <a:cs typeface="Times New Roman" panose="02020603050405020304" pitchFamily="18" charset="0"/>
                </a:rPr>
                <a:t>MODULE 01</a:t>
              </a:r>
            </a:p>
          </p:txBody>
        </p:sp>
      </p:grpSp>
      <p:grpSp>
        <p:nvGrpSpPr>
          <p:cNvPr id="29" name="Group 28">
            <a:extLst>
              <a:ext uri="{FF2B5EF4-FFF2-40B4-BE49-F238E27FC236}">
                <a16:creationId xmlns:a16="http://schemas.microsoft.com/office/drawing/2014/main" id="{85E02A01-1EB9-DDAA-3477-7C3257525A56}"/>
              </a:ext>
            </a:extLst>
          </p:cNvPr>
          <p:cNvGrpSpPr/>
          <p:nvPr/>
        </p:nvGrpSpPr>
        <p:grpSpPr>
          <a:xfrm>
            <a:off x="8965032" y="1894438"/>
            <a:ext cx="3081528" cy="3081528"/>
            <a:chOff x="8965032" y="1894438"/>
            <a:chExt cx="3081528" cy="3081528"/>
          </a:xfrm>
        </p:grpSpPr>
        <p:pic>
          <p:nvPicPr>
            <p:cNvPr id="21" name="Picture 20">
              <a:extLst>
                <a:ext uri="{FF2B5EF4-FFF2-40B4-BE49-F238E27FC236}">
                  <a16:creationId xmlns:a16="http://schemas.microsoft.com/office/drawing/2014/main" id="{E98002E4-61D9-43BA-5BEB-CF0CB0B4030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216469" y="2164924"/>
              <a:ext cx="2597703" cy="2597703"/>
            </a:xfrm>
            <a:prstGeom prst="rect">
              <a:avLst/>
            </a:prstGeom>
          </p:spPr>
        </p:pic>
        <p:grpSp>
          <p:nvGrpSpPr>
            <p:cNvPr id="22" name="Group 7">
              <a:extLst>
                <a:ext uri="{FF2B5EF4-FFF2-40B4-BE49-F238E27FC236}">
                  <a16:creationId xmlns:a16="http://schemas.microsoft.com/office/drawing/2014/main" id="{DADBB4D0-C120-552E-C538-A3C53AFE836D}"/>
                </a:ext>
              </a:extLst>
            </p:cNvPr>
            <p:cNvGrpSpPr>
              <a:grpSpLocks noChangeAspect="1"/>
            </p:cNvGrpSpPr>
            <p:nvPr/>
          </p:nvGrpSpPr>
          <p:grpSpPr>
            <a:xfrm>
              <a:off x="8965032" y="1894438"/>
              <a:ext cx="3081528" cy="3081528"/>
              <a:chOff x="-3810" y="-17780"/>
              <a:chExt cx="7620000" cy="7620000"/>
            </a:xfrm>
          </p:grpSpPr>
          <p:sp>
            <p:nvSpPr>
              <p:cNvPr id="23" name="Freeform 9">
                <a:extLst>
                  <a:ext uri="{FF2B5EF4-FFF2-40B4-BE49-F238E27FC236}">
                    <a16:creationId xmlns:a16="http://schemas.microsoft.com/office/drawing/2014/main" id="{44A32FF3-DDDF-BA4C-DC87-1A361DD836D0}"/>
                  </a:ext>
                </a:extLst>
              </p:cNvPr>
              <p:cNvSpPr/>
              <p:nvPr/>
            </p:nvSpPr>
            <p:spPr>
              <a:xfrm>
                <a:off x="-3810" y="-17780"/>
                <a:ext cx="7620000" cy="7620000"/>
              </a:xfrm>
              <a:custGeom>
                <a:avLst/>
                <a:gdLst/>
                <a:ahLst/>
                <a:cxnLst/>
                <a:rect l="l" t="t" r="r" b="b"/>
                <a:pathLst>
                  <a:path w="7620000" h="7620000">
                    <a:moveTo>
                      <a:pt x="3810000" y="0"/>
                    </a:moveTo>
                    <a:cubicBezTo>
                      <a:pt x="1709420" y="0"/>
                      <a:pt x="0" y="1709420"/>
                      <a:pt x="0" y="3810000"/>
                    </a:cubicBezTo>
                    <a:cubicBezTo>
                      <a:pt x="0" y="5910580"/>
                      <a:pt x="1709420" y="7620000"/>
                      <a:pt x="3810000" y="7620000"/>
                    </a:cubicBezTo>
                    <a:cubicBezTo>
                      <a:pt x="5910580" y="7620000"/>
                      <a:pt x="7620000" y="5910580"/>
                      <a:pt x="7620000" y="3810000"/>
                    </a:cubicBezTo>
                    <a:cubicBezTo>
                      <a:pt x="7620000" y="1709420"/>
                      <a:pt x="5910580" y="0"/>
                      <a:pt x="3810000" y="0"/>
                    </a:cubicBezTo>
                    <a:close/>
                    <a:moveTo>
                      <a:pt x="3810000" y="7193280"/>
                    </a:moveTo>
                    <a:cubicBezTo>
                      <a:pt x="1941830" y="7193280"/>
                      <a:pt x="426720" y="5678170"/>
                      <a:pt x="426720" y="3810000"/>
                    </a:cubicBezTo>
                    <a:cubicBezTo>
                      <a:pt x="426720" y="1941830"/>
                      <a:pt x="1941830" y="426720"/>
                      <a:pt x="3810000" y="426720"/>
                    </a:cubicBezTo>
                    <a:cubicBezTo>
                      <a:pt x="5678170" y="426720"/>
                      <a:pt x="7193280" y="1941830"/>
                      <a:pt x="7193280" y="3810000"/>
                    </a:cubicBezTo>
                    <a:cubicBezTo>
                      <a:pt x="7193280" y="5678170"/>
                      <a:pt x="5678170" y="7193280"/>
                      <a:pt x="3810000" y="7193280"/>
                    </a:cubicBezTo>
                    <a:close/>
                  </a:path>
                </a:pathLst>
              </a:custGeom>
              <a:solidFill>
                <a:schemeClr val="bg1"/>
              </a:solidFill>
            </p:spPr>
          </p:sp>
          <p:sp>
            <p:nvSpPr>
              <p:cNvPr id="24" name="Freeform 10">
                <a:extLst>
                  <a:ext uri="{FF2B5EF4-FFF2-40B4-BE49-F238E27FC236}">
                    <a16:creationId xmlns:a16="http://schemas.microsoft.com/office/drawing/2014/main" id="{E8EAB0EE-7103-2B36-4C68-3647CD838A34}"/>
                  </a:ext>
                </a:extLst>
              </p:cNvPr>
              <p:cNvSpPr/>
              <p:nvPr/>
            </p:nvSpPr>
            <p:spPr>
              <a:xfrm>
                <a:off x="422910" y="408940"/>
                <a:ext cx="6766559" cy="6766560"/>
              </a:xfrm>
              <a:custGeom>
                <a:avLst/>
                <a:gdLst/>
                <a:ahLst/>
                <a:cxnLst/>
                <a:rect l="l" t="t" r="r" b="b"/>
                <a:pathLst>
                  <a:path w="6766559" h="6766560">
                    <a:moveTo>
                      <a:pt x="3383280" y="0"/>
                    </a:moveTo>
                    <a:cubicBezTo>
                      <a:pt x="1515110" y="0"/>
                      <a:pt x="0" y="1515110"/>
                      <a:pt x="0" y="3383280"/>
                    </a:cubicBezTo>
                    <a:cubicBezTo>
                      <a:pt x="0" y="5251450"/>
                      <a:pt x="1515110" y="6766560"/>
                      <a:pt x="3383280" y="6766560"/>
                    </a:cubicBezTo>
                    <a:cubicBezTo>
                      <a:pt x="5251450" y="6766560"/>
                      <a:pt x="6766560" y="5251450"/>
                      <a:pt x="6766560" y="3383280"/>
                    </a:cubicBezTo>
                    <a:cubicBezTo>
                      <a:pt x="6766560" y="1515110"/>
                      <a:pt x="5251450" y="0"/>
                      <a:pt x="3383280" y="0"/>
                    </a:cubicBezTo>
                    <a:close/>
                    <a:moveTo>
                      <a:pt x="3383280" y="6398260"/>
                    </a:moveTo>
                    <a:cubicBezTo>
                      <a:pt x="1720850" y="6398260"/>
                      <a:pt x="368300" y="5045710"/>
                      <a:pt x="368300" y="3383280"/>
                    </a:cubicBezTo>
                    <a:cubicBezTo>
                      <a:pt x="368300" y="1720850"/>
                      <a:pt x="1720850" y="368300"/>
                      <a:pt x="3383280" y="368300"/>
                    </a:cubicBezTo>
                    <a:cubicBezTo>
                      <a:pt x="5045710" y="368300"/>
                      <a:pt x="6398260" y="1720850"/>
                      <a:pt x="6398260" y="3383280"/>
                    </a:cubicBezTo>
                    <a:cubicBezTo>
                      <a:pt x="6398260" y="5045710"/>
                      <a:pt x="5045710" y="6398260"/>
                      <a:pt x="3383280" y="6398260"/>
                    </a:cubicBezTo>
                    <a:close/>
                  </a:path>
                </a:pathLst>
              </a:custGeom>
              <a:solidFill>
                <a:schemeClr val="tx1"/>
              </a:solidFill>
            </p:spPr>
          </p:sp>
        </p:grpSp>
      </p:grpSp>
      <p:sp>
        <p:nvSpPr>
          <p:cNvPr id="31" name="Rectangle 3">
            <a:extLst>
              <a:ext uri="{FF2B5EF4-FFF2-40B4-BE49-F238E27FC236}">
                <a16:creationId xmlns:a16="http://schemas.microsoft.com/office/drawing/2014/main" id="{DC7D6257-DB33-4BFD-D35A-D6563EEB0DAD}"/>
              </a:ext>
            </a:extLst>
          </p:cNvPr>
          <p:cNvSpPr txBox="1">
            <a:spLocks noChangeArrowheads="1"/>
          </p:cNvSpPr>
          <p:nvPr>
            <p:custDataLst>
              <p:tags r:id="rId1"/>
            </p:custDataLst>
          </p:nvPr>
        </p:nvSpPr>
        <p:spPr>
          <a:xfrm>
            <a:off x="329728" y="1153968"/>
            <a:ext cx="7676784" cy="339527"/>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b="1" dirty="0">
                <a:latin typeface="Times New Roman" panose="02020603050405020304" pitchFamily="18" charset="0"/>
                <a:cs typeface="Times New Roman" panose="02020603050405020304" pitchFamily="18" charset="0"/>
              </a:rPr>
              <a:t>SUB-MODULE 01.02 – BAR GRAPHS AND PIE CHARTS</a:t>
            </a:r>
          </a:p>
        </p:txBody>
      </p:sp>
      <p:grpSp>
        <p:nvGrpSpPr>
          <p:cNvPr id="10" name="Group 9">
            <a:extLst>
              <a:ext uri="{FF2B5EF4-FFF2-40B4-BE49-F238E27FC236}">
                <a16:creationId xmlns:a16="http://schemas.microsoft.com/office/drawing/2014/main" id="{D1855724-BD6D-72F5-0D5A-65E5BC029093}"/>
              </a:ext>
            </a:extLst>
          </p:cNvPr>
          <p:cNvGrpSpPr/>
          <p:nvPr/>
        </p:nvGrpSpPr>
        <p:grpSpPr>
          <a:xfrm>
            <a:off x="0" y="6544092"/>
            <a:ext cx="12192000" cy="313908"/>
            <a:chOff x="0" y="6544092"/>
            <a:chExt cx="12192000" cy="313908"/>
          </a:xfrm>
        </p:grpSpPr>
        <p:sp>
          <p:nvSpPr>
            <p:cNvPr id="18" name="Rectangle 17">
              <a:extLst>
                <a:ext uri="{FF2B5EF4-FFF2-40B4-BE49-F238E27FC236}">
                  <a16:creationId xmlns:a16="http://schemas.microsoft.com/office/drawing/2014/main" id="{4242030C-8929-AD8F-F7D2-50D25D18632D}"/>
                </a:ext>
              </a:extLst>
            </p:cNvPr>
            <p:cNvSpPr/>
            <p:nvPr/>
          </p:nvSpPr>
          <p:spPr>
            <a:xfrm>
              <a:off x="0" y="6544092"/>
              <a:ext cx="12192000" cy="31390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19" name="TextBox 10">
              <a:extLst>
                <a:ext uri="{FF2B5EF4-FFF2-40B4-BE49-F238E27FC236}">
                  <a16:creationId xmlns:a16="http://schemas.microsoft.com/office/drawing/2014/main" id="{E733FB81-3D59-C29E-468E-8D1F2DA1D000}"/>
                </a:ext>
              </a:extLst>
            </p:cNvPr>
            <p:cNvSpPr txBox="1"/>
            <p:nvPr/>
          </p:nvSpPr>
          <p:spPr>
            <a:xfrm>
              <a:off x="109932" y="6577518"/>
              <a:ext cx="2794997" cy="247055"/>
            </a:xfrm>
            <a:prstGeom prst="rect">
              <a:avLst/>
            </a:prstGeom>
            <a:noFill/>
          </p:spPr>
          <p:txBody>
            <a:bodyPr lIns="0" tIns="0" rIns="0" bIns="0" rtlCol="0" anchor="ctr">
              <a:spAutoFit/>
            </a:bodyPr>
            <a:lstStyle/>
            <a:p>
              <a:pPr algn="just">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ENGR. VIOLDAN E. BAYOCOT</a:t>
              </a:r>
            </a:p>
          </p:txBody>
        </p:sp>
        <p:sp>
          <p:nvSpPr>
            <p:cNvPr id="20" name="TextBox 19">
              <a:extLst>
                <a:ext uri="{FF2B5EF4-FFF2-40B4-BE49-F238E27FC236}">
                  <a16:creationId xmlns:a16="http://schemas.microsoft.com/office/drawing/2014/main" id="{D3603C77-5606-BC88-0ADA-931C97AD9C00}"/>
                </a:ext>
              </a:extLst>
            </p:cNvPr>
            <p:cNvSpPr txBox="1"/>
            <p:nvPr/>
          </p:nvSpPr>
          <p:spPr>
            <a:xfrm>
              <a:off x="3158929" y="6577518"/>
              <a:ext cx="5433668" cy="248145"/>
            </a:xfrm>
            <a:prstGeom prst="rect">
              <a:avLst/>
            </a:prstGeom>
            <a:noFill/>
          </p:spPr>
          <p:txBody>
            <a:bodyPr wrap="square" lIns="0" tIns="0" rIns="0" bIns="0" rtlCol="0" anchor="t">
              <a:spAutoFit/>
            </a:bodyPr>
            <a:lstStyle/>
            <a:p>
              <a:pPr algn="ct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[Krista K.] BECOME A PROBABILITY &amp; STATISTICS MASTER</a:t>
              </a:r>
            </a:p>
          </p:txBody>
        </p:sp>
        <p:sp>
          <p:nvSpPr>
            <p:cNvPr id="25" name="TextBox 24">
              <a:extLst>
                <a:ext uri="{FF2B5EF4-FFF2-40B4-BE49-F238E27FC236}">
                  <a16:creationId xmlns:a16="http://schemas.microsoft.com/office/drawing/2014/main" id="{C5C0ED5B-2746-90E9-0271-B6E0C57B4D2A}"/>
                </a:ext>
              </a:extLst>
            </p:cNvPr>
            <p:cNvSpPr txBox="1"/>
            <p:nvPr/>
          </p:nvSpPr>
          <p:spPr>
            <a:xfrm>
              <a:off x="8387007" y="6577518"/>
              <a:ext cx="3701763" cy="248145"/>
            </a:xfrm>
            <a:prstGeom prst="rect">
              <a:avLst/>
            </a:prstGeom>
            <a:noFill/>
          </p:spPr>
          <p:txBody>
            <a:bodyPr wrap="square" lIns="0" tIns="0" rIns="0" bIns="0" rtlCol="0" anchor="t">
              <a:spAutoFit/>
            </a:bodyPr>
            <a:lstStyle/>
            <a:p>
              <a:pPr algn="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QUANTITATIVE METHODS</a:t>
              </a:r>
            </a:p>
          </p:txBody>
        </p:sp>
      </p:grpSp>
    </p:spTree>
    <p:extLst>
      <p:ext uri="{BB962C8B-B14F-4D97-AF65-F5344CB8AC3E}">
        <p14:creationId xmlns:p14="http://schemas.microsoft.com/office/powerpoint/2010/main" val="38165776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BA110-66ED-02AB-0DD6-63BC70644D7F}"/>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940EA4E8-CBA6-3A05-ACA8-BE6E875EF409}"/>
              </a:ext>
            </a:extLst>
          </p:cNvPr>
          <p:cNvSpPr/>
          <p:nvPr/>
        </p:nvSpPr>
        <p:spPr>
          <a:xfrm>
            <a:off x="0" y="0"/>
            <a:ext cx="12192000" cy="548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sz="3000" b="1" dirty="0">
              <a:solidFill>
                <a:schemeClr val="tx1"/>
              </a:solidFill>
              <a:latin typeface="Times New Roman" panose="02020603050405020304" pitchFamily="18" charset="0"/>
              <a:cs typeface="Times New Roman" panose="02020603050405020304" pitchFamily="18" charset="0"/>
            </a:endParaRPr>
          </a:p>
        </p:txBody>
      </p:sp>
      <p:sp>
        <p:nvSpPr>
          <p:cNvPr id="10" name="Content Placeholder 2">
            <a:extLst>
              <a:ext uri="{FF2B5EF4-FFF2-40B4-BE49-F238E27FC236}">
                <a16:creationId xmlns:a16="http://schemas.microsoft.com/office/drawing/2014/main" id="{4864B0EE-FD4B-F5CD-3945-855D95AE9453}"/>
              </a:ext>
            </a:extLst>
          </p:cNvPr>
          <p:cNvSpPr txBox="1">
            <a:spLocks/>
          </p:cNvSpPr>
          <p:nvPr/>
        </p:nvSpPr>
        <p:spPr>
          <a:xfrm>
            <a:off x="0" y="0"/>
            <a:ext cx="12191998" cy="548641"/>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PH" sz="3000" b="1" dirty="0">
                <a:solidFill>
                  <a:schemeClr val="bg1"/>
                </a:solidFill>
                <a:latin typeface="Times New Roman" panose="02020603050405020304" pitchFamily="18" charset="0"/>
                <a:cs typeface="Times New Roman" panose="02020603050405020304" pitchFamily="18" charset="0"/>
              </a:rPr>
              <a:t>BAR GRAPHS AND PIE CHARTS</a:t>
            </a:r>
            <a:endParaRPr lang="en-PH" sz="3000" b="1" dirty="0">
              <a:solidFill>
                <a:schemeClr val="bg1"/>
              </a:solidFill>
              <a:latin typeface="Courier New" panose="02070309020205020404" pitchFamily="49" charset="0"/>
              <a:cs typeface="Courier New" panose="02070309020205020404" pitchFamily="49" charset="0"/>
            </a:endParaRPr>
          </a:p>
        </p:txBody>
      </p:sp>
      <p:sp>
        <p:nvSpPr>
          <p:cNvPr id="18" name="Subtitle 2">
            <a:extLst>
              <a:ext uri="{FF2B5EF4-FFF2-40B4-BE49-F238E27FC236}">
                <a16:creationId xmlns:a16="http://schemas.microsoft.com/office/drawing/2014/main" id="{D453BB3A-1A20-225D-FDC0-558BAE6B487C}"/>
              </a:ext>
            </a:extLst>
          </p:cNvPr>
          <p:cNvSpPr txBox="1">
            <a:spLocks/>
          </p:cNvSpPr>
          <p:nvPr/>
        </p:nvSpPr>
        <p:spPr>
          <a:xfrm>
            <a:off x="1351951" y="789301"/>
            <a:ext cx="9488097" cy="676809"/>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latin typeface="Times New Roman" panose="02020603050405020304" pitchFamily="18" charset="0"/>
                <a:cs typeface="Times New Roman" panose="02020603050405020304" pitchFamily="18" charset="0"/>
              </a:rPr>
              <a:t>Bar graphs </a:t>
            </a:r>
            <a:r>
              <a:rPr lang="en-US" dirty="0">
                <a:latin typeface="Times New Roman" panose="02020603050405020304" pitchFamily="18" charset="0"/>
                <a:cs typeface="Times New Roman" panose="02020603050405020304" pitchFamily="18" charset="0"/>
              </a:rPr>
              <a:t>and </a:t>
            </a:r>
            <a:r>
              <a:rPr lang="en-US" b="1" dirty="0">
                <a:latin typeface="Times New Roman" panose="02020603050405020304" pitchFamily="18" charset="0"/>
                <a:cs typeface="Times New Roman" panose="02020603050405020304" pitchFamily="18" charset="0"/>
              </a:rPr>
              <a:t>pie charts </a:t>
            </a:r>
            <a:r>
              <a:rPr lang="en-US" dirty="0">
                <a:latin typeface="Times New Roman" panose="02020603050405020304" pitchFamily="18" charset="0"/>
                <a:cs typeface="Times New Roman" panose="02020603050405020304" pitchFamily="18" charset="0"/>
              </a:rPr>
              <a:t>are two of the simplest ways to summarize and represent data. In general, a </a:t>
            </a:r>
            <a:r>
              <a:rPr lang="en-US" b="1" dirty="0">
                <a:latin typeface="Times New Roman" panose="02020603050405020304" pitchFamily="18" charset="0"/>
                <a:cs typeface="Times New Roman" panose="02020603050405020304" pitchFamily="18" charset="0"/>
              </a:rPr>
              <a:t>bar graph</a:t>
            </a:r>
            <a:r>
              <a:rPr lang="en-US" dirty="0">
                <a:latin typeface="Times New Roman" panose="02020603050405020304" pitchFamily="18" charset="0"/>
                <a:cs typeface="Times New Roman" panose="02020603050405020304" pitchFamily="18" charset="0"/>
              </a:rPr>
              <a:t>, also called a </a:t>
            </a:r>
            <a:r>
              <a:rPr lang="en-US" b="1" dirty="0">
                <a:latin typeface="Times New Roman" panose="02020603050405020304" pitchFamily="18" charset="0"/>
                <a:cs typeface="Times New Roman" panose="02020603050405020304" pitchFamily="18" charset="0"/>
              </a:rPr>
              <a:t>bar chart</a:t>
            </a:r>
            <a:r>
              <a:rPr lang="en-US" dirty="0">
                <a:latin typeface="Times New Roman" panose="02020603050405020304" pitchFamily="18" charset="0"/>
                <a:cs typeface="Times New Roman" panose="02020603050405020304" pitchFamily="18" charset="0"/>
              </a:rPr>
              <a:t>.</a:t>
            </a:r>
            <a:endParaRPr lang="en-US" b="1" dirty="0">
              <a:latin typeface="Times New Roman" panose="02020603050405020304" pitchFamily="18" charset="0"/>
              <a:cs typeface="Times New Roman" panose="02020603050405020304" pitchFamily="18" charset="0"/>
            </a:endParaRPr>
          </a:p>
        </p:txBody>
      </p:sp>
      <p:grpSp>
        <p:nvGrpSpPr>
          <p:cNvPr id="11" name="Group 10">
            <a:extLst>
              <a:ext uri="{FF2B5EF4-FFF2-40B4-BE49-F238E27FC236}">
                <a16:creationId xmlns:a16="http://schemas.microsoft.com/office/drawing/2014/main" id="{D88FB922-FB4F-9390-9640-451CC39447D3}"/>
              </a:ext>
            </a:extLst>
          </p:cNvPr>
          <p:cNvGrpSpPr/>
          <p:nvPr/>
        </p:nvGrpSpPr>
        <p:grpSpPr>
          <a:xfrm>
            <a:off x="0" y="6544092"/>
            <a:ext cx="12192000" cy="313908"/>
            <a:chOff x="0" y="6544092"/>
            <a:chExt cx="12192000" cy="313908"/>
          </a:xfrm>
        </p:grpSpPr>
        <p:sp>
          <p:nvSpPr>
            <p:cNvPr id="12" name="Rectangle 11">
              <a:extLst>
                <a:ext uri="{FF2B5EF4-FFF2-40B4-BE49-F238E27FC236}">
                  <a16:creationId xmlns:a16="http://schemas.microsoft.com/office/drawing/2014/main" id="{3CEE471D-AA47-3A20-6A2B-A5D3B1A04627}"/>
                </a:ext>
              </a:extLst>
            </p:cNvPr>
            <p:cNvSpPr/>
            <p:nvPr/>
          </p:nvSpPr>
          <p:spPr>
            <a:xfrm>
              <a:off x="0" y="6544092"/>
              <a:ext cx="12192000" cy="31390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13" name="TextBox 10">
              <a:extLst>
                <a:ext uri="{FF2B5EF4-FFF2-40B4-BE49-F238E27FC236}">
                  <a16:creationId xmlns:a16="http://schemas.microsoft.com/office/drawing/2014/main" id="{6DC0BC96-2B45-D177-C57B-07EA8D3AD298}"/>
                </a:ext>
              </a:extLst>
            </p:cNvPr>
            <p:cNvSpPr txBox="1"/>
            <p:nvPr/>
          </p:nvSpPr>
          <p:spPr>
            <a:xfrm>
              <a:off x="109932" y="6577518"/>
              <a:ext cx="2794997" cy="247055"/>
            </a:xfrm>
            <a:prstGeom prst="rect">
              <a:avLst/>
            </a:prstGeom>
            <a:noFill/>
          </p:spPr>
          <p:txBody>
            <a:bodyPr lIns="0" tIns="0" rIns="0" bIns="0" rtlCol="0" anchor="ctr">
              <a:spAutoFit/>
            </a:bodyPr>
            <a:lstStyle/>
            <a:p>
              <a:pPr algn="just">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ENGR. VIOLDAN E. BAYOCOT</a:t>
              </a:r>
            </a:p>
          </p:txBody>
        </p:sp>
        <p:sp>
          <p:nvSpPr>
            <p:cNvPr id="14" name="TextBox 13">
              <a:extLst>
                <a:ext uri="{FF2B5EF4-FFF2-40B4-BE49-F238E27FC236}">
                  <a16:creationId xmlns:a16="http://schemas.microsoft.com/office/drawing/2014/main" id="{4A4E71FE-D626-089D-4B12-C9AD5D78BE7E}"/>
                </a:ext>
              </a:extLst>
            </p:cNvPr>
            <p:cNvSpPr txBox="1"/>
            <p:nvPr/>
          </p:nvSpPr>
          <p:spPr>
            <a:xfrm>
              <a:off x="3158929" y="6577518"/>
              <a:ext cx="5433668" cy="248145"/>
            </a:xfrm>
            <a:prstGeom prst="rect">
              <a:avLst/>
            </a:prstGeom>
            <a:noFill/>
          </p:spPr>
          <p:txBody>
            <a:bodyPr wrap="square" lIns="0" tIns="0" rIns="0" bIns="0" rtlCol="0" anchor="t">
              <a:spAutoFit/>
            </a:bodyPr>
            <a:lstStyle/>
            <a:p>
              <a:pPr algn="ct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[Krista K.] BECOME A PROBABILITY &amp; STATISTICS MASTER</a:t>
              </a:r>
            </a:p>
          </p:txBody>
        </p:sp>
        <p:sp>
          <p:nvSpPr>
            <p:cNvPr id="15" name="TextBox 14">
              <a:extLst>
                <a:ext uri="{FF2B5EF4-FFF2-40B4-BE49-F238E27FC236}">
                  <a16:creationId xmlns:a16="http://schemas.microsoft.com/office/drawing/2014/main" id="{F559626B-0AC1-DC4C-B92E-C3D900DA684C}"/>
                </a:ext>
              </a:extLst>
            </p:cNvPr>
            <p:cNvSpPr txBox="1"/>
            <p:nvPr/>
          </p:nvSpPr>
          <p:spPr>
            <a:xfrm>
              <a:off x="8387007" y="6577518"/>
              <a:ext cx="3701763" cy="248145"/>
            </a:xfrm>
            <a:prstGeom prst="rect">
              <a:avLst/>
            </a:prstGeom>
            <a:noFill/>
          </p:spPr>
          <p:txBody>
            <a:bodyPr wrap="square" lIns="0" tIns="0" rIns="0" bIns="0" rtlCol="0" anchor="t">
              <a:spAutoFit/>
            </a:bodyPr>
            <a:lstStyle/>
            <a:p>
              <a:pPr algn="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QUANTITATIVE METHODS</a:t>
              </a:r>
            </a:p>
          </p:txBody>
        </p:sp>
      </p:grpSp>
      <p:pic>
        <p:nvPicPr>
          <p:cNvPr id="3" name="Picture 2">
            <a:extLst>
              <a:ext uri="{FF2B5EF4-FFF2-40B4-BE49-F238E27FC236}">
                <a16:creationId xmlns:a16="http://schemas.microsoft.com/office/drawing/2014/main" id="{96324E21-8D19-1A04-9CEB-5C1299B42E36}"/>
              </a:ext>
            </a:extLst>
          </p:cNvPr>
          <p:cNvPicPr>
            <a:picLocks noChangeAspect="1"/>
          </p:cNvPicPr>
          <p:nvPr/>
        </p:nvPicPr>
        <p:blipFill>
          <a:blip r:embed="rId3"/>
          <a:stretch>
            <a:fillRect/>
          </a:stretch>
        </p:blipFill>
        <p:spPr>
          <a:xfrm>
            <a:off x="6467913" y="2139885"/>
            <a:ext cx="5342780" cy="3486737"/>
          </a:xfrm>
          <a:prstGeom prst="rect">
            <a:avLst/>
          </a:prstGeom>
        </p:spPr>
      </p:pic>
      <p:pic>
        <p:nvPicPr>
          <p:cNvPr id="5" name="Picture 4">
            <a:extLst>
              <a:ext uri="{FF2B5EF4-FFF2-40B4-BE49-F238E27FC236}">
                <a16:creationId xmlns:a16="http://schemas.microsoft.com/office/drawing/2014/main" id="{041A8BD5-C6E2-BAF1-4004-C83FE70A5E37}"/>
              </a:ext>
            </a:extLst>
          </p:cNvPr>
          <p:cNvPicPr>
            <a:picLocks noChangeAspect="1"/>
          </p:cNvPicPr>
          <p:nvPr/>
        </p:nvPicPr>
        <p:blipFill>
          <a:blip r:embed="rId4"/>
          <a:stretch>
            <a:fillRect/>
          </a:stretch>
        </p:blipFill>
        <p:spPr>
          <a:xfrm>
            <a:off x="381307" y="2054846"/>
            <a:ext cx="5950362" cy="3571776"/>
          </a:xfrm>
          <a:prstGeom prst="rect">
            <a:avLst/>
          </a:prstGeom>
        </p:spPr>
      </p:pic>
    </p:spTree>
    <p:extLst>
      <p:ext uri="{BB962C8B-B14F-4D97-AF65-F5344CB8AC3E}">
        <p14:creationId xmlns:p14="http://schemas.microsoft.com/office/powerpoint/2010/main" val="2083499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down)">
                                      <p:cBhvr>
                                        <p:cTn id="11" dur="500"/>
                                        <p:tgtEl>
                                          <p:spTgt spid="5"/>
                                        </p:tgtEl>
                                      </p:cBhvr>
                                    </p:animEffect>
                                  </p:childTnLst>
                                </p:cTn>
                              </p:par>
                              <p:par>
                                <p:cTn id="12" presetID="21" presetClass="entr" presetSubtype="1" fill="hold" nodeType="with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wheel(1)">
                                      <p:cBhvr>
                                        <p:cTn id="14"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719B6-4FC3-DD39-742B-B7959815FD34}"/>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DE2EF70B-BE28-093C-9CC2-F1CD7EADD335}"/>
              </a:ext>
            </a:extLst>
          </p:cNvPr>
          <p:cNvSpPr/>
          <p:nvPr/>
        </p:nvSpPr>
        <p:spPr>
          <a:xfrm>
            <a:off x="0" y="0"/>
            <a:ext cx="12192000" cy="548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sz="3000" b="1" dirty="0">
              <a:solidFill>
                <a:schemeClr val="tx1"/>
              </a:solidFill>
              <a:latin typeface="Times New Roman" panose="02020603050405020304" pitchFamily="18" charset="0"/>
              <a:cs typeface="Times New Roman" panose="02020603050405020304" pitchFamily="18" charset="0"/>
            </a:endParaRPr>
          </a:p>
        </p:txBody>
      </p:sp>
      <p:sp>
        <p:nvSpPr>
          <p:cNvPr id="10" name="Content Placeholder 2">
            <a:extLst>
              <a:ext uri="{FF2B5EF4-FFF2-40B4-BE49-F238E27FC236}">
                <a16:creationId xmlns:a16="http://schemas.microsoft.com/office/drawing/2014/main" id="{17845A70-06D6-6A35-BB50-35BB0DF6E2C4}"/>
              </a:ext>
            </a:extLst>
          </p:cNvPr>
          <p:cNvSpPr txBox="1">
            <a:spLocks/>
          </p:cNvSpPr>
          <p:nvPr/>
        </p:nvSpPr>
        <p:spPr>
          <a:xfrm>
            <a:off x="0" y="0"/>
            <a:ext cx="12191998" cy="548641"/>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PH" sz="3000" b="1" dirty="0">
                <a:solidFill>
                  <a:schemeClr val="bg1"/>
                </a:solidFill>
                <a:latin typeface="Times New Roman" panose="02020603050405020304" pitchFamily="18" charset="0"/>
                <a:cs typeface="Times New Roman" panose="02020603050405020304" pitchFamily="18" charset="0"/>
              </a:rPr>
              <a:t>BAR GRAPHS AND PIE CHARTS</a:t>
            </a:r>
            <a:endParaRPr lang="en-PH" sz="3000" b="1" dirty="0">
              <a:solidFill>
                <a:schemeClr val="bg1"/>
              </a:solidFill>
              <a:latin typeface="Courier New" panose="02070309020205020404" pitchFamily="49" charset="0"/>
              <a:cs typeface="Courier New" panose="02070309020205020404" pitchFamily="49" charset="0"/>
            </a:endParaRPr>
          </a:p>
        </p:txBody>
      </p:sp>
      <p:sp>
        <p:nvSpPr>
          <p:cNvPr id="18" name="Subtitle 2">
            <a:extLst>
              <a:ext uri="{FF2B5EF4-FFF2-40B4-BE49-F238E27FC236}">
                <a16:creationId xmlns:a16="http://schemas.microsoft.com/office/drawing/2014/main" id="{AAB99C62-25E4-75AD-D49D-E196382D8D81}"/>
              </a:ext>
            </a:extLst>
          </p:cNvPr>
          <p:cNvSpPr txBox="1">
            <a:spLocks/>
          </p:cNvSpPr>
          <p:nvPr/>
        </p:nvSpPr>
        <p:spPr>
          <a:xfrm>
            <a:off x="590549" y="920677"/>
            <a:ext cx="11010902" cy="2508323"/>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4000" dirty="0">
                <a:latin typeface="Times New Roman" panose="02020603050405020304" pitchFamily="18" charset="0"/>
                <a:cs typeface="Times New Roman" panose="02020603050405020304" pitchFamily="18" charset="0"/>
              </a:rPr>
              <a:t>For this part of the lecture, please turn on your computer and follow along with me. </a:t>
            </a:r>
          </a:p>
          <a:p>
            <a:r>
              <a:rPr lang="en-US" sz="4000" dirty="0">
                <a:latin typeface="Times New Roman" panose="02020603050405020304" pitchFamily="18" charset="0"/>
                <a:cs typeface="Times New Roman" panose="02020603050405020304" pitchFamily="18" charset="0"/>
              </a:rPr>
              <a:t>This will be your </a:t>
            </a:r>
            <a:r>
              <a:rPr lang="en-US" sz="4000" b="1" dirty="0">
                <a:latin typeface="Times New Roman" panose="02020603050405020304" pitchFamily="18" charset="0"/>
                <a:cs typeface="Times New Roman" panose="02020603050405020304" pitchFamily="18" charset="0"/>
              </a:rPr>
              <a:t>Laboratory Exercise 01 </a:t>
            </a:r>
            <a:r>
              <a:rPr lang="en-US" sz="4000" dirty="0">
                <a:latin typeface="Times New Roman" panose="02020603050405020304" pitchFamily="18" charset="0"/>
                <a:cs typeface="Times New Roman" panose="02020603050405020304" pitchFamily="18" charset="0"/>
              </a:rPr>
              <a:t>and it will be checked after the session.</a:t>
            </a:r>
          </a:p>
        </p:txBody>
      </p:sp>
      <p:pic>
        <p:nvPicPr>
          <p:cNvPr id="27" name="Picture 26">
            <a:extLst>
              <a:ext uri="{FF2B5EF4-FFF2-40B4-BE49-F238E27FC236}">
                <a16:creationId xmlns:a16="http://schemas.microsoft.com/office/drawing/2014/main" id="{5B335398-B721-BBF7-4B57-892188E9F4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13414" y="3779666"/>
            <a:ext cx="947185" cy="947185"/>
          </a:xfrm>
          <a:prstGeom prst="rect">
            <a:avLst/>
          </a:prstGeom>
        </p:spPr>
      </p:pic>
      <p:sp>
        <p:nvSpPr>
          <p:cNvPr id="25" name="Subtitle 2">
            <a:extLst>
              <a:ext uri="{FF2B5EF4-FFF2-40B4-BE49-F238E27FC236}">
                <a16:creationId xmlns:a16="http://schemas.microsoft.com/office/drawing/2014/main" id="{4529D19F-DAFB-9B15-50C5-46702DFC490D}"/>
              </a:ext>
            </a:extLst>
          </p:cNvPr>
          <p:cNvSpPr txBox="1">
            <a:spLocks/>
          </p:cNvSpPr>
          <p:nvPr/>
        </p:nvSpPr>
        <p:spPr>
          <a:xfrm>
            <a:off x="1954007" y="3865361"/>
            <a:ext cx="8353948" cy="787077"/>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4400" dirty="0">
                <a:latin typeface="Times New Roman" panose="02020603050405020304" pitchFamily="18" charset="0"/>
                <a:cs typeface="Times New Roman" panose="02020603050405020304" pitchFamily="18" charset="0"/>
              </a:rPr>
              <a:t>1. Open </a:t>
            </a:r>
            <a:r>
              <a:rPr lang="en-US" sz="4400" b="1" dirty="0">
                <a:latin typeface="Times New Roman" panose="02020603050405020304" pitchFamily="18" charset="0"/>
                <a:cs typeface="Times New Roman" panose="02020603050405020304" pitchFamily="18" charset="0"/>
              </a:rPr>
              <a:t>Microsoft Excel </a:t>
            </a:r>
          </a:p>
        </p:txBody>
      </p:sp>
      <p:sp>
        <p:nvSpPr>
          <p:cNvPr id="28" name="Subtitle 2">
            <a:extLst>
              <a:ext uri="{FF2B5EF4-FFF2-40B4-BE49-F238E27FC236}">
                <a16:creationId xmlns:a16="http://schemas.microsoft.com/office/drawing/2014/main" id="{5C75C00A-3022-3F42-2DAA-B98EEA5DE8D9}"/>
              </a:ext>
            </a:extLst>
          </p:cNvPr>
          <p:cNvSpPr txBox="1">
            <a:spLocks/>
          </p:cNvSpPr>
          <p:nvPr/>
        </p:nvSpPr>
        <p:spPr>
          <a:xfrm>
            <a:off x="1884044" y="4977601"/>
            <a:ext cx="8423911" cy="787077"/>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4400" dirty="0">
                <a:latin typeface="Times New Roman" panose="02020603050405020304" pitchFamily="18" charset="0"/>
                <a:cs typeface="Times New Roman" panose="02020603050405020304" pitchFamily="18" charset="0"/>
              </a:rPr>
              <a:t>2. Download the dataset in the </a:t>
            </a:r>
            <a:r>
              <a:rPr lang="en-US" sz="4400" b="1" dirty="0">
                <a:latin typeface="Times New Roman" panose="02020603050405020304" pitchFamily="18" charset="0"/>
                <a:cs typeface="Times New Roman" panose="02020603050405020304" pitchFamily="18" charset="0"/>
              </a:rPr>
              <a:t>LMS</a:t>
            </a:r>
          </a:p>
        </p:txBody>
      </p:sp>
      <p:sp>
        <p:nvSpPr>
          <p:cNvPr id="30" name="Subtitle 2">
            <a:extLst>
              <a:ext uri="{FF2B5EF4-FFF2-40B4-BE49-F238E27FC236}">
                <a16:creationId xmlns:a16="http://schemas.microsoft.com/office/drawing/2014/main" id="{B648EE2E-9949-0242-328F-4943A57C8D3F}"/>
              </a:ext>
            </a:extLst>
          </p:cNvPr>
          <p:cNvSpPr txBox="1">
            <a:spLocks/>
          </p:cNvSpPr>
          <p:nvPr/>
        </p:nvSpPr>
        <p:spPr>
          <a:xfrm>
            <a:off x="1298447" y="5601334"/>
            <a:ext cx="2944369" cy="393539"/>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600" dirty="0" err="1">
                <a:latin typeface="Times New Roman" panose="02020603050405020304" pitchFamily="18" charset="0"/>
                <a:cs typeface="Times New Roman" panose="02020603050405020304" pitchFamily="18" charset="0"/>
              </a:rPr>
              <a:t>oly_summergames_dataset</a:t>
            </a:r>
            <a:endParaRPr lang="en-US" sz="1600" dirty="0">
              <a:latin typeface="Times New Roman" panose="02020603050405020304" pitchFamily="18" charset="0"/>
              <a:cs typeface="Times New Roman" panose="02020603050405020304" pitchFamily="18" charset="0"/>
            </a:endParaRPr>
          </a:p>
        </p:txBody>
      </p:sp>
      <p:sp>
        <p:nvSpPr>
          <p:cNvPr id="14" name="Subtitle 2">
            <a:extLst>
              <a:ext uri="{FF2B5EF4-FFF2-40B4-BE49-F238E27FC236}">
                <a16:creationId xmlns:a16="http://schemas.microsoft.com/office/drawing/2014/main" id="{40D7B821-CF5D-4A28-B20B-F46B27841521}"/>
              </a:ext>
            </a:extLst>
          </p:cNvPr>
          <p:cNvSpPr txBox="1">
            <a:spLocks/>
          </p:cNvSpPr>
          <p:nvPr/>
        </p:nvSpPr>
        <p:spPr>
          <a:xfrm>
            <a:off x="4364736" y="5601334"/>
            <a:ext cx="2761487" cy="393539"/>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600" dirty="0" err="1">
                <a:latin typeface="Times New Roman" panose="02020603050405020304" pitchFamily="18" charset="0"/>
                <a:cs typeface="Times New Roman" panose="02020603050405020304" pitchFamily="18" charset="0"/>
              </a:rPr>
              <a:t>oly_wintergames_dataset</a:t>
            </a:r>
            <a:endParaRPr lang="en-US" sz="1600" dirty="0">
              <a:latin typeface="Times New Roman" panose="02020603050405020304" pitchFamily="18" charset="0"/>
              <a:cs typeface="Times New Roman" panose="02020603050405020304" pitchFamily="18" charset="0"/>
            </a:endParaRPr>
          </a:p>
        </p:txBody>
      </p:sp>
      <p:sp>
        <p:nvSpPr>
          <p:cNvPr id="15" name="Subtitle 2">
            <a:extLst>
              <a:ext uri="{FF2B5EF4-FFF2-40B4-BE49-F238E27FC236}">
                <a16:creationId xmlns:a16="http://schemas.microsoft.com/office/drawing/2014/main" id="{5C136479-064A-4CAF-9B7A-1D6FB742FCEF}"/>
              </a:ext>
            </a:extLst>
          </p:cNvPr>
          <p:cNvSpPr txBox="1">
            <a:spLocks/>
          </p:cNvSpPr>
          <p:nvPr/>
        </p:nvSpPr>
        <p:spPr>
          <a:xfrm>
            <a:off x="7248143" y="5601334"/>
            <a:ext cx="1901953" cy="393539"/>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600" dirty="0" err="1">
                <a:latin typeface="Times New Roman" panose="02020603050405020304" pitchFamily="18" charset="0"/>
                <a:cs typeface="Times New Roman" panose="02020603050405020304" pitchFamily="18" charset="0"/>
              </a:rPr>
              <a:t>avgtemp_dataset</a:t>
            </a:r>
            <a:endParaRPr lang="en-US" sz="1600" dirty="0">
              <a:latin typeface="Times New Roman" panose="02020603050405020304" pitchFamily="18" charset="0"/>
              <a:cs typeface="Times New Roman" panose="02020603050405020304" pitchFamily="18" charset="0"/>
            </a:endParaRPr>
          </a:p>
        </p:txBody>
      </p:sp>
      <p:sp>
        <p:nvSpPr>
          <p:cNvPr id="16" name="Subtitle 2">
            <a:extLst>
              <a:ext uri="{FF2B5EF4-FFF2-40B4-BE49-F238E27FC236}">
                <a16:creationId xmlns:a16="http://schemas.microsoft.com/office/drawing/2014/main" id="{97312729-44F9-49AD-95CF-D615B9FE2FF1}"/>
              </a:ext>
            </a:extLst>
          </p:cNvPr>
          <p:cNvSpPr txBox="1">
            <a:spLocks/>
          </p:cNvSpPr>
          <p:nvPr/>
        </p:nvSpPr>
        <p:spPr>
          <a:xfrm>
            <a:off x="9272016" y="5601334"/>
            <a:ext cx="1773936" cy="393539"/>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600" dirty="0" err="1">
                <a:latin typeface="Times New Roman" panose="02020603050405020304" pitchFamily="18" charset="0"/>
                <a:cs typeface="Times New Roman" panose="02020603050405020304" pitchFamily="18" charset="0"/>
              </a:rPr>
              <a:t>savings_dataset</a:t>
            </a:r>
            <a:endParaRPr lang="en-US" sz="1600" dirty="0">
              <a:latin typeface="Times New Roman" panose="02020603050405020304" pitchFamily="18" charset="0"/>
              <a:cs typeface="Times New Roman" panose="02020603050405020304" pitchFamily="18" charset="0"/>
            </a:endParaRPr>
          </a:p>
        </p:txBody>
      </p:sp>
      <p:grpSp>
        <p:nvGrpSpPr>
          <p:cNvPr id="2" name="Group 1">
            <a:extLst>
              <a:ext uri="{FF2B5EF4-FFF2-40B4-BE49-F238E27FC236}">
                <a16:creationId xmlns:a16="http://schemas.microsoft.com/office/drawing/2014/main" id="{9004AC78-BB21-714C-01A6-597D699B1676}"/>
              </a:ext>
            </a:extLst>
          </p:cNvPr>
          <p:cNvGrpSpPr/>
          <p:nvPr/>
        </p:nvGrpSpPr>
        <p:grpSpPr>
          <a:xfrm>
            <a:off x="0" y="6544092"/>
            <a:ext cx="12192000" cy="313908"/>
            <a:chOff x="0" y="6544092"/>
            <a:chExt cx="12192000" cy="313908"/>
          </a:xfrm>
        </p:grpSpPr>
        <p:sp>
          <p:nvSpPr>
            <p:cNvPr id="3" name="Rectangle 2">
              <a:extLst>
                <a:ext uri="{FF2B5EF4-FFF2-40B4-BE49-F238E27FC236}">
                  <a16:creationId xmlns:a16="http://schemas.microsoft.com/office/drawing/2014/main" id="{9C4BB9D3-FCB7-3A2F-916F-0A6B8BA8444D}"/>
                </a:ext>
              </a:extLst>
            </p:cNvPr>
            <p:cNvSpPr/>
            <p:nvPr/>
          </p:nvSpPr>
          <p:spPr>
            <a:xfrm>
              <a:off x="0" y="6544092"/>
              <a:ext cx="12192000" cy="31390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4" name="TextBox 10">
              <a:extLst>
                <a:ext uri="{FF2B5EF4-FFF2-40B4-BE49-F238E27FC236}">
                  <a16:creationId xmlns:a16="http://schemas.microsoft.com/office/drawing/2014/main" id="{8F21627D-CE08-B15F-BDF2-3FFB1B858CB6}"/>
                </a:ext>
              </a:extLst>
            </p:cNvPr>
            <p:cNvSpPr txBox="1"/>
            <p:nvPr/>
          </p:nvSpPr>
          <p:spPr>
            <a:xfrm>
              <a:off x="109932" y="6577518"/>
              <a:ext cx="2794997" cy="247055"/>
            </a:xfrm>
            <a:prstGeom prst="rect">
              <a:avLst/>
            </a:prstGeom>
            <a:noFill/>
          </p:spPr>
          <p:txBody>
            <a:bodyPr lIns="0" tIns="0" rIns="0" bIns="0" rtlCol="0" anchor="ctr">
              <a:spAutoFit/>
            </a:bodyPr>
            <a:lstStyle/>
            <a:p>
              <a:pPr algn="just">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ENGR. VIOLDAN E. BAYOCOT</a:t>
              </a:r>
            </a:p>
          </p:txBody>
        </p:sp>
        <p:sp>
          <p:nvSpPr>
            <p:cNvPr id="5" name="TextBox 4">
              <a:extLst>
                <a:ext uri="{FF2B5EF4-FFF2-40B4-BE49-F238E27FC236}">
                  <a16:creationId xmlns:a16="http://schemas.microsoft.com/office/drawing/2014/main" id="{EAC34CC5-C1F2-20B0-A051-DB38C5C75AEB}"/>
                </a:ext>
              </a:extLst>
            </p:cNvPr>
            <p:cNvSpPr txBox="1"/>
            <p:nvPr/>
          </p:nvSpPr>
          <p:spPr>
            <a:xfrm>
              <a:off x="3158929" y="6577518"/>
              <a:ext cx="5433668" cy="248145"/>
            </a:xfrm>
            <a:prstGeom prst="rect">
              <a:avLst/>
            </a:prstGeom>
            <a:noFill/>
          </p:spPr>
          <p:txBody>
            <a:bodyPr wrap="square" lIns="0" tIns="0" rIns="0" bIns="0" rtlCol="0" anchor="t">
              <a:spAutoFit/>
            </a:bodyPr>
            <a:lstStyle/>
            <a:p>
              <a:pPr algn="ct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[Krista K.] BECOME A PROBABILITY &amp; STATISTICS MASTER</a:t>
              </a:r>
            </a:p>
          </p:txBody>
        </p:sp>
        <p:sp>
          <p:nvSpPr>
            <p:cNvPr id="6" name="TextBox 5">
              <a:extLst>
                <a:ext uri="{FF2B5EF4-FFF2-40B4-BE49-F238E27FC236}">
                  <a16:creationId xmlns:a16="http://schemas.microsoft.com/office/drawing/2014/main" id="{B87B9E84-3A02-89EF-B2AA-415052B08B34}"/>
                </a:ext>
              </a:extLst>
            </p:cNvPr>
            <p:cNvSpPr txBox="1"/>
            <p:nvPr/>
          </p:nvSpPr>
          <p:spPr>
            <a:xfrm>
              <a:off x="8387007" y="6577518"/>
              <a:ext cx="3701763" cy="248145"/>
            </a:xfrm>
            <a:prstGeom prst="rect">
              <a:avLst/>
            </a:prstGeom>
            <a:noFill/>
          </p:spPr>
          <p:txBody>
            <a:bodyPr wrap="square" lIns="0" tIns="0" rIns="0" bIns="0" rtlCol="0" anchor="t">
              <a:spAutoFit/>
            </a:bodyPr>
            <a:lstStyle/>
            <a:p>
              <a:pPr algn="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QUANTITATIVE METHODS</a:t>
              </a:r>
            </a:p>
          </p:txBody>
        </p:sp>
      </p:grpSp>
    </p:spTree>
    <p:extLst>
      <p:ext uri="{BB962C8B-B14F-4D97-AF65-F5344CB8AC3E}">
        <p14:creationId xmlns:p14="http://schemas.microsoft.com/office/powerpoint/2010/main" val="3279879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1000"/>
                                        <p:tgtEl>
                                          <p:spTgt spid="25"/>
                                        </p:tgtEl>
                                      </p:cBhvr>
                                    </p:animEffect>
                                  </p:childTnLst>
                                </p:cTn>
                              </p:par>
                              <p:par>
                                <p:cTn id="12" presetID="10" presetClass="entr" presetSubtype="0" fill="hold" nodeType="withEffect">
                                  <p:stCondLst>
                                    <p:cond delay="0"/>
                                  </p:stCondLst>
                                  <p:childTnLst>
                                    <p:set>
                                      <p:cBhvr>
                                        <p:cTn id="13" dur="1" fill="hold">
                                          <p:stCondLst>
                                            <p:cond delay="0"/>
                                          </p:stCondLst>
                                        </p:cTn>
                                        <p:tgtEl>
                                          <p:spTgt spid="27"/>
                                        </p:tgtEl>
                                        <p:attrNameLst>
                                          <p:attrName>style.visibility</p:attrName>
                                        </p:attrNameLst>
                                      </p:cBhvr>
                                      <p:to>
                                        <p:strVal val="visible"/>
                                      </p:to>
                                    </p:set>
                                    <p:animEffect transition="in" filter="fade">
                                      <p:cBhvr>
                                        <p:cTn id="14" dur="1000"/>
                                        <p:tgtEl>
                                          <p:spTgt spid="27"/>
                                        </p:tgtEl>
                                      </p:cBhvr>
                                    </p:animEffect>
                                  </p:childTnLst>
                                </p:cTn>
                              </p:par>
                            </p:childTnLst>
                          </p:cTn>
                        </p:par>
                        <p:par>
                          <p:cTn id="15" fill="hold">
                            <p:stCondLst>
                              <p:cond delay="2000"/>
                            </p:stCondLst>
                            <p:childTnLst>
                              <p:par>
                                <p:cTn id="16" presetID="10" presetClass="entr" presetSubtype="0" fill="hold" grpId="0" nodeType="afterEffect">
                                  <p:stCondLst>
                                    <p:cond delay="0"/>
                                  </p:stCondLst>
                                  <p:childTnLst>
                                    <p:set>
                                      <p:cBhvr>
                                        <p:cTn id="17" dur="1" fill="hold">
                                          <p:stCondLst>
                                            <p:cond delay="0"/>
                                          </p:stCondLst>
                                        </p:cTn>
                                        <p:tgtEl>
                                          <p:spTgt spid="28"/>
                                        </p:tgtEl>
                                        <p:attrNameLst>
                                          <p:attrName>style.visibility</p:attrName>
                                        </p:attrNameLst>
                                      </p:cBhvr>
                                      <p:to>
                                        <p:strVal val="visible"/>
                                      </p:to>
                                    </p:set>
                                    <p:animEffect transition="in" filter="fade">
                                      <p:cBhvr>
                                        <p:cTn id="18" dur="1000"/>
                                        <p:tgtEl>
                                          <p:spTgt spid="2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fade">
                                      <p:cBhvr>
                                        <p:cTn id="21" dur="1000"/>
                                        <p:tgtEl>
                                          <p:spTgt spid="3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1000"/>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10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5" grpId="0"/>
      <p:bldP spid="28" grpId="0"/>
      <p:bldP spid="30" grpId="0"/>
      <p:bldP spid="14" grpId="0"/>
      <p:bldP spid="15" grpId="0"/>
      <p:bldP spid="1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58D84-BC41-AA43-2ECE-6A86D566550D}"/>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C84AC684-428F-865D-E083-FF54CDC4596A}"/>
              </a:ext>
            </a:extLst>
          </p:cNvPr>
          <p:cNvSpPr/>
          <p:nvPr/>
        </p:nvSpPr>
        <p:spPr>
          <a:xfrm>
            <a:off x="0" y="0"/>
            <a:ext cx="12192000" cy="548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sz="3000" b="1" dirty="0">
              <a:solidFill>
                <a:schemeClr val="tx1"/>
              </a:solidFill>
              <a:latin typeface="Times New Roman" panose="02020603050405020304" pitchFamily="18" charset="0"/>
              <a:cs typeface="Times New Roman" panose="02020603050405020304" pitchFamily="18" charset="0"/>
            </a:endParaRPr>
          </a:p>
        </p:txBody>
      </p:sp>
      <p:sp>
        <p:nvSpPr>
          <p:cNvPr id="2" name="Content Placeholder 2">
            <a:extLst>
              <a:ext uri="{FF2B5EF4-FFF2-40B4-BE49-F238E27FC236}">
                <a16:creationId xmlns:a16="http://schemas.microsoft.com/office/drawing/2014/main" id="{FF9D1CCB-B65E-4E77-1B5D-1E64B63352D1}"/>
              </a:ext>
            </a:extLst>
          </p:cNvPr>
          <p:cNvSpPr txBox="1">
            <a:spLocks/>
          </p:cNvSpPr>
          <p:nvPr/>
        </p:nvSpPr>
        <p:spPr>
          <a:xfrm>
            <a:off x="0" y="0"/>
            <a:ext cx="12191998" cy="548641"/>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PH" sz="3000" b="1" dirty="0">
                <a:solidFill>
                  <a:schemeClr val="bg1"/>
                </a:solidFill>
                <a:latin typeface="Times New Roman" panose="02020603050405020304" pitchFamily="18" charset="0"/>
                <a:cs typeface="Times New Roman" panose="02020603050405020304" pitchFamily="18" charset="0"/>
              </a:rPr>
              <a:t>BUILDING DATA TABLES</a:t>
            </a:r>
            <a:endParaRPr lang="en-PH" sz="3000" b="1" dirty="0">
              <a:solidFill>
                <a:schemeClr val="bg1"/>
              </a:solidFill>
              <a:latin typeface="Courier New" panose="02070309020205020404" pitchFamily="49" charset="0"/>
              <a:cs typeface="Courier New" panose="02070309020205020404" pitchFamily="49" charset="0"/>
            </a:endParaRPr>
          </a:p>
        </p:txBody>
      </p:sp>
      <p:sp>
        <p:nvSpPr>
          <p:cNvPr id="16" name="Subtitle 2">
            <a:extLst>
              <a:ext uri="{FF2B5EF4-FFF2-40B4-BE49-F238E27FC236}">
                <a16:creationId xmlns:a16="http://schemas.microsoft.com/office/drawing/2014/main" id="{22465181-2F29-3334-534D-FC9D45A1CE6E}"/>
              </a:ext>
            </a:extLst>
          </p:cNvPr>
          <p:cNvSpPr txBox="1">
            <a:spLocks/>
          </p:cNvSpPr>
          <p:nvPr/>
        </p:nvSpPr>
        <p:spPr>
          <a:xfrm>
            <a:off x="498007" y="1468744"/>
            <a:ext cx="11195985" cy="313908"/>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800" dirty="0">
                <a:latin typeface="Times New Roman" panose="02020603050405020304" pitchFamily="18" charset="0"/>
                <a:cs typeface="Times New Roman" panose="02020603050405020304" pitchFamily="18" charset="0"/>
              </a:rPr>
              <a:t>Here is a list of host cities for the summer games, not including host cities for canceled games, from 1896 through 2016.</a:t>
            </a:r>
            <a:endParaRPr lang="en-US" sz="1800" b="1" dirty="0">
              <a:latin typeface="Times New Roman" panose="02020603050405020304" pitchFamily="18" charset="0"/>
              <a:cs typeface="Times New Roman" panose="02020603050405020304" pitchFamily="18" charset="0"/>
            </a:endParaRPr>
          </a:p>
        </p:txBody>
      </p:sp>
      <p:sp>
        <p:nvSpPr>
          <p:cNvPr id="4" name="Subtitle 2">
            <a:extLst>
              <a:ext uri="{FF2B5EF4-FFF2-40B4-BE49-F238E27FC236}">
                <a16:creationId xmlns:a16="http://schemas.microsoft.com/office/drawing/2014/main" id="{1148AED9-F828-567E-D4AD-D3050C27DB8B}"/>
              </a:ext>
            </a:extLst>
          </p:cNvPr>
          <p:cNvSpPr txBox="1">
            <a:spLocks/>
          </p:cNvSpPr>
          <p:nvPr/>
        </p:nvSpPr>
        <p:spPr>
          <a:xfrm>
            <a:off x="1133175" y="679443"/>
            <a:ext cx="9925649" cy="658499"/>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dirty="0">
                <a:latin typeface="Times New Roman" panose="02020603050405020304" pitchFamily="18" charset="0"/>
                <a:cs typeface="Times New Roman" panose="02020603050405020304" pitchFamily="18" charset="0"/>
              </a:rPr>
              <a:t>Let’s say we’re given historical information about the host cities for the summer Olympic games, and we want to summarize this information into a simple data table.</a:t>
            </a:r>
          </a:p>
        </p:txBody>
      </p:sp>
      <p:graphicFrame>
        <p:nvGraphicFramePr>
          <p:cNvPr id="12" name="Table 11">
            <a:extLst>
              <a:ext uri="{FF2B5EF4-FFF2-40B4-BE49-F238E27FC236}">
                <a16:creationId xmlns:a16="http://schemas.microsoft.com/office/drawing/2014/main" id="{086A20C5-0434-2DF1-BC67-67325032F4C1}"/>
              </a:ext>
            </a:extLst>
          </p:cNvPr>
          <p:cNvGraphicFramePr>
            <a:graphicFrameLocks noGrp="1"/>
          </p:cNvGraphicFramePr>
          <p:nvPr>
            <p:extLst>
              <p:ext uri="{D42A27DB-BD31-4B8C-83A1-F6EECF244321}">
                <p14:modId xmlns:p14="http://schemas.microsoft.com/office/powerpoint/2010/main" val="719626552"/>
              </p:ext>
            </p:extLst>
          </p:nvPr>
        </p:nvGraphicFramePr>
        <p:xfrm>
          <a:off x="6309875" y="1911618"/>
          <a:ext cx="5554465" cy="4310250"/>
        </p:xfrm>
        <a:graphic>
          <a:graphicData uri="http://schemas.openxmlformats.org/drawingml/2006/table">
            <a:tbl>
              <a:tblPr firstRow="1" bandRow="1">
                <a:tableStyleId>{073A0DAA-6AF3-43AB-8588-CEC1D06C72B9}</a:tableStyleId>
              </a:tblPr>
              <a:tblGrid>
                <a:gridCol w="827651">
                  <a:extLst>
                    <a:ext uri="{9D8B030D-6E8A-4147-A177-3AD203B41FA5}">
                      <a16:colId xmlns:a16="http://schemas.microsoft.com/office/drawing/2014/main" val="2686799140"/>
                    </a:ext>
                  </a:extLst>
                </a:gridCol>
                <a:gridCol w="827651">
                  <a:extLst>
                    <a:ext uri="{9D8B030D-6E8A-4147-A177-3AD203B41FA5}">
                      <a16:colId xmlns:a16="http://schemas.microsoft.com/office/drawing/2014/main" val="683507027"/>
                    </a:ext>
                  </a:extLst>
                </a:gridCol>
                <a:gridCol w="2510546">
                  <a:extLst>
                    <a:ext uri="{9D8B030D-6E8A-4147-A177-3AD203B41FA5}">
                      <a16:colId xmlns:a16="http://schemas.microsoft.com/office/drawing/2014/main" val="2101790897"/>
                    </a:ext>
                  </a:extLst>
                </a:gridCol>
                <a:gridCol w="1388617">
                  <a:extLst>
                    <a:ext uri="{9D8B030D-6E8A-4147-A177-3AD203B41FA5}">
                      <a16:colId xmlns:a16="http://schemas.microsoft.com/office/drawing/2014/main" val="3959219217"/>
                    </a:ext>
                  </a:extLst>
                </a:gridCol>
              </a:tblGrid>
              <a:tr h="287350">
                <a:tc>
                  <a:txBody>
                    <a:bodyPr/>
                    <a:lstStyle/>
                    <a:p>
                      <a:pPr algn="ctr" fontAlgn="b">
                        <a:buNone/>
                      </a:pPr>
                      <a:r>
                        <a:rPr lang="en-US" sz="1600" b="1" u="none" strike="noStrike" dirty="0">
                          <a:solidFill>
                            <a:schemeClr val="bg1"/>
                          </a:solidFill>
                          <a:effectLst/>
                          <a:latin typeface="Times New Roman" panose="02020603050405020304" pitchFamily="18" charset="0"/>
                          <a:cs typeface="Times New Roman" panose="02020603050405020304" pitchFamily="18" charset="0"/>
                        </a:rPr>
                        <a:t>Games</a:t>
                      </a:r>
                      <a:endParaRPr lang="en-US" sz="16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1" u="none" strike="noStrike" dirty="0">
                          <a:solidFill>
                            <a:schemeClr val="bg1"/>
                          </a:solidFill>
                          <a:effectLst/>
                          <a:latin typeface="Times New Roman" panose="02020603050405020304" pitchFamily="18" charset="0"/>
                          <a:cs typeface="Times New Roman" panose="02020603050405020304" pitchFamily="18" charset="0"/>
                        </a:rPr>
                        <a:t>Year</a:t>
                      </a:r>
                      <a:endParaRPr lang="en-US" sz="16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1" u="none" strike="noStrike" dirty="0">
                          <a:solidFill>
                            <a:schemeClr val="bg1"/>
                          </a:solidFill>
                          <a:effectLst/>
                          <a:latin typeface="Times New Roman" panose="02020603050405020304" pitchFamily="18" charset="0"/>
                          <a:cs typeface="Times New Roman" panose="02020603050405020304" pitchFamily="18" charset="0"/>
                        </a:rPr>
                        <a:t>City, Country</a:t>
                      </a:r>
                      <a:endParaRPr lang="en-US" sz="16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1" u="none" strike="noStrike" dirty="0">
                          <a:solidFill>
                            <a:schemeClr val="bg1"/>
                          </a:solidFill>
                          <a:effectLst/>
                          <a:latin typeface="Times New Roman" panose="02020603050405020304" pitchFamily="18" charset="0"/>
                          <a:cs typeface="Times New Roman" panose="02020603050405020304" pitchFamily="18" charset="0"/>
                        </a:rPr>
                        <a:t>Continent</a:t>
                      </a:r>
                      <a:endParaRPr lang="en-US" sz="16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365091595"/>
                  </a:ext>
                </a:extLst>
              </a:tr>
              <a:tr h="287350">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XVIII</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1964</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Tokyo, Japan</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dirty="0">
                          <a:solidFill>
                            <a:srgbClr val="000000"/>
                          </a:solidFill>
                          <a:effectLst/>
                          <a:latin typeface="Times New Roman" panose="02020603050405020304" pitchFamily="18" charset="0"/>
                          <a:cs typeface="Times New Roman" panose="02020603050405020304" pitchFamily="18" charset="0"/>
                        </a:rPr>
                        <a:t>Asia</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1280199405"/>
                  </a:ext>
                </a:extLst>
              </a:tr>
              <a:tr h="287350">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XIX</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1968</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Mexico City, Mexico</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North America</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2391389394"/>
                  </a:ext>
                </a:extLst>
              </a:tr>
              <a:tr h="287350">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XX</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1972</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Munich, West Germany</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Europe</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1014809043"/>
                  </a:ext>
                </a:extLst>
              </a:tr>
              <a:tr h="287350">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XXI</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1976</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Montreal, Canada</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North America</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835869228"/>
                  </a:ext>
                </a:extLst>
              </a:tr>
              <a:tr h="287350">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XXII</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1980</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Moscow, Soviet Union</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Europe</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1687663148"/>
                  </a:ext>
                </a:extLst>
              </a:tr>
              <a:tr h="287350">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XXIII</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1984</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Los Angeles, United States</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North America</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1687604853"/>
                  </a:ext>
                </a:extLst>
              </a:tr>
              <a:tr h="287350">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XXIV</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1988</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Seoul, South Korea</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Asia</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688440376"/>
                  </a:ext>
                </a:extLst>
              </a:tr>
              <a:tr h="287350">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XXV</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1992</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Barcelona, Spain</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Europe</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2204043722"/>
                  </a:ext>
                </a:extLst>
              </a:tr>
              <a:tr h="287350">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XXVI</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1996</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Atlanta, United States</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North America</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1305401900"/>
                  </a:ext>
                </a:extLst>
              </a:tr>
              <a:tr h="287350">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XXVII</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2000</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Sydney, Australia</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Australia</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98371614"/>
                  </a:ext>
                </a:extLst>
              </a:tr>
              <a:tr h="287350">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XXVIII</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2004</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Athens, Greece</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Europe</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52835000"/>
                  </a:ext>
                </a:extLst>
              </a:tr>
              <a:tr h="287350">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XXIX</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2008</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Beijing, China</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Asia</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6270867"/>
                  </a:ext>
                </a:extLst>
              </a:tr>
              <a:tr h="287350">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XXX</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2012</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London, United Kingdom</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Europe</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134620903"/>
                  </a:ext>
                </a:extLst>
              </a:tr>
              <a:tr h="287350">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XXXI</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2016</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dirty="0">
                          <a:solidFill>
                            <a:srgbClr val="000000"/>
                          </a:solidFill>
                          <a:effectLst/>
                          <a:latin typeface="Times New Roman" panose="02020603050405020304" pitchFamily="18" charset="0"/>
                          <a:cs typeface="Times New Roman" panose="02020603050405020304" pitchFamily="18" charset="0"/>
                        </a:rPr>
                        <a:t>Rio de Janeiro, Brazil</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dirty="0">
                          <a:solidFill>
                            <a:srgbClr val="000000"/>
                          </a:solidFill>
                          <a:effectLst/>
                          <a:latin typeface="Times New Roman" panose="02020603050405020304" pitchFamily="18" charset="0"/>
                          <a:cs typeface="Times New Roman" panose="02020603050405020304" pitchFamily="18" charset="0"/>
                        </a:rPr>
                        <a:t>South America</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1625926071"/>
                  </a:ext>
                </a:extLst>
              </a:tr>
            </a:tbl>
          </a:graphicData>
        </a:graphic>
      </p:graphicFrame>
      <p:graphicFrame>
        <p:nvGraphicFramePr>
          <p:cNvPr id="11" name="Table 10">
            <a:extLst>
              <a:ext uri="{FF2B5EF4-FFF2-40B4-BE49-F238E27FC236}">
                <a16:creationId xmlns:a16="http://schemas.microsoft.com/office/drawing/2014/main" id="{6CF52ADB-47E7-41D4-384F-F22C471EBB7C}"/>
              </a:ext>
            </a:extLst>
          </p:cNvPr>
          <p:cNvGraphicFramePr>
            <a:graphicFrameLocks noGrp="1"/>
          </p:cNvGraphicFramePr>
          <p:nvPr>
            <p:extLst>
              <p:ext uri="{D42A27DB-BD31-4B8C-83A1-F6EECF244321}">
                <p14:modId xmlns:p14="http://schemas.microsoft.com/office/powerpoint/2010/main" val="1241159437"/>
              </p:ext>
            </p:extLst>
          </p:nvPr>
        </p:nvGraphicFramePr>
        <p:xfrm>
          <a:off x="327660" y="1915911"/>
          <a:ext cx="5554465" cy="4307736"/>
        </p:xfrm>
        <a:graphic>
          <a:graphicData uri="http://schemas.openxmlformats.org/drawingml/2006/table">
            <a:tbl>
              <a:tblPr firstRow="1" bandRow="1">
                <a:tableStyleId>{073A0DAA-6AF3-43AB-8588-CEC1D06C72B9}</a:tableStyleId>
              </a:tblPr>
              <a:tblGrid>
                <a:gridCol w="827651">
                  <a:extLst>
                    <a:ext uri="{9D8B030D-6E8A-4147-A177-3AD203B41FA5}">
                      <a16:colId xmlns:a16="http://schemas.microsoft.com/office/drawing/2014/main" val="2686799140"/>
                    </a:ext>
                  </a:extLst>
                </a:gridCol>
                <a:gridCol w="827651">
                  <a:extLst>
                    <a:ext uri="{9D8B030D-6E8A-4147-A177-3AD203B41FA5}">
                      <a16:colId xmlns:a16="http://schemas.microsoft.com/office/drawing/2014/main" val="683507027"/>
                    </a:ext>
                  </a:extLst>
                </a:gridCol>
                <a:gridCol w="2510546">
                  <a:extLst>
                    <a:ext uri="{9D8B030D-6E8A-4147-A177-3AD203B41FA5}">
                      <a16:colId xmlns:a16="http://schemas.microsoft.com/office/drawing/2014/main" val="2101790897"/>
                    </a:ext>
                  </a:extLst>
                </a:gridCol>
                <a:gridCol w="1388617">
                  <a:extLst>
                    <a:ext uri="{9D8B030D-6E8A-4147-A177-3AD203B41FA5}">
                      <a16:colId xmlns:a16="http://schemas.microsoft.com/office/drawing/2014/main" val="3959219217"/>
                    </a:ext>
                  </a:extLst>
                </a:gridCol>
              </a:tblGrid>
              <a:tr h="249681">
                <a:tc>
                  <a:txBody>
                    <a:bodyPr/>
                    <a:lstStyle/>
                    <a:p>
                      <a:pPr algn="ctr" fontAlgn="b">
                        <a:buNone/>
                      </a:pPr>
                      <a:r>
                        <a:rPr lang="en-US" sz="1600" b="1" u="none" strike="noStrike" dirty="0">
                          <a:solidFill>
                            <a:schemeClr val="bg1"/>
                          </a:solidFill>
                          <a:effectLst/>
                          <a:latin typeface="Times New Roman" panose="02020603050405020304" pitchFamily="18" charset="0"/>
                          <a:cs typeface="Times New Roman" panose="02020603050405020304" pitchFamily="18" charset="0"/>
                        </a:rPr>
                        <a:t>Games</a:t>
                      </a:r>
                      <a:endParaRPr lang="en-US" sz="16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1" u="none" strike="noStrike" dirty="0">
                          <a:solidFill>
                            <a:schemeClr val="bg1"/>
                          </a:solidFill>
                          <a:effectLst/>
                          <a:latin typeface="Times New Roman" panose="02020603050405020304" pitchFamily="18" charset="0"/>
                          <a:cs typeface="Times New Roman" panose="02020603050405020304" pitchFamily="18" charset="0"/>
                        </a:rPr>
                        <a:t>Year</a:t>
                      </a:r>
                      <a:endParaRPr lang="en-US" sz="16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1" u="none" strike="noStrike" dirty="0">
                          <a:solidFill>
                            <a:schemeClr val="bg1"/>
                          </a:solidFill>
                          <a:effectLst/>
                          <a:latin typeface="Times New Roman" panose="02020603050405020304" pitchFamily="18" charset="0"/>
                          <a:cs typeface="Times New Roman" panose="02020603050405020304" pitchFamily="18" charset="0"/>
                        </a:rPr>
                        <a:t>City, Country</a:t>
                      </a:r>
                      <a:endParaRPr lang="en-US" sz="16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1" u="none" strike="noStrike" dirty="0">
                          <a:solidFill>
                            <a:schemeClr val="bg1"/>
                          </a:solidFill>
                          <a:effectLst/>
                          <a:latin typeface="Times New Roman" panose="02020603050405020304" pitchFamily="18" charset="0"/>
                          <a:cs typeface="Times New Roman" panose="02020603050405020304" pitchFamily="18" charset="0"/>
                        </a:rPr>
                        <a:t>Continent</a:t>
                      </a:r>
                      <a:endParaRPr lang="en-US" sz="16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365091595"/>
                  </a:ext>
                </a:extLst>
              </a:tr>
              <a:tr h="289734">
                <a:tc>
                  <a:txBody>
                    <a:bodyPr/>
                    <a:lstStyle/>
                    <a:p>
                      <a:pPr algn="ctr" fontAlgn="b">
                        <a:buNone/>
                      </a:pPr>
                      <a:r>
                        <a:rPr lang="en-US" sz="1600" b="0" u="none" strike="noStrike" dirty="0">
                          <a:solidFill>
                            <a:srgbClr val="000000"/>
                          </a:solidFill>
                          <a:effectLst/>
                          <a:latin typeface="Times New Roman" panose="02020603050405020304" pitchFamily="18" charset="0"/>
                          <a:cs typeface="Times New Roman" panose="02020603050405020304" pitchFamily="18" charset="0"/>
                        </a:rPr>
                        <a:t>I</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1896</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dirty="0">
                          <a:solidFill>
                            <a:srgbClr val="000000"/>
                          </a:solidFill>
                          <a:effectLst/>
                          <a:latin typeface="Times New Roman" panose="02020603050405020304" pitchFamily="18" charset="0"/>
                          <a:cs typeface="Times New Roman" panose="02020603050405020304" pitchFamily="18" charset="0"/>
                        </a:rPr>
                        <a:t>Athens, Greece</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dirty="0">
                          <a:solidFill>
                            <a:srgbClr val="000000"/>
                          </a:solidFill>
                          <a:effectLst/>
                          <a:latin typeface="Times New Roman" panose="02020603050405020304" pitchFamily="18" charset="0"/>
                          <a:cs typeface="Times New Roman" panose="02020603050405020304" pitchFamily="18" charset="0"/>
                        </a:rPr>
                        <a:t>Europe</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262370353"/>
                  </a:ext>
                </a:extLst>
              </a:tr>
              <a:tr h="289734">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II</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1900</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Paris, France</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Europe</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4058687104"/>
                  </a:ext>
                </a:extLst>
              </a:tr>
              <a:tr h="289734">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III</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1904</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dirty="0">
                          <a:solidFill>
                            <a:srgbClr val="000000"/>
                          </a:solidFill>
                          <a:effectLst/>
                          <a:latin typeface="Times New Roman" panose="02020603050405020304" pitchFamily="18" charset="0"/>
                          <a:cs typeface="Times New Roman" panose="02020603050405020304" pitchFamily="18" charset="0"/>
                        </a:rPr>
                        <a:t>St. Louis, United States</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North America</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1288988412"/>
                  </a:ext>
                </a:extLst>
              </a:tr>
              <a:tr h="289734">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IV</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1908</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London, United Kingdom</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Europe</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1477487543"/>
                  </a:ext>
                </a:extLst>
              </a:tr>
              <a:tr h="289734">
                <a:tc>
                  <a:txBody>
                    <a:bodyPr/>
                    <a:lstStyle/>
                    <a:p>
                      <a:pPr algn="ctr" fontAlgn="b">
                        <a:buNone/>
                      </a:pPr>
                      <a:r>
                        <a:rPr lang="en-US" sz="1600" b="0" u="none" strike="noStrike" dirty="0">
                          <a:solidFill>
                            <a:srgbClr val="000000"/>
                          </a:solidFill>
                          <a:effectLst/>
                          <a:latin typeface="Times New Roman" panose="02020603050405020304" pitchFamily="18" charset="0"/>
                          <a:cs typeface="Times New Roman" panose="02020603050405020304" pitchFamily="18" charset="0"/>
                        </a:rPr>
                        <a:t>V</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dirty="0">
                          <a:solidFill>
                            <a:srgbClr val="000000"/>
                          </a:solidFill>
                          <a:effectLst/>
                          <a:latin typeface="Times New Roman" panose="02020603050405020304" pitchFamily="18" charset="0"/>
                          <a:cs typeface="Times New Roman" panose="02020603050405020304" pitchFamily="18" charset="0"/>
                        </a:rPr>
                        <a:t>1912</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Stockholm, Sweden</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Europe</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423082493"/>
                  </a:ext>
                </a:extLst>
              </a:tr>
              <a:tr h="289734">
                <a:tc>
                  <a:txBody>
                    <a:bodyPr/>
                    <a:lstStyle/>
                    <a:p>
                      <a:pPr algn="ctr" fontAlgn="b">
                        <a:buNone/>
                      </a:pPr>
                      <a:r>
                        <a:rPr lang="en-US" sz="1600" b="0" u="none" strike="noStrike" dirty="0">
                          <a:solidFill>
                            <a:srgbClr val="000000"/>
                          </a:solidFill>
                          <a:effectLst/>
                          <a:latin typeface="Times New Roman" panose="02020603050405020304" pitchFamily="18" charset="0"/>
                          <a:cs typeface="Times New Roman" panose="02020603050405020304" pitchFamily="18" charset="0"/>
                        </a:rPr>
                        <a:t>VII</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1920</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Antwerp, Belgium</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Europe</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220277975"/>
                  </a:ext>
                </a:extLst>
              </a:tr>
              <a:tr h="289734">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VIII</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1924</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Paris, France</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Europe</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715296144"/>
                  </a:ext>
                </a:extLst>
              </a:tr>
              <a:tr h="289734">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IX</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1928</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dirty="0">
                          <a:solidFill>
                            <a:srgbClr val="000000"/>
                          </a:solidFill>
                          <a:effectLst/>
                          <a:latin typeface="Times New Roman" panose="02020603050405020304" pitchFamily="18" charset="0"/>
                          <a:cs typeface="Times New Roman" panose="02020603050405020304" pitchFamily="18" charset="0"/>
                        </a:rPr>
                        <a:t>Amsterdam, Netherlands</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Europe</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728316628"/>
                  </a:ext>
                </a:extLst>
              </a:tr>
              <a:tr h="289734">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X</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1932</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Los Angeles, United States</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North America</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761093690"/>
                  </a:ext>
                </a:extLst>
              </a:tr>
              <a:tr h="289734">
                <a:tc>
                  <a:txBody>
                    <a:bodyPr/>
                    <a:lstStyle/>
                    <a:p>
                      <a:pPr algn="ctr" fontAlgn="b">
                        <a:buNone/>
                      </a:pPr>
                      <a:r>
                        <a:rPr lang="en-US" sz="1600" b="0" u="none" strike="noStrike" dirty="0">
                          <a:solidFill>
                            <a:srgbClr val="000000"/>
                          </a:solidFill>
                          <a:effectLst/>
                          <a:latin typeface="Times New Roman" panose="02020603050405020304" pitchFamily="18" charset="0"/>
                          <a:cs typeface="Times New Roman" panose="02020603050405020304" pitchFamily="18" charset="0"/>
                        </a:rPr>
                        <a:t>XI</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1936</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Berlin, Germany</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Europe</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690443604"/>
                  </a:ext>
                </a:extLst>
              </a:tr>
              <a:tr h="289734">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XIV</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dirty="0">
                          <a:solidFill>
                            <a:srgbClr val="000000"/>
                          </a:solidFill>
                          <a:effectLst/>
                          <a:latin typeface="Times New Roman" panose="02020603050405020304" pitchFamily="18" charset="0"/>
                          <a:cs typeface="Times New Roman" panose="02020603050405020304" pitchFamily="18" charset="0"/>
                        </a:rPr>
                        <a:t>1948</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dirty="0">
                          <a:solidFill>
                            <a:srgbClr val="000000"/>
                          </a:solidFill>
                          <a:effectLst/>
                          <a:latin typeface="Times New Roman" panose="02020603050405020304" pitchFamily="18" charset="0"/>
                          <a:cs typeface="Times New Roman" panose="02020603050405020304" pitchFamily="18" charset="0"/>
                        </a:rPr>
                        <a:t>London, United Kingdom</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Europe</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2644513106"/>
                  </a:ext>
                </a:extLst>
              </a:tr>
              <a:tr h="289734">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XV</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1952</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Helsinki, Finland</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Europe</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496513380"/>
                  </a:ext>
                </a:extLst>
              </a:tr>
              <a:tr h="289734">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XVI</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1956</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Melbourne, Australia</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dirty="0">
                          <a:solidFill>
                            <a:srgbClr val="000000"/>
                          </a:solidFill>
                          <a:effectLst/>
                          <a:latin typeface="Times New Roman" panose="02020603050405020304" pitchFamily="18" charset="0"/>
                          <a:cs typeface="Times New Roman" panose="02020603050405020304" pitchFamily="18" charset="0"/>
                        </a:rPr>
                        <a:t>Australia</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2689823204"/>
                  </a:ext>
                </a:extLst>
              </a:tr>
              <a:tr h="289734">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XVII</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1960</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dirty="0">
                          <a:solidFill>
                            <a:srgbClr val="000000"/>
                          </a:solidFill>
                          <a:effectLst/>
                          <a:latin typeface="Times New Roman" panose="02020603050405020304" pitchFamily="18" charset="0"/>
                          <a:cs typeface="Times New Roman" panose="02020603050405020304" pitchFamily="18" charset="0"/>
                        </a:rPr>
                        <a:t>Rome, Italy</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dirty="0">
                          <a:solidFill>
                            <a:srgbClr val="000000"/>
                          </a:solidFill>
                          <a:effectLst/>
                          <a:latin typeface="Times New Roman" panose="02020603050405020304" pitchFamily="18" charset="0"/>
                          <a:cs typeface="Times New Roman" panose="02020603050405020304" pitchFamily="18" charset="0"/>
                        </a:rPr>
                        <a:t>Europe</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4189030490"/>
                  </a:ext>
                </a:extLst>
              </a:tr>
            </a:tbl>
          </a:graphicData>
        </a:graphic>
      </p:graphicFrame>
      <p:grpSp>
        <p:nvGrpSpPr>
          <p:cNvPr id="3" name="Group 2">
            <a:extLst>
              <a:ext uri="{FF2B5EF4-FFF2-40B4-BE49-F238E27FC236}">
                <a16:creationId xmlns:a16="http://schemas.microsoft.com/office/drawing/2014/main" id="{DD517E55-6D45-1946-2F2C-B7BC2BDCF6CA}"/>
              </a:ext>
            </a:extLst>
          </p:cNvPr>
          <p:cNvGrpSpPr/>
          <p:nvPr/>
        </p:nvGrpSpPr>
        <p:grpSpPr>
          <a:xfrm>
            <a:off x="0" y="6544092"/>
            <a:ext cx="12192000" cy="313908"/>
            <a:chOff x="0" y="6544092"/>
            <a:chExt cx="12192000" cy="313908"/>
          </a:xfrm>
        </p:grpSpPr>
        <p:sp>
          <p:nvSpPr>
            <p:cNvPr id="5" name="Rectangle 4">
              <a:extLst>
                <a:ext uri="{FF2B5EF4-FFF2-40B4-BE49-F238E27FC236}">
                  <a16:creationId xmlns:a16="http://schemas.microsoft.com/office/drawing/2014/main" id="{B5D76684-DA81-2F8F-117E-31AA1A4C3F78}"/>
                </a:ext>
              </a:extLst>
            </p:cNvPr>
            <p:cNvSpPr/>
            <p:nvPr/>
          </p:nvSpPr>
          <p:spPr>
            <a:xfrm>
              <a:off x="0" y="6544092"/>
              <a:ext cx="12192000" cy="31390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6" name="TextBox 10">
              <a:extLst>
                <a:ext uri="{FF2B5EF4-FFF2-40B4-BE49-F238E27FC236}">
                  <a16:creationId xmlns:a16="http://schemas.microsoft.com/office/drawing/2014/main" id="{9CF16E46-0B30-9234-102B-EC39C53C62C0}"/>
                </a:ext>
              </a:extLst>
            </p:cNvPr>
            <p:cNvSpPr txBox="1"/>
            <p:nvPr/>
          </p:nvSpPr>
          <p:spPr>
            <a:xfrm>
              <a:off x="109932" y="6577518"/>
              <a:ext cx="2794997" cy="247055"/>
            </a:xfrm>
            <a:prstGeom prst="rect">
              <a:avLst/>
            </a:prstGeom>
            <a:noFill/>
          </p:spPr>
          <p:txBody>
            <a:bodyPr lIns="0" tIns="0" rIns="0" bIns="0" rtlCol="0" anchor="ctr">
              <a:spAutoFit/>
            </a:bodyPr>
            <a:lstStyle/>
            <a:p>
              <a:pPr algn="just">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ENGR. VIOLDAN E. BAYOCOT</a:t>
              </a:r>
            </a:p>
          </p:txBody>
        </p:sp>
        <p:sp>
          <p:nvSpPr>
            <p:cNvPr id="7" name="TextBox 6">
              <a:extLst>
                <a:ext uri="{FF2B5EF4-FFF2-40B4-BE49-F238E27FC236}">
                  <a16:creationId xmlns:a16="http://schemas.microsoft.com/office/drawing/2014/main" id="{A630864E-1C26-7680-3019-29164C1205BC}"/>
                </a:ext>
              </a:extLst>
            </p:cNvPr>
            <p:cNvSpPr txBox="1"/>
            <p:nvPr/>
          </p:nvSpPr>
          <p:spPr>
            <a:xfrm>
              <a:off x="3158929" y="6577518"/>
              <a:ext cx="5433668" cy="248145"/>
            </a:xfrm>
            <a:prstGeom prst="rect">
              <a:avLst/>
            </a:prstGeom>
            <a:noFill/>
          </p:spPr>
          <p:txBody>
            <a:bodyPr wrap="square" lIns="0" tIns="0" rIns="0" bIns="0" rtlCol="0" anchor="t">
              <a:spAutoFit/>
            </a:bodyPr>
            <a:lstStyle/>
            <a:p>
              <a:pPr algn="ct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[Krista K.] BECOME A PROBABILITY &amp; STATISTICS MASTER</a:t>
              </a:r>
            </a:p>
          </p:txBody>
        </p:sp>
        <p:sp>
          <p:nvSpPr>
            <p:cNvPr id="8" name="TextBox 7">
              <a:extLst>
                <a:ext uri="{FF2B5EF4-FFF2-40B4-BE49-F238E27FC236}">
                  <a16:creationId xmlns:a16="http://schemas.microsoft.com/office/drawing/2014/main" id="{7A85BD3D-D2D1-8D20-547C-0D7BFE836546}"/>
                </a:ext>
              </a:extLst>
            </p:cNvPr>
            <p:cNvSpPr txBox="1"/>
            <p:nvPr/>
          </p:nvSpPr>
          <p:spPr>
            <a:xfrm>
              <a:off x="8387007" y="6577518"/>
              <a:ext cx="3701763" cy="248145"/>
            </a:xfrm>
            <a:prstGeom prst="rect">
              <a:avLst/>
            </a:prstGeom>
            <a:noFill/>
          </p:spPr>
          <p:txBody>
            <a:bodyPr wrap="square" lIns="0" tIns="0" rIns="0" bIns="0" rtlCol="0" anchor="t">
              <a:spAutoFit/>
            </a:bodyPr>
            <a:lstStyle/>
            <a:p>
              <a:pPr algn="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QUANTITATIVE METHODS</a:t>
              </a:r>
            </a:p>
          </p:txBody>
        </p:sp>
      </p:grpSp>
    </p:spTree>
    <p:extLst>
      <p:ext uri="{BB962C8B-B14F-4D97-AF65-F5344CB8AC3E}">
        <p14:creationId xmlns:p14="http://schemas.microsoft.com/office/powerpoint/2010/main" val="18333405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up)">
                                      <p:cBhvr>
                                        <p:cTn id="17" dur="500"/>
                                        <p:tgtEl>
                                          <p:spTgt spid="11"/>
                                        </p:tgtEl>
                                      </p:cBhvr>
                                    </p:animEffect>
                                  </p:childTnLst>
                                </p:cTn>
                              </p:par>
                            </p:childTnLst>
                          </p:cTn>
                        </p:par>
                        <p:par>
                          <p:cTn id="18" fill="hold">
                            <p:stCondLst>
                              <p:cond delay="500"/>
                            </p:stCondLst>
                            <p:childTnLst>
                              <p:par>
                                <p:cTn id="19" presetID="22" presetClass="entr" presetSubtype="1" fill="hold" nodeType="after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up)">
                                      <p:cBhvr>
                                        <p:cTn id="2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957FC-B8DB-5CA5-8E89-6E0B11A8BFD3}"/>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B3ED9BAC-BC83-9CC4-2FB4-B5D651BEE509}"/>
              </a:ext>
            </a:extLst>
          </p:cNvPr>
          <p:cNvSpPr/>
          <p:nvPr/>
        </p:nvSpPr>
        <p:spPr>
          <a:xfrm>
            <a:off x="0" y="0"/>
            <a:ext cx="12192000" cy="548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sz="3000" b="1" dirty="0">
              <a:solidFill>
                <a:schemeClr val="tx1"/>
              </a:solidFill>
              <a:latin typeface="Times New Roman" panose="02020603050405020304" pitchFamily="18" charset="0"/>
              <a:cs typeface="Times New Roman" panose="02020603050405020304" pitchFamily="18" charset="0"/>
            </a:endParaRPr>
          </a:p>
        </p:txBody>
      </p:sp>
      <p:sp>
        <p:nvSpPr>
          <p:cNvPr id="2" name="Content Placeholder 2">
            <a:extLst>
              <a:ext uri="{FF2B5EF4-FFF2-40B4-BE49-F238E27FC236}">
                <a16:creationId xmlns:a16="http://schemas.microsoft.com/office/drawing/2014/main" id="{B543735E-687B-9343-0E0D-73C2A9B0DF5E}"/>
              </a:ext>
            </a:extLst>
          </p:cNvPr>
          <p:cNvSpPr txBox="1">
            <a:spLocks/>
          </p:cNvSpPr>
          <p:nvPr/>
        </p:nvSpPr>
        <p:spPr>
          <a:xfrm>
            <a:off x="0" y="0"/>
            <a:ext cx="12191998" cy="548641"/>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PH" sz="3000" b="1" dirty="0">
                <a:solidFill>
                  <a:schemeClr val="bg1"/>
                </a:solidFill>
                <a:latin typeface="Times New Roman" panose="02020603050405020304" pitchFamily="18" charset="0"/>
                <a:cs typeface="Times New Roman" panose="02020603050405020304" pitchFamily="18" charset="0"/>
              </a:rPr>
              <a:t>BUILDING DATA TABLES</a:t>
            </a:r>
            <a:endParaRPr lang="en-PH" sz="3000" b="1" dirty="0">
              <a:solidFill>
                <a:schemeClr val="bg1"/>
              </a:solidFill>
              <a:latin typeface="Courier New" panose="02070309020205020404" pitchFamily="49" charset="0"/>
              <a:cs typeface="Courier New" panose="02070309020205020404" pitchFamily="49" charset="0"/>
            </a:endParaRPr>
          </a:p>
        </p:txBody>
      </p:sp>
      <p:sp>
        <p:nvSpPr>
          <p:cNvPr id="23" name="Subtitle 2">
            <a:extLst>
              <a:ext uri="{FF2B5EF4-FFF2-40B4-BE49-F238E27FC236}">
                <a16:creationId xmlns:a16="http://schemas.microsoft.com/office/drawing/2014/main" id="{9A9AF41A-891E-254E-590C-A1A5EB709065}"/>
              </a:ext>
            </a:extLst>
          </p:cNvPr>
          <p:cNvSpPr txBox="1">
            <a:spLocks/>
          </p:cNvSpPr>
          <p:nvPr/>
        </p:nvSpPr>
        <p:spPr>
          <a:xfrm>
            <a:off x="667731" y="5373072"/>
            <a:ext cx="10856535" cy="753117"/>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dirty="0">
                <a:latin typeface="Times New Roman" panose="02020603050405020304" pitchFamily="18" charset="0"/>
                <a:cs typeface="Times New Roman" panose="02020603050405020304" pitchFamily="18" charset="0"/>
              </a:rPr>
              <a:t>If we wanted to make a data table showing the number of times each continent has hosted to summer games, we could count this number for  each continent from the data table, and create a summary table for count by continent</a:t>
            </a:r>
          </a:p>
        </p:txBody>
      </p:sp>
      <p:graphicFrame>
        <p:nvGraphicFramePr>
          <p:cNvPr id="5" name="Table 4">
            <a:extLst>
              <a:ext uri="{FF2B5EF4-FFF2-40B4-BE49-F238E27FC236}">
                <a16:creationId xmlns:a16="http://schemas.microsoft.com/office/drawing/2014/main" id="{518C8554-E1D9-4C87-EA2D-8556F6293CCE}"/>
              </a:ext>
            </a:extLst>
          </p:cNvPr>
          <p:cNvGraphicFramePr>
            <a:graphicFrameLocks noGrp="1"/>
          </p:cNvGraphicFramePr>
          <p:nvPr>
            <p:extLst>
              <p:ext uri="{D42A27DB-BD31-4B8C-83A1-F6EECF244321}">
                <p14:modId xmlns:p14="http://schemas.microsoft.com/office/powerpoint/2010/main" val="2622055833"/>
              </p:ext>
            </p:extLst>
          </p:nvPr>
        </p:nvGraphicFramePr>
        <p:xfrm>
          <a:off x="6309875" y="646698"/>
          <a:ext cx="5554465" cy="4310250"/>
        </p:xfrm>
        <a:graphic>
          <a:graphicData uri="http://schemas.openxmlformats.org/drawingml/2006/table">
            <a:tbl>
              <a:tblPr firstRow="1" bandRow="1">
                <a:tableStyleId>{073A0DAA-6AF3-43AB-8588-CEC1D06C72B9}</a:tableStyleId>
              </a:tblPr>
              <a:tblGrid>
                <a:gridCol w="827651">
                  <a:extLst>
                    <a:ext uri="{9D8B030D-6E8A-4147-A177-3AD203B41FA5}">
                      <a16:colId xmlns:a16="http://schemas.microsoft.com/office/drawing/2014/main" val="2686799140"/>
                    </a:ext>
                  </a:extLst>
                </a:gridCol>
                <a:gridCol w="827651">
                  <a:extLst>
                    <a:ext uri="{9D8B030D-6E8A-4147-A177-3AD203B41FA5}">
                      <a16:colId xmlns:a16="http://schemas.microsoft.com/office/drawing/2014/main" val="683507027"/>
                    </a:ext>
                  </a:extLst>
                </a:gridCol>
                <a:gridCol w="2510546">
                  <a:extLst>
                    <a:ext uri="{9D8B030D-6E8A-4147-A177-3AD203B41FA5}">
                      <a16:colId xmlns:a16="http://schemas.microsoft.com/office/drawing/2014/main" val="2101790897"/>
                    </a:ext>
                  </a:extLst>
                </a:gridCol>
                <a:gridCol w="1388617">
                  <a:extLst>
                    <a:ext uri="{9D8B030D-6E8A-4147-A177-3AD203B41FA5}">
                      <a16:colId xmlns:a16="http://schemas.microsoft.com/office/drawing/2014/main" val="3959219217"/>
                    </a:ext>
                  </a:extLst>
                </a:gridCol>
              </a:tblGrid>
              <a:tr h="287350">
                <a:tc>
                  <a:txBody>
                    <a:bodyPr/>
                    <a:lstStyle/>
                    <a:p>
                      <a:pPr algn="ctr" fontAlgn="b">
                        <a:buNone/>
                      </a:pPr>
                      <a:r>
                        <a:rPr lang="en-US" sz="1600" b="1" u="none" strike="noStrike" dirty="0">
                          <a:solidFill>
                            <a:schemeClr val="bg1"/>
                          </a:solidFill>
                          <a:effectLst/>
                          <a:latin typeface="Times New Roman" panose="02020603050405020304" pitchFamily="18" charset="0"/>
                          <a:cs typeface="Times New Roman" panose="02020603050405020304" pitchFamily="18" charset="0"/>
                        </a:rPr>
                        <a:t>Games</a:t>
                      </a:r>
                      <a:endParaRPr lang="en-US" sz="16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1" u="none" strike="noStrike" dirty="0">
                          <a:solidFill>
                            <a:schemeClr val="bg1"/>
                          </a:solidFill>
                          <a:effectLst/>
                          <a:latin typeface="Times New Roman" panose="02020603050405020304" pitchFamily="18" charset="0"/>
                          <a:cs typeface="Times New Roman" panose="02020603050405020304" pitchFamily="18" charset="0"/>
                        </a:rPr>
                        <a:t>Year</a:t>
                      </a:r>
                      <a:endParaRPr lang="en-US" sz="16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1" u="none" strike="noStrike" dirty="0">
                          <a:solidFill>
                            <a:schemeClr val="bg1"/>
                          </a:solidFill>
                          <a:effectLst/>
                          <a:latin typeface="Times New Roman" panose="02020603050405020304" pitchFamily="18" charset="0"/>
                          <a:cs typeface="Times New Roman" panose="02020603050405020304" pitchFamily="18" charset="0"/>
                        </a:rPr>
                        <a:t>City, Country</a:t>
                      </a:r>
                      <a:endParaRPr lang="en-US" sz="16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1" u="none" strike="noStrike" dirty="0">
                          <a:solidFill>
                            <a:schemeClr val="bg1"/>
                          </a:solidFill>
                          <a:effectLst/>
                          <a:latin typeface="Times New Roman" panose="02020603050405020304" pitchFamily="18" charset="0"/>
                          <a:cs typeface="Times New Roman" panose="02020603050405020304" pitchFamily="18" charset="0"/>
                        </a:rPr>
                        <a:t>Continent</a:t>
                      </a:r>
                      <a:endParaRPr lang="en-US" sz="16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365091595"/>
                  </a:ext>
                </a:extLst>
              </a:tr>
              <a:tr h="287350">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XVIII</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1964</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Tokyo, Japan</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dirty="0">
                          <a:solidFill>
                            <a:srgbClr val="000000"/>
                          </a:solidFill>
                          <a:effectLst/>
                          <a:latin typeface="Times New Roman" panose="02020603050405020304" pitchFamily="18" charset="0"/>
                          <a:cs typeface="Times New Roman" panose="02020603050405020304" pitchFamily="18" charset="0"/>
                        </a:rPr>
                        <a:t>Asia</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1280199405"/>
                  </a:ext>
                </a:extLst>
              </a:tr>
              <a:tr h="287350">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XIX</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1968</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Mexico City, Mexico</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North America</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2391389394"/>
                  </a:ext>
                </a:extLst>
              </a:tr>
              <a:tr h="287350">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XX</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1972</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Munich, West Germany</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Europe</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1014809043"/>
                  </a:ext>
                </a:extLst>
              </a:tr>
              <a:tr h="287350">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XXI</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1976</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Montreal, Canada</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North America</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835869228"/>
                  </a:ext>
                </a:extLst>
              </a:tr>
              <a:tr h="287350">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XXII</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1980</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Moscow, Soviet Union</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Europe</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1687663148"/>
                  </a:ext>
                </a:extLst>
              </a:tr>
              <a:tr h="287350">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XXIII</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1984</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Los Angeles, United States</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North America</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1687604853"/>
                  </a:ext>
                </a:extLst>
              </a:tr>
              <a:tr h="287350">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XXIV</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1988</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Seoul, South Korea</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Asia</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688440376"/>
                  </a:ext>
                </a:extLst>
              </a:tr>
              <a:tr h="287350">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XXV</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1992</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Barcelona, Spain</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Europe</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2204043722"/>
                  </a:ext>
                </a:extLst>
              </a:tr>
              <a:tr h="287350">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XXVI</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1996</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Atlanta, United States</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North America</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1305401900"/>
                  </a:ext>
                </a:extLst>
              </a:tr>
              <a:tr h="287350">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XXVII</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2000</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Sydney, Australia</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Australia</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98371614"/>
                  </a:ext>
                </a:extLst>
              </a:tr>
              <a:tr h="287350">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XXVIII</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2004</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Athens, Greece</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Europe</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52835000"/>
                  </a:ext>
                </a:extLst>
              </a:tr>
              <a:tr h="287350">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XXIX</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2008</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Beijing, China</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Asia</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6270867"/>
                  </a:ext>
                </a:extLst>
              </a:tr>
              <a:tr h="287350">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XXX</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2012</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London, United Kingdom</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Europe</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134620903"/>
                  </a:ext>
                </a:extLst>
              </a:tr>
              <a:tr h="287350">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XXXI</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dirty="0">
                          <a:solidFill>
                            <a:srgbClr val="000000"/>
                          </a:solidFill>
                          <a:effectLst/>
                          <a:latin typeface="Times New Roman" panose="02020603050405020304" pitchFamily="18" charset="0"/>
                          <a:cs typeface="Times New Roman" panose="02020603050405020304" pitchFamily="18" charset="0"/>
                        </a:rPr>
                        <a:t>2016</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dirty="0">
                          <a:solidFill>
                            <a:srgbClr val="000000"/>
                          </a:solidFill>
                          <a:effectLst/>
                          <a:latin typeface="Times New Roman" panose="02020603050405020304" pitchFamily="18" charset="0"/>
                          <a:cs typeface="Times New Roman" panose="02020603050405020304" pitchFamily="18" charset="0"/>
                        </a:rPr>
                        <a:t>Rio de Janeiro, Brazil</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dirty="0">
                          <a:solidFill>
                            <a:srgbClr val="000000"/>
                          </a:solidFill>
                          <a:effectLst/>
                          <a:latin typeface="Times New Roman" panose="02020603050405020304" pitchFamily="18" charset="0"/>
                          <a:cs typeface="Times New Roman" panose="02020603050405020304" pitchFamily="18" charset="0"/>
                        </a:rPr>
                        <a:t>South America</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1625926071"/>
                  </a:ext>
                </a:extLst>
              </a:tr>
            </a:tbl>
          </a:graphicData>
        </a:graphic>
      </p:graphicFrame>
      <p:graphicFrame>
        <p:nvGraphicFramePr>
          <p:cNvPr id="7" name="Table 6">
            <a:extLst>
              <a:ext uri="{FF2B5EF4-FFF2-40B4-BE49-F238E27FC236}">
                <a16:creationId xmlns:a16="http://schemas.microsoft.com/office/drawing/2014/main" id="{FF3F6B62-56AE-001E-F188-F7D4A357AB08}"/>
              </a:ext>
            </a:extLst>
          </p:cNvPr>
          <p:cNvGraphicFramePr>
            <a:graphicFrameLocks noGrp="1"/>
          </p:cNvGraphicFramePr>
          <p:nvPr>
            <p:extLst>
              <p:ext uri="{D42A27DB-BD31-4B8C-83A1-F6EECF244321}">
                <p14:modId xmlns:p14="http://schemas.microsoft.com/office/powerpoint/2010/main" val="2296547934"/>
              </p:ext>
            </p:extLst>
          </p:nvPr>
        </p:nvGraphicFramePr>
        <p:xfrm>
          <a:off x="327660" y="650991"/>
          <a:ext cx="5554465" cy="4307736"/>
        </p:xfrm>
        <a:graphic>
          <a:graphicData uri="http://schemas.openxmlformats.org/drawingml/2006/table">
            <a:tbl>
              <a:tblPr firstRow="1" bandRow="1">
                <a:tableStyleId>{073A0DAA-6AF3-43AB-8588-CEC1D06C72B9}</a:tableStyleId>
              </a:tblPr>
              <a:tblGrid>
                <a:gridCol w="827651">
                  <a:extLst>
                    <a:ext uri="{9D8B030D-6E8A-4147-A177-3AD203B41FA5}">
                      <a16:colId xmlns:a16="http://schemas.microsoft.com/office/drawing/2014/main" val="2686799140"/>
                    </a:ext>
                  </a:extLst>
                </a:gridCol>
                <a:gridCol w="827651">
                  <a:extLst>
                    <a:ext uri="{9D8B030D-6E8A-4147-A177-3AD203B41FA5}">
                      <a16:colId xmlns:a16="http://schemas.microsoft.com/office/drawing/2014/main" val="683507027"/>
                    </a:ext>
                  </a:extLst>
                </a:gridCol>
                <a:gridCol w="2510546">
                  <a:extLst>
                    <a:ext uri="{9D8B030D-6E8A-4147-A177-3AD203B41FA5}">
                      <a16:colId xmlns:a16="http://schemas.microsoft.com/office/drawing/2014/main" val="2101790897"/>
                    </a:ext>
                  </a:extLst>
                </a:gridCol>
                <a:gridCol w="1388617">
                  <a:extLst>
                    <a:ext uri="{9D8B030D-6E8A-4147-A177-3AD203B41FA5}">
                      <a16:colId xmlns:a16="http://schemas.microsoft.com/office/drawing/2014/main" val="3959219217"/>
                    </a:ext>
                  </a:extLst>
                </a:gridCol>
              </a:tblGrid>
              <a:tr h="249681">
                <a:tc>
                  <a:txBody>
                    <a:bodyPr/>
                    <a:lstStyle/>
                    <a:p>
                      <a:pPr algn="ctr" fontAlgn="b">
                        <a:buNone/>
                      </a:pPr>
                      <a:r>
                        <a:rPr lang="en-US" sz="1600" b="1" u="none" strike="noStrike" dirty="0">
                          <a:solidFill>
                            <a:schemeClr val="bg1"/>
                          </a:solidFill>
                          <a:effectLst/>
                          <a:latin typeface="Times New Roman" panose="02020603050405020304" pitchFamily="18" charset="0"/>
                          <a:cs typeface="Times New Roman" panose="02020603050405020304" pitchFamily="18" charset="0"/>
                        </a:rPr>
                        <a:t>Games</a:t>
                      </a:r>
                      <a:endParaRPr lang="en-US" sz="16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1" u="none" strike="noStrike" dirty="0">
                          <a:solidFill>
                            <a:schemeClr val="bg1"/>
                          </a:solidFill>
                          <a:effectLst/>
                          <a:latin typeface="Times New Roman" panose="02020603050405020304" pitchFamily="18" charset="0"/>
                          <a:cs typeface="Times New Roman" panose="02020603050405020304" pitchFamily="18" charset="0"/>
                        </a:rPr>
                        <a:t>Year</a:t>
                      </a:r>
                      <a:endParaRPr lang="en-US" sz="16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1" u="none" strike="noStrike" dirty="0">
                          <a:solidFill>
                            <a:schemeClr val="bg1"/>
                          </a:solidFill>
                          <a:effectLst/>
                          <a:latin typeface="Times New Roman" panose="02020603050405020304" pitchFamily="18" charset="0"/>
                          <a:cs typeface="Times New Roman" panose="02020603050405020304" pitchFamily="18" charset="0"/>
                        </a:rPr>
                        <a:t>City, Country</a:t>
                      </a:r>
                      <a:endParaRPr lang="en-US" sz="16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1" u="none" strike="noStrike" dirty="0">
                          <a:solidFill>
                            <a:schemeClr val="bg1"/>
                          </a:solidFill>
                          <a:effectLst/>
                          <a:latin typeface="Times New Roman" panose="02020603050405020304" pitchFamily="18" charset="0"/>
                          <a:cs typeface="Times New Roman" panose="02020603050405020304" pitchFamily="18" charset="0"/>
                        </a:rPr>
                        <a:t>Continent</a:t>
                      </a:r>
                      <a:endParaRPr lang="en-US" sz="16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365091595"/>
                  </a:ext>
                </a:extLst>
              </a:tr>
              <a:tr h="289734">
                <a:tc>
                  <a:txBody>
                    <a:bodyPr/>
                    <a:lstStyle/>
                    <a:p>
                      <a:pPr algn="ctr" fontAlgn="b">
                        <a:buNone/>
                      </a:pPr>
                      <a:r>
                        <a:rPr lang="en-US" sz="1600" b="0" u="none" strike="noStrike" dirty="0">
                          <a:solidFill>
                            <a:srgbClr val="000000"/>
                          </a:solidFill>
                          <a:effectLst/>
                          <a:latin typeface="Times New Roman" panose="02020603050405020304" pitchFamily="18" charset="0"/>
                          <a:cs typeface="Times New Roman" panose="02020603050405020304" pitchFamily="18" charset="0"/>
                        </a:rPr>
                        <a:t>I</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1896</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dirty="0">
                          <a:solidFill>
                            <a:srgbClr val="000000"/>
                          </a:solidFill>
                          <a:effectLst/>
                          <a:latin typeface="Times New Roman" panose="02020603050405020304" pitchFamily="18" charset="0"/>
                          <a:cs typeface="Times New Roman" panose="02020603050405020304" pitchFamily="18" charset="0"/>
                        </a:rPr>
                        <a:t>Athens, Greece</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dirty="0">
                          <a:solidFill>
                            <a:srgbClr val="000000"/>
                          </a:solidFill>
                          <a:effectLst/>
                          <a:latin typeface="Times New Roman" panose="02020603050405020304" pitchFamily="18" charset="0"/>
                          <a:cs typeface="Times New Roman" panose="02020603050405020304" pitchFamily="18" charset="0"/>
                        </a:rPr>
                        <a:t>Europe</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262370353"/>
                  </a:ext>
                </a:extLst>
              </a:tr>
              <a:tr h="289734">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II</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1900</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Paris, France</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Europe</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4058687104"/>
                  </a:ext>
                </a:extLst>
              </a:tr>
              <a:tr h="289734">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III</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1904</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St. Louis, United States</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North America</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1288988412"/>
                  </a:ext>
                </a:extLst>
              </a:tr>
              <a:tr h="289734">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IV</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1908</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London, United Kingdom</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Europe</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1477487543"/>
                  </a:ext>
                </a:extLst>
              </a:tr>
              <a:tr h="289734">
                <a:tc>
                  <a:txBody>
                    <a:bodyPr/>
                    <a:lstStyle/>
                    <a:p>
                      <a:pPr algn="ctr" fontAlgn="b">
                        <a:buNone/>
                      </a:pPr>
                      <a:r>
                        <a:rPr lang="en-US" sz="1600" b="0" u="none" strike="noStrike" dirty="0">
                          <a:solidFill>
                            <a:srgbClr val="000000"/>
                          </a:solidFill>
                          <a:effectLst/>
                          <a:latin typeface="Times New Roman" panose="02020603050405020304" pitchFamily="18" charset="0"/>
                          <a:cs typeface="Times New Roman" panose="02020603050405020304" pitchFamily="18" charset="0"/>
                        </a:rPr>
                        <a:t>V</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dirty="0">
                          <a:solidFill>
                            <a:srgbClr val="000000"/>
                          </a:solidFill>
                          <a:effectLst/>
                          <a:latin typeface="Times New Roman" panose="02020603050405020304" pitchFamily="18" charset="0"/>
                          <a:cs typeface="Times New Roman" panose="02020603050405020304" pitchFamily="18" charset="0"/>
                        </a:rPr>
                        <a:t>1912</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Stockholm, Sweden</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Europe</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423082493"/>
                  </a:ext>
                </a:extLst>
              </a:tr>
              <a:tr h="289734">
                <a:tc>
                  <a:txBody>
                    <a:bodyPr/>
                    <a:lstStyle/>
                    <a:p>
                      <a:pPr algn="ctr" fontAlgn="b">
                        <a:buNone/>
                      </a:pPr>
                      <a:r>
                        <a:rPr lang="en-US" sz="1600" b="0" u="none" strike="noStrike" dirty="0">
                          <a:solidFill>
                            <a:srgbClr val="000000"/>
                          </a:solidFill>
                          <a:effectLst/>
                          <a:latin typeface="Times New Roman" panose="02020603050405020304" pitchFamily="18" charset="0"/>
                          <a:cs typeface="Times New Roman" panose="02020603050405020304" pitchFamily="18" charset="0"/>
                        </a:rPr>
                        <a:t>VII</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1920</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Antwerp, Belgium</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Europe</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220277975"/>
                  </a:ext>
                </a:extLst>
              </a:tr>
              <a:tr h="289734">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VIII</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1924</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Paris, France</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Europe</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715296144"/>
                  </a:ext>
                </a:extLst>
              </a:tr>
              <a:tr h="289734">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IX</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1928</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dirty="0">
                          <a:solidFill>
                            <a:srgbClr val="000000"/>
                          </a:solidFill>
                          <a:effectLst/>
                          <a:latin typeface="Times New Roman" panose="02020603050405020304" pitchFamily="18" charset="0"/>
                          <a:cs typeface="Times New Roman" panose="02020603050405020304" pitchFamily="18" charset="0"/>
                        </a:rPr>
                        <a:t>Amsterdam, Netherlands</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Europe</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728316628"/>
                  </a:ext>
                </a:extLst>
              </a:tr>
              <a:tr h="289734">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X</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1932</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Los Angeles, United States</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North America</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761093690"/>
                  </a:ext>
                </a:extLst>
              </a:tr>
              <a:tr h="289734">
                <a:tc>
                  <a:txBody>
                    <a:bodyPr/>
                    <a:lstStyle/>
                    <a:p>
                      <a:pPr algn="ctr" fontAlgn="b">
                        <a:buNone/>
                      </a:pPr>
                      <a:r>
                        <a:rPr lang="en-US" sz="1600" b="0" u="none" strike="noStrike" dirty="0">
                          <a:solidFill>
                            <a:srgbClr val="000000"/>
                          </a:solidFill>
                          <a:effectLst/>
                          <a:latin typeface="Times New Roman" panose="02020603050405020304" pitchFamily="18" charset="0"/>
                          <a:cs typeface="Times New Roman" panose="02020603050405020304" pitchFamily="18" charset="0"/>
                        </a:rPr>
                        <a:t>XI</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1936</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Berlin, Germany</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Europe</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690443604"/>
                  </a:ext>
                </a:extLst>
              </a:tr>
              <a:tr h="289734">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XIV</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dirty="0">
                          <a:solidFill>
                            <a:srgbClr val="000000"/>
                          </a:solidFill>
                          <a:effectLst/>
                          <a:latin typeface="Times New Roman" panose="02020603050405020304" pitchFamily="18" charset="0"/>
                          <a:cs typeface="Times New Roman" panose="02020603050405020304" pitchFamily="18" charset="0"/>
                        </a:rPr>
                        <a:t>1948</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dirty="0">
                          <a:solidFill>
                            <a:srgbClr val="000000"/>
                          </a:solidFill>
                          <a:effectLst/>
                          <a:latin typeface="Times New Roman" panose="02020603050405020304" pitchFamily="18" charset="0"/>
                          <a:cs typeface="Times New Roman" panose="02020603050405020304" pitchFamily="18" charset="0"/>
                        </a:rPr>
                        <a:t>London, United Kingdom</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Europe</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2644513106"/>
                  </a:ext>
                </a:extLst>
              </a:tr>
              <a:tr h="289734">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XV</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1952</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Helsinki, Finland</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Europe</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496513380"/>
                  </a:ext>
                </a:extLst>
              </a:tr>
              <a:tr h="289734">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XVI</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1956</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Melbourne, Australia</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dirty="0">
                          <a:solidFill>
                            <a:srgbClr val="000000"/>
                          </a:solidFill>
                          <a:effectLst/>
                          <a:latin typeface="Times New Roman" panose="02020603050405020304" pitchFamily="18" charset="0"/>
                          <a:cs typeface="Times New Roman" panose="02020603050405020304" pitchFamily="18" charset="0"/>
                        </a:rPr>
                        <a:t>Australia</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2689823204"/>
                  </a:ext>
                </a:extLst>
              </a:tr>
              <a:tr h="289734">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XVII</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a:solidFill>
                            <a:srgbClr val="000000"/>
                          </a:solidFill>
                          <a:effectLst/>
                          <a:latin typeface="Times New Roman" panose="02020603050405020304" pitchFamily="18" charset="0"/>
                          <a:cs typeface="Times New Roman" panose="02020603050405020304" pitchFamily="18" charset="0"/>
                        </a:rPr>
                        <a:t>1960</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dirty="0">
                          <a:solidFill>
                            <a:srgbClr val="000000"/>
                          </a:solidFill>
                          <a:effectLst/>
                          <a:latin typeface="Times New Roman" panose="02020603050405020304" pitchFamily="18" charset="0"/>
                          <a:cs typeface="Times New Roman" panose="02020603050405020304" pitchFamily="18" charset="0"/>
                        </a:rPr>
                        <a:t>Rome, Italy</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0" u="none" strike="noStrike" dirty="0">
                          <a:solidFill>
                            <a:srgbClr val="000000"/>
                          </a:solidFill>
                          <a:effectLst/>
                          <a:latin typeface="Times New Roman" panose="02020603050405020304" pitchFamily="18" charset="0"/>
                          <a:cs typeface="Times New Roman" panose="02020603050405020304" pitchFamily="18" charset="0"/>
                        </a:rPr>
                        <a:t>Europe</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4189030490"/>
                  </a:ext>
                </a:extLst>
              </a:tr>
            </a:tbl>
          </a:graphicData>
        </a:graphic>
      </p:graphicFrame>
      <p:grpSp>
        <p:nvGrpSpPr>
          <p:cNvPr id="3" name="Group 2">
            <a:extLst>
              <a:ext uri="{FF2B5EF4-FFF2-40B4-BE49-F238E27FC236}">
                <a16:creationId xmlns:a16="http://schemas.microsoft.com/office/drawing/2014/main" id="{59C02F9A-704C-20D4-5480-AB1F0496D9AD}"/>
              </a:ext>
            </a:extLst>
          </p:cNvPr>
          <p:cNvGrpSpPr/>
          <p:nvPr/>
        </p:nvGrpSpPr>
        <p:grpSpPr>
          <a:xfrm>
            <a:off x="0" y="6544092"/>
            <a:ext cx="12192000" cy="313908"/>
            <a:chOff x="0" y="6544092"/>
            <a:chExt cx="12192000" cy="313908"/>
          </a:xfrm>
        </p:grpSpPr>
        <p:sp>
          <p:nvSpPr>
            <p:cNvPr id="4" name="Rectangle 3">
              <a:extLst>
                <a:ext uri="{FF2B5EF4-FFF2-40B4-BE49-F238E27FC236}">
                  <a16:creationId xmlns:a16="http://schemas.microsoft.com/office/drawing/2014/main" id="{25A07645-4B1C-5A2F-C12F-090D56D7C990}"/>
                </a:ext>
              </a:extLst>
            </p:cNvPr>
            <p:cNvSpPr/>
            <p:nvPr/>
          </p:nvSpPr>
          <p:spPr>
            <a:xfrm>
              <a:off x="0" y="6544092"/>
              <a:ext cx="12192000" cy="31390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6" name="TextBox 10">
              <a:extLst>
                <a:ext uri="{FF2B5EF4-FFF2-40B4-BE49-F238E27FC236}">
                  <a16:creationId xmlns:a16="http://schemas.microsoft.com/office/drawing/2014/main" id="{1FF86F5C-7B67-44E3-70F2-25042FF30BF4}"/>
                </a:ext>
              </a:extLst>
            </p:cNvPr>
            <p:cNvSpPr txBox="1"/>
            <p:nvPr/>
          </p:nvSpPr>
          <p:spPr>
            <a:xfrm>
              <a:off x="109932" y="6577518"/>
              <a:ext cx="2794997" cy="247055"/>
            </a:xfrm>
            <a:prstGeom prst="rect">
              <a:avLst/>
            </a:prstGeom>
            <a:noFill/>
          </p:spPr>
          <p:txBody>
            <a:bodyPr lIns="0" tIns="0" rIns="0" bIns="0" rtlCol="0" anchor="ctr">
              <a:spAutoFit/>
            </a:bodyPr>
            <a:lstStyle/>
            <a:p>
              <a:pPr algn="just">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ENGR. VIOLDAN E. BAYOCOT</a:t>
              </a:r>
            </a:p>
          </p:txBody>
        </p:sp>
        <p:sp>
          <p:nvSpPr>
            <p:cNvPr id="8" name="TextBox 7">
              <a:extLst>
                <a:ext uri="{FF2B5EF4-FFF2-40B4-BE49-F238E27FC236}">
                  <a16:creationId xmlns:a16="http://schemas.microsoft.com/office/drawing/2014/main" id="{2409A137-7DE3-C4BF-38E0-C33BDBFA6EFF}"/>
                </a:ext>
              </a:extLst>
            </p:cNvPr>
            <p:cNvSpPr txBox="1"/>
            <p:nvPr/>
          </p:nvSpPr>
          <p:spPr>
            <a:xfrm>
              <a:off x="3158929" y="6577518"/>
              <a:ext cx="5433668" cy="248145"/>
            </a:xfrm>
            <a:prstGeom prst="rect">
              <a:avLst/>
            </a:prstGeom>
            <a:noFill/>
          </p:spPr>
          <p:txBody>
            <a:bodyPr wrap="square" lIns="0" tIns="0" rIns="0" bIns="0" rtlCol="0" anchor="t">
              <a:spAutoFit/>
            </a:bodyPr>
            <a:lstStyle/>
            <a:p>
              <a:pPr algn="ct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[Krista K.] BECOME A PROBABILITY &amp; STATISTICS MASTER</a:t>
              </a:r>
            </a:p>
          </p:txBody>
        </p:sp>
        <p:sp>
          <p:nvSpPr>
            <p:cNvPr id="9" name="TextBox 8">
              <a:extLst>
                <a:ext uri="{FF2B5EF4-FFF2-40B4-BE49-F238E27FC236}">
                  <a16:creationId xmlns:a16="http://schemas.microsoft.com/office/drawing/2014/main" id="{1D0222FD-D3D5-4ED2-64F9-B068845312AA}"/>
                </a:ext>
              </a:extLst>
            </p:cNvPr>
            <p:cNvSpPr txBox="1"/>
            <p:nvPr/>
          </p:nvSpPr>
          <p:spPr>
            <a:xfrm>
              <a:off x="8387007" y="6577518"/>
              <a:ext cx="3701763" cy="248145"/>
            </a:xfrm>
            <a:prstGeom prst="rect">
              <a:avLst/>
            </a:prstGeom>
            <a:noFill/>
          </p:spPr>
          <p:txBody>
            <a:bodyPr wrap="square" lIns="0" tIns="0" rIns="0" bIns="0" rtlCol="0" anchor="t">
              <a:spAutoFit/>
            </a:bodyPr>
            <a:lstStyle/>
            <a:p>
              <a:pPr algn="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QUANTITATIVE METHODS</a:t>
              </a:r>
            </a:p>
          </p:txBody>
        </p:sp>
      </p:grpSp>
    </p:spTree>
    <p:extLst>
      <p:ext uri="{BB962C8B-B14F-4D97-AF65-F5344CB8AC3E}">
        <p14:creationId xmlns:p14="http://schemas.microsoft.com/office/powerpoint/2010/main" val="33883873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8D8AE-AB1B-BD36-3D60-F8EBFECA6EAC}"/>
            </a:ext>
          </a:extLst>
        </p:cNvPr>
        <p:cNvGrpSpPr/>
        <p:nvPr/>
      </p:nvGrpSpPr>
      <p:grpSpPr>
        <a:xfrm>
          <a:off x="0" y="0"/>
          <a:ext cx="0" cy="0"/>
          <a:chOff x="0" y="0"/>
          <a:chExt cx="0" cy="0"/>
        </a:xfrm>
      </p:grpSpPr>
      <p:sp>
        <p:nvSpPr>
          <p:cNvPr id="34" name="Rectangle 33">
            <a:extLst>
              <a:ext uri="{FF2B5EF4-FFF2-40B4-BE49-F238E27FC236}">
                <a16:creationId xmlns:a16="http://schemas.microsoft.com/office/drawing/2014/main" id="{345E6541-FCC9-1D64-8E30-1E6C386FB2C4}"/>
              </a:ext>
            </a:extLst>
          </p:cNvPr>
          <p:cNvSpPr/>
          <p:nvPr/>
        </p:nvSpPr>
        <p:spPr>
          <a:xfrm>
            <a:off x="0" y="0"/>
            <a:ext cx="12192000" cy="548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sz="3000" b="1" dirty="0">
              <a:solidFill>
                <a:schemeClr val="tx1"/>
              </a:solidFill>
              <a:latin typeface="Times New Roman" panose="02020603050405020304" pitchFamily="18" charset="0"/>
              <a:cs typeface="Times New Roman" panose="02020603050405020304" pitchFamily="18" charset="0"/>
            </a:endParaRPr>
          </a:p>
        </p:txBody>
      </p:sp>
      <p:sp>
        <p:nvSpPr>
          <p:cNvPr id="35" name="Content Placeholder 2">
            <a:extLst>
              <a:ext uri="{FF2B5EF4-FFF2-40B4-BE49-F238E27FC236}">
                <a16:creationId xmlns:a16="http://schemas.microsoft.com/office/drawing/2014/main" id="{188F0062-6116-A066-5669-BE4DA13C04CA}"/>
              </a:ext>
            </a:extLst>
          </p:cNvPr>
          <p:cNvSpPr txBox="1">
            <a:spLocks/>
          </p:cNvSpPr>
          <p:nvPr/>
        </p:nvSpPr>
        <p:spPr>
          <a:xfrm>
            <a:off x="0" y="0"/>
            <a:ext cx="12191998" cy="548641"/>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PH" sz="3000" b="1" dirty="0">
                <a:solidFill>
                  <a:schemeClr val="bg1"/>
                </a:solidFill>
                <a:latin typeface="Times New Roman" panose="02020603050405020304" pitchFamily="18" charset="0"/>
                <a:cs typeface="Times New Roman" panose="02020603050405020304" pitchFamily="18" charset="0"/>
              </a:rPr>
              <a:t>BUILDING DATA TABLES</a:t>
            </a:r>
            <a:endParaRPr lang="en-PH" sz="3000" b="1" dirty="0">
              <a:solidFill>
                <a:schemeClr val="bg1"/>
              </a:solidFill>
              <a:latin typeface="Courier New" panose="02070309020205020404" pitchFamily="49" charset="0"/>
              <a:cs typeface="Courier New" panose="02070309020205020404" pitchFamily="49" charset="0"/>
            </a:endParaRPr>
          </a:p>
        </p:txBody>
      </p:sp>
      <p:graphicFrame>
        <p:nvGraphicFramePr>
          <p:cNvPr id="36" name="Table 35">
            <a:extLst>
              <a:ext uri="{FF2B5EF4-FFF2-40B4-BE49-F238E27FC236}">
                <a16:creationId xmlns:a16="http://schemas.microsoft.com/office/drawing/2014/main" id="{1C053458-F005-E2B7-1BF0-25A1C3C8ED4E}"/>
              </a:ext>
            </a:extLst>
          </p:cNvPr>
          <p:cNvGraphicFramePr>
            <a:graphicFrameLocks noGrp="1"/>
          </p:cNvGraphicFramePr>
          <p:nvPr>
            <p:extLst>
              <p:ext uri="{D42A27DB-BD31-4B8C-83A1-F6EECF244321}">
                <p14:modId xmlns:p14="http://schemas.microsoft.com/office/powerpoint/2010/main" val="1358912596"/>
              </p:ext>
            </p:extLst>
          </p:nvPr>
        </p:nvGraphicFramePr>
        <p:xfrm>
          <a:off x="5155187" y="684791"/>
          <a:ext cx="4304786" cy="3753360"/>
        </p:xfrm>
        <a:graphic>
          <a:graphicData uri="http://schemas.openxmlformats.org/drawingml/2006/table">
            <a:tbl>
              <a:tblPr firstRow="1" bandRow="1">
                <a:tableStyleId>{073A0DAA-6AF3-43AB-8588-CEC1D06C72B9}</a:tableStyleId>
              </a:tblPr>
              <a:tblGrid>
                <a:gridCol w="641441">
                  <a:extLst>
                    <a:ext uri="{9D8B030D-6E8A-4147-A177-3AD203B41FA5}">
                      <a16:colId xmlns:a16="http://schemas.microsoft.com/office/drawing/2014/main" val="2686799140"/>
                    </a:ext>
                  </a:extLst>
                </a:gridCol>
                <a:gridCol w="641441">
                  <a:extLst>
                    <a:ext uri="{9D8B030D-6E8A-4147-A177-3AD203B41FA5}">
                      <a16:colId xmlns:a16="http://schemas.microsoft.com/office/drawing/2014/main" val="683507027"/>
                    </a:ext>
                  </a:extLst>
                </a:gridCol>
                <a:gridCol w="1945707">
                  <a:extLst>
                    <a:ext uri="{9D8B030D-6E8A-4147-A177-3AD203B41FA5}">
                      <a16:colId xmlns:a16="http://schemas.microsoft.com/office/drawing/2014/main" val="2101790897"/>
                    </a:ext>
                  </a:extLst>
                </a:gridCol>
                <a:gridCol w="1076197">
                  <a:extLst>
                    <a:ext uri="{9D8B030D-6E8A-4147-A177-3AD203B41FA5}">
                      <a16:colId xmlns:a16="http://schemas.microsoft.com/office/drawing/2014/main" val="3959219217"/>
                    </a:ext>
                  </a:extLst>
                </a:gridCol>
              </a:tblGrid>
              <a:tr h="250224">
                <a:tc>
                  <a:txBody>
                    <a:bodyPr/>
                    <a:lstStyle/>
                    <a:p>
                      <a:pPr algn="ctr" fontAlgn="b">
                        <a:buNone/>
                      </a:pPr>
                      <a:r>
                        <a:rPr lang="en-US" sz="1200" b="1" u="none" strike="noStrike" dirty="0">
                          <a:solidFill>
                            <a:schemeClr val="bg1"/>
                          </a:solidFill>
                          <a:effectLst/>
                          <a:latin typeface="Times New Roman" panose="02020603050405020304" pitchFamily="18" charset="0"/>
                          <a:cs typeface="Times New Roman" panose="02020603050405020304" pitchFamily="18" charset="0"/>
                        </a:rPr>
                        <a:t>Games</a:t>
                      </a:r>
                      <a:endParaRPr lang="en-US" sz="12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1" u="none" strike="noStrike" dirty="0">
                          <a:solidFill>
                            <a:schemeClr val="bg1"/>
                          </a:solidFill>
                          <a:effectLst/>
                          <a:latin typeface="Times New Roman" panose="02020603050405020304" pitchFamily="18" charset="0"/>
                          <a:cs typeface="Times New Roman" panose="02020603050405020304" pitchFamily="18" charset="0"/>
                        </a:rPr>
                        <a:t>Year</a:t>
                      </a:r>
                      <a:endParaRPr lang="en-US" sz="12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1" u="none" strike="noStrike" dirty="0">
                          <a:solidFill>
                            <a:schemeClr val="bg1"/>
                          </a:solidFill>
                          <a:effectLst/>
                          <a:latin typeface="Times New Roman" panose="02020603050405020304" pitchFamily="18" charset="0"/>
                          <a:cs typeface="Times New Roman" panose="02020603050405020304" pitchFamily="18" charset="0"/>
                        </a:rPr>
                        <a:t>City, Country</a:t>
                      </a:r>
                      <a:endParaRPr lang="en-US" sz="12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1" u="none" strike="noStrike" dirty="0">
                          <a:solidFill>
                            <a:schemeClr val="bg1"/>
                          </a:solidFill>
                          <a:effectLst/>
                          <a:latin typeface="Times New Roman" panose="02020603050405020304" pitchFamily="18" charset="0"/>
                          <a:cs typeface="Times New Roman" panose="02020603050405020304" pitchFamily="18" charset="0"/>
                        </a:rPr>
                        <a:t>Continent</a:t>
                      </a:r>
                      <a:endParaRPr lang="en-US" sz="12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365091595"/>
                  </a:ext>
                </a:extLst>
              </a:tr>
              <a:tr h="250224">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XVIII</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1964</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Tokyo, Japan</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dirty="0">
                          <a:solidFill>
                            <a:srgbClr val="000000"/>
                          </a:solidFill>
                          <a:effectLst/>
                          <a:latin typeface="Times New Roman" panose="02020603050405020304" pitchFamily="18" charset="0"/>
                          <a:cs typeface="Times New Roman" panose="02020603050405020304" pitchFamily="18" charset="0"/>
                        </a:rPr>
                        <a:t>Asia</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1280199405"/>
                  </a:ext>
                </a:extLst>
              </a:tr>
              <a:tr h="250224">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XIX</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1968</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Mexico City, Mexico</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North America</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2391389394"/>
                  </a:ext>
                </a:extLst>
              </a:tr>
              <a:tr h="250224">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XX</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1972</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Munich, West Germany</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Europe</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1014809043"/>
                  </a:ext>
                </a:extLst>
              </a:tr>
              <a:tr h="250224">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XXI</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1976</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Montreal, Canada</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North America</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835869228"/>
                  </a:ext>
                </a:extLst>
              </a:tr>
              <a:tr h="250224">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XXII</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1980</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Moscow, Soviet Union</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Europe</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1687663148"/>
                  </a:ext>
                </a:extLst>
              </a:tr>
              <a:tr h="250224">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XXIII</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1984</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Los Angeles, United States</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North America</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1687604853"/>
                  </a:ext>
                </a:extLst>
              </a:tr>
              <a:tr h="250224">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XXIV</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1988</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Seoul, South Korea</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Asia</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688440376"/>
                  </a:ext>
                </a:extLst>
              </a:tr>
              <a:tr h="250224">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XXV</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1992</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Barcelona, Spain</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dirty="0">
                          <a:solidFill>
                            <a:srgbClr val="000000"/>
                          </a:solidFill>
                          <a:effectLst/>
                          <a:latin typeface="Times New Roman" panose="02020603050405020304" pitchFamily="18" charset="0"/>
                          <a:cs typeface="Times New Roman" panose="02020603050405020304" pitchFamily="18" charset="0"/>
                        </a:rPr>
                        <a:t>Europe</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2204043722"/>
                  </a:ext>
                </a:extLst>
              </a:tr>
              <a:tr h="250224">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XXVI</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1996</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Atlanta, United States</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North America</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1305401900"/>
                  </a:ext>
                </a:extLst>
              </a:tr>
              <a:tr h="250224">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XXVII</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2000</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Sydney, Australia</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Australia</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98371614"/>
                  </a:ext>
                </a:extLst>
              </a:tr>
              <a:tr h="250224">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XXVIII</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2004</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Athens, Greece</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Europe</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52835000"/>
                  </a:ext>
                </a:extLst>
              </a:tr>
              <a:tr h="250224">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XXIX</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2008</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Beijing, China</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dirty="0">
                          <a:solidFill>
                            <a:srgbClr val="000000"/>
                          </a:solidFill>
                          <a:effectLst/>
                          <a:latin typeface="Times New Roman" panose="02020603050405020304" pitchFamily="18" charset="0"/>
                          <a:cs typeface="Times New Roman" panose="02020603050405020304" pitchFamily="18" charset="0"/>
                        </a:rPr>
                        <a:t>Asia</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6270867"/>
                  </a:ext>
                </a:extLst>
              </a:tr>
              <a:tr h="250224">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XXX</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2012</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London, United Kingdom</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Europe</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134620903"/>
                  </a:ext>
                </a:extLst>
              </a:tr>
              <a:tr h="250224">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XXXI</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2016</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dirty="0">
                          <a:solidFill>
                            <a:srgbClr val="000000"/>
                          </a:solidFill>
                          <a:effectLst/>
                          <a:latin typeface="Times New Roman" panose="02020603050405020304" pitchFamily="18" charset="0"/>
                          <a:cs typeface="Times New Roman" panose="02020603050405020304" pitchFamily="18" charset="0"/>
                        </a:rPr>
                        <a:t>Rio de Janeiro, Brazil</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dirty="0">
                          <a:solidFill>
                            <a:srgbClr val="000000"/>
                          </a:solidFill>
                          <a:effectLst/>
                          <a:latin typeface="Times New Roman" panose="02020603050405020304" pitchFamily="18" charset="0"/>
                          <a:cs typeface="Times New Roman" panose="02020603050405020304" pitchFamily="18" charset="0"/>
                        </a:rPr>
                        <a:t>South America</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1625926071"/>
                  </a:ext>
                </a:extLst>
              </a:tr>
            </a:tbl>
          </a:graphicData>
        </a:graphic>
      </p:graphicFrame>
      <p:graphicFrame>
        <p:nvGraphicFramePr>
          <p:cNvPr id="37" name="Table 36">
            <a:extLst>
              <a:ext uri="{FF2B5EF4-FFF2-40B4-BE49-F238E27FC236}">
                <a16:creationId xmlns:a16="http://schemas.microsoft.com/office/drawing/2014/main" id="{22D3A40A-318E-E71B-6C1E-2AEE71EBDA35}"/>
              </a:ext>
            </a:extLst>
          </p:cNvPr>
          <p:cNvGraphicFramePr>
            <a:graphicFrameLocks noGrp="1"/>
          </p:cNvGraphicFramePr>
          <p:nvPr>
            <p:extLst>
              <p:ext uri="{D42A27DB-BD31-4B8C-83A1-F6EECF244321}">
                <p14:modId xmlns:p14="http://schemas.microsoft.com/office/powerpoint/2010/main" val="1037564711"/>
              </p:ext>
            </p:extLst>
          </p:nvPr>
        </p:nvGraphicFramePr>
        <p:xfrm>
          <a:off x="327661" y="689091"/>
          <a:ext cx="4556761" cy="3753367"/>
        </p:xfrm>
        <a:graphic>
          <a:graphicData uri="http://schemas.openxmlformats.org/drawingml/2006/table">
            <a:tbl>
              <a:tblPr firstRow="1" bandRow="1">
                <a:tableStyleId>{073A0DAA-6AF3-43AB-8588-CEC1D06C72B9}</a:tableStyleId>
              </a:tblPr>
              <a:tblGrid>
                <a:gridCol w="678987">
                  <a:extLst>
                    <a:ext uri="{9D8B030D-6E8A-4147-A177-3AD203B41FA5}">
                      <a16:colId xmlns:a16="http://schemas.microsoft.com/office/drawing/2014/main" val="2686799140"/>
                    </a:ext>
                  </a:extLst>
                </a:gridCol>
                <a:gridCol w="678987">
                  <a:extLst>
                    <a:ext uri="{9D8B030D-6E8A-4147-A177-3AD203B41FA5}">
                      <a16:colId xmlns:a16="http://schemas.microsoft.com/office/drawing/2014/main" val="683507027"/>
                    </a:ext>
                  </a:extLst>
                </a:gridCol>
                <a:gridCol w="2059596">
                  <a:extLst>
                    <a:ext uri="{9D8B030D-6E8A-4147-A177-3AD203B41FA5}">
                      <a16:colId xmlns:a16="http://schemas.microsoft.com/office/drawing/2014/main" val="2101790897"/>
                    </a:ext>
                  </a:extLst>
                </a:gridCol>
                <a:gridCol w="1139191">
                  <a:extLst>
                    <a:ext uri="{9D8B030D-6E8A-4147-A177-3AD203B41FA5}">
                      <a16:colId xmlns:a16="http://schemas.microsoft.com/office/drawing/2014/main" val="3959219217"/>
                    </a:ext>
                  </a:extLst>
                </a:gridCol>
              </a:tblGrid>
              <a:tr h="217639">
                <a:tc>
                  <a:txBody>
                    <a:bodyPr/>
                    <a:lstStyle/>
                    <a:p>
                      <a:pPr algn="ctr" fontAlgn="b">
                        <a:buNone/>
                      </a:pPr>
                      <a:r>
                        <a:rPr lang="en-US" sz="1200" b="1" u="none" strike="noStrike" dirty="0">
                          <a:solidFill>
                            <a:schemeClr val="bg1"/>
                          </a:solidFill>
                          <a:effectLst/>
                          <a:latin typeface="Times New Roman" panose="02020603050405020304" pitchFamily="18" charset="0"/>
                          <a:cs typeface="Times New Roman" panose="02020603050405020304" pitchFamily="18" charset="0"/>
                        </a:rPr>
                        <a:t>Games</a:t>
                      </a:r>
                      <a:endParaRPr lang="en-US" sz="12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1" u="none" strike="noStrike" dirty="0">
                          <a:solidFill>
                            <a:schemeClr val="bg1"/>
                          </a:solidFill>
                          <a:effectLst/>
                          <a:latin typeface="Times New Roman" panose="02020603050405020304" pitchFamily="18" charset="0"/>
                          <a:cs typeface="Times New Roman" panose="02020603050405020304" pitchFamily="18" charset="0"/>
                        </a:rPr>
                        <a:t>Year</a:t>
                      </a:r>
                      <a:endParaRPr lang="en-US" sz="12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1" u="none" strike="noStrike" dirty="0">
                          <a:solidFill>
                            <a:schemeClr val="bg1"/>
                          </a:solidFill>
                          <a:effectLst/>
                          <a:latin typeface="Times New Roman" panose="02020603050405020304" pitchFamily="18" charset="0"/>
                          <a:cs typeface="Times New Roman" panose="02020603050405020304" pitchFamily="18" charset="0"/>
                        </a:rPr>
                        <a:t>City, Country</a:t>
                      </a:r>
                      <a:endParaRPr lang="en-US" sz="12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1" u="none" strike="noStrike" dirty="0">
                          <a:solidFill>
                            <a:schemeClr val="bg1"/>
                          </a:solidFill>
                          <a:effectLst/>
                          <a:latin typeface="Times New Roman" panose="02020603050405020304" pitchFamily="18" charset="0"/>
                          <a:cs typeface="Times New Roman" panose="02020603050405020304" pitchFamily="18" charset="0"/>
                        </a:rPr>
                        <a:t>Continent</a:t>
                      </a:r>
                      <a:endParaRPr lang="en-US" sz="12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365091595"/>
                  </a:ext>
                </a:extLst>
              </a:tr>
              <a:tr h="252552">
                <a:tc>
                  <a:txBody>
                    <a:bodyPr/>
                    <a:lstStyle/>
                    <a:p>
                      <a:pPr algn="ctr" fontAlgn="b">
                        <a:buNone/>
                      </a:pPr>
                      <a:r>
                        <a:rPr lang="en-US" sz="1200" b="0" u="none" strike="noStrike" dirty="0">
                          <a:solidFill>
                            <a:srgbClr val="000000"/>
                          </a:solidFill>
                          <a:effectLst/>
                          <a:latin typeface="Times New Roman" panose="02020603050405020304" pitchFamily="18" charset="0"/>
                          <a:cs typeface="Times New Roman" panose="02020603050405020304" pitchFamily="18" charset="0"/>
                        </a:rPr>
                        <a:t>I</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1896</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dirty="0">
                          <a:solidFill>
                            <a:srgbClr val="000000"/>
                          </a:solidFill>
                          <a:effectLst/>
                          <a:latin typeface="Times New Roman" panose="02020603050405020304" pitchFamily="18" charset="0"/>
                          <a:cs typeface="Times New Roman" panose="02020603050405020304" pitchFamily="18" charset="0"/>
                        </a:rPr>
                        <a:t>Athens, Greece</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dirty="0">
                          <a:solidFill>
                            <a:srgbClr val="000000"/>
                          </a:solidFill>
                          <a:effectLst/>
                          <a:latin typeface="Times New Roman" panose="02020603050405020304" pitchFamily="18" charset="0"/>
                          <a:cs typeface="Times New Roman" panose="02020603050405020304" pitchFamily="18" charset="0"/>
                        </a:rPr>
                        <a:t>Europe</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262370353"/>
                  </a:ext>
                </a:extLst>
              </a:tr>
              <a:tr h="252552">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II</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1900</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Paris, France</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Europe</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4058687104"/>
                  </a:ext>
                </a:extLst>
              </a:tr>
              <a:tr h="252552">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III</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1904</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St. Louis, United States</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North America</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1288988412"/>
                  </a:ext>
                </a:extLst>
              </a:tr>
              <a:tr h="252552">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IV</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1908</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London, United Kingdom</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Europe</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1477487543"/>
                  </a:ext>
                </a:extLst>
              </a:tr>
              <a:tr h="252552">
                <a:tc>
                  <a:txBody>
                    <a:bodyPr/>
                    <a:lstStyle/>
                    <a:p>
                      <a:pPr algn="ctr" fontAlgn="b">
                        <a:buNone/>
                      </a:pPr>
                      <a:r>
                        <a:rPr lang="en-US" sz="1200" b="0" u="none" strike="noStrike" dirty="0">
                          <a:solidFill>
                            <a:srgbClr val="000000"/>
                          </a:solidFill>
                          <a:effectLst/>
                          <a:latin typeface="Times New Roman" panose="02020603050405020304" pitchFamily="18" charset="0"/>
                          <a:cs typeface="Times New Roman" panose="02020603050405020304" pitchFamily="18" charset="0"/>
                        </a:rPr>
                        <a:t>V</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dirty="0">
                          <a:solidFill>
                            <a:srgbClr val="000000"/>
                          </a:solidFill>
                          <a:effectLst/>
                          <a:latin typeface="Times New Roman" panose="02020603050405020304" pitchFamily="18" charset="0"/>
                          <a:cs typeface="Times New Roman" panose="02020603050405020304" pitchFamily="18" charset="0"/>
                        </a:rPr>
                        <a:t>1912</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Stockholm, Sweden</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Europe</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423082493"/>
                  </a:ext>
                </a:extLst>
              </a:tr>
              <a:tr h="252552">
                <a:tc>
                  <a:txBody>
                    <a:bodyPr/>
                    <a:lstStyle/>
                    <a:p>
                      <a:pPr algn="ctr" fontAlgn="b">
                        <a:buNone/>
                      </a:pPr>
                      <a:r>
                        <a:rPr lang="en-US" sz="1200" b="0" u="none" strike="noStrike" dirty="0">
                          <a:solidFill>
                            <a:srgbClr val="000000"/>
                          </a:solidFill>
                          <a:effectLst/>
                          <a:latin typeface="Times New Roman" panose="02020603050405020304" pitchFamily="18" charset="0"/>
                          <a:cs typeface="Times New Roman" panose="02020603050405020304" pitchFamily="18" charset="0"/>
                        </a:rPr>
                        <a:t>VII</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1920</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Antwerp, Belgium</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Europe</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220277975"/>
                  </a:ext>
                </a:extLst>
              </a:tr>
              <a:tr h="252552">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VIII</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1924</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Paris, France</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Europe</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715296144"/>
                  </a:ext>
                </a:extLst>
              </a:tr>
              <a:tr h="252552">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IX</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1928</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dirty="0">
                          <a:solidFill>
                            <a:srgbClr val="000000"/>
                          </a:solidFill>
                          <a:effectLst/>
                          <a:latin typeface="Times New Roman" panose="02020603050405020304" pitchFamily="18" charset="0"/>
                          <a:cs typeface="Times New Roman" panose="02020603050405020304" pitchFamily="18" charset="0"/>
                        </a:rPr>
                        <a:t>Amsterdam, Netherlands</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Europe</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728316628"/>
                  </a:ext>
                </a:extLst>
              </a:tr>
              <a:tr h="252552">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X</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1932</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Los Angeles, United States</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North America</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761093690"/>
                  </a:ext>
                </a:extLst>
              </a:tr>
              <a:tr h="252552">
                <a:tc>
                  <a:txBody>
                    <a:bodyPr/>
                    <a:lstStyle/>
                    <a:p>
                      <a:pPr algn="ctr" fontAlgn="b">
                        <a:buNone/>
                      </a:pPr>
                      <a:r>
                        <a:rPr lang="en-US" sz="1200" b="0" u="none" strike="noStrike" dirty="0">
                          <a:solidFill>
                            <a:srgbClr val="000000"/>
                          </a:solidFill>
                          <a:effectLst/>
                          <a:latin typeface="Times New Roman" panose="02020603050405020304" pitchFamily="18" charset="0"/>
                          <a:cs typeface="Times New Roman" panose="02020603050405020304" pitchFamily="18" charset="0"/>
                        </a:rPr>
                        <a:t>XI</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1936</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Berlin, Germany</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Europe</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690443604"/>
                  </a:ext>
                </a:extLst>
              </a:tr>
              <a:tr h="252552">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XIV</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dirty="0">
                          <a:solidFill>
                            <a:srgbClr val="000000"/>
                          </a:solidFill>
                          <a:effectLst/>
                          <a:latin typeface="Times New Roman" panose="02020603050405020304" pitchFamily="18" charset="0"/>
                          <a:cs typeface="Times New Roman" panose="02020603050405020304" pitchFamily="18" charset="0"/>
                        </a:rPr>
                        <a:t>1948</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dirty="0">
                          <a:solidFill>
                            <a:srgbClr val="000000"/>
                          </a:solidFill>
                          <a:effectLst/>
                          <a:latin typeface="Times New Roman" panose="02020603050405020304" pitchFamily="18" charset="0"/>
                          <a:cs typeface="Times New Roman" panose="02020603050405020304" pitchFamily="18" charset="0"/>
                        </a:rPr>
                        <a:t>London, United Kingdom</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Europe</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2644513106"/>
                  </a:ext>
                </a:extLst>
              </a:tr>
              <a:tr h="252552">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XV</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1952</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Helsinki, Finland</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dirty="0">
                          <a:solidFill>
                            <a:srgbClr val="000000"/>
                          </a:solidFill>
                          <a:effectLst/>
                          <a:latin typeface="Times New Roman" panose="02020603050405020304" pitchFamily="18" charset="0"/>
                          <a:cs typeface="Times New Roman" panose="02020603050405020304" pitchFamily="18" charset="0"/>
                        </a:rPr>
                        <a:t>Europe</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496513380"/>
                  </a:ext>
                </a:extLst>
              </a:tr>
              <a:tr h="252552">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XVI</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1956</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Melbourne, Australia</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dirty="0">
                          <a:solidFill>
                            <a:srgbClr val="000000"/>
                          </a:solidFill>
                          <a:effectLst/>
                          <a:latin typeface="Times New Roman" panose="02020603050405020304" pitchFamily="18" charset="0"/>
                          <a:cs typeface="Times New Roman" panose="02020603050405020304" pitchFamily="18" charset="0"/>
                        </a:rPr>
                        <a:t>Australia</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2689823204"/>
                  </a:ext>
                </a:extLst>
              </a:tr>
              <a:tr h="252552">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XVII</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a:solidFill>
                            <a:srgbClr val="000000"/>
                          </a:solidFill>
                          <a:effectLst/>
                          <a:latin typeface="Times New Roman" panose="02020603050405020304" pitchFamily="18" charset="0"/>
                          <a:cs typeface="Times New Roman" panose="02020603050405020304" pitchFamily="18" charset="0"/>
                        </a:rPr>
                        <a:t>1960</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dirty="0">
                          <a:solidFill>
                            <a:srgbClr val="000000"/>
                          </a:solidFill>
                          <a:effectLst/>
                          <a:latin typeface="Times New Roman" panose="02020603050405020304" pitchFamily="18" charset="0"/>
                          <a:cs typeface="Times New Roman" panose="02020603050405020304" pitchFamily="18" charset="0"/>
                        </a:rPr>
                        <a:t>Rome, Italy</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200" b="0" u="none" strike="noStrike" dirty="0">
                          <a:solidFill>
                            <a:srgbClr val="000000"/>
                          </a:solidFill>
                          <a:effectLst/>
                          <a:latin typeface="Times New Roman" panose="02020603050405020304" pitchFamily="18" charset="0"/>
                          <a:cs typeface="Times New Roman" panose="02020603050405020304" pitchFamily="18" charset="0"/>
                        </a:rPr>
                        <a:t>Europe</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4189030490"/>
                  </a:ext>
                </a:extLst>
              </a:tr>
            </a:tbl>
          </a:graphicData>
        </a:graphic>
      </p:graphicFrame>
      <p:sp>
        <p:nvSpPr>
          <p:cNvPr id="43" name="Subtitle 2">
            <a:extLst>
              <a:ext uri="{FF2B5EF4-FFF2-40B4-BE49-F238E27FC236}">
                <a16:creationId xmlns:a16="http://schemas.microsoft.com/office/drawing/2014/main" id="{4196233A-64C8-B534-71FF-516BACB9455F}"/>
              </a:ext>
            </a:extLst>
          </p:cNvPr>
          <p:cNvSpPr txBox="1">
            <a:spLocks/>
          </p:cNvSpPr>
          <p:nvPr/>
        </p:nvSpPr>
        <p:spPr>
          <a:xfrm>
            <a:off x="667731" y="4656792"/>
            <a:ext cx="10856535" cy="753117"/>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dirty="0">
                <a:latin typeface="Times New Roman" panose="02020603050405020304" pitchFamily="18" charset="0"/>
                <a:cs typeface="Times New Roman" panose="02020603050405020304" pitchFamily="18" charset="0"/>
              </a:rPr>
              <a:t>If we wanted to make a data table showing the number of times each continent has hosted to summer games, we could count this number for  each continent from the data table, and create a summary table for count by continent</a:t>
            </a:r>
          </a:p>
        </p:txBody>
      </p:sp>
      <p:sp>
        <p:nvSpPr>
          <p:cNvPr id="44" name="Subtitle 2">
            <a:extLst>
              <a:ext uri="{FF2B5EF4-FFF2-40B4-BE49-F238E27FC236}">
                <a16:creationId xmlns:a16="http://schemas.microsoft.com/office/drawing/2014/main" id="{1557831E-D0EB-DA3C-164F-920E9AD685F2}"/>
              </a:ext>
            </a:extLst>
          </p:cNvPr>
          <p:cNvSpPr txBox="1">
            <a:spLocks/>
          </p:cNvSpPr>
          <p:nvPr/>
        </p:nvSpPr>
        <p:spPr>
          <a:xfrm>
            <a:off x="295765" y="5522114"/>
            <a:ext cx="11600470" cy="474246"/>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dirty="0">
                <a:latin typeface="Times New Roman" panose="02020603050405020304" pitchFamily="18" charset="0"/>
                <a:cs typeface="Times New Roman" panose="02020603050405020304" pitchFamily="18" charset="0"/>
              </a:rPr>
              <a:t>The summary table is often called a </a:t>
            </a:r>
            <a:r>
              <a:rPr lang="en-US" sz="2000" b="1" dirty="0">
                <a:latin typeface="Times New Roman" panose="02020603050405020304" pitchFamily="18" charset="0"/>
                <a:cs typeface="Times New Roman" panose="02020603050405020304" pitchFamily="18" charset="0"/>
              </a:rPr>
              <a:t>frequency table</a:t>
            </a:r>
            <a:r>
              <a:rPr lang="en-US" sz="2000" dirty="0">
                <a:latin typeface="Times New Roman" panose="02020603050405020304" pitchFamily="18" charset="0"/>
                <a:cs typeface="Times New Roman" panose="02020603050405020304" pitchFamily="18" charset="0"/>
              </a:rPr>
              <a:t>, which shows the  frequency or count of each individual.</a:t>
            </a:r>
          </a:p>
        </p:txBody>
      </p:sp>
      <p:graphicFrame>
        <p:nvGraphicFramePr>
          <p:cNvPr id="45" name="Table 44">
            <a:extLst>
              <a:ext uri="{FF2B5EF4-FFF2-40B4-BE49-F238E27FC236}">
                <a16:creationId xmlns:a16="http://schemas.microsoft.com/office/drawing/2014/main" id="{E01D5D46-C980-FE2B-EDCD-B2644B466DD3}"/>
              </a:ext>
            </a:extLst>
          </p:cNvPr>
          <p:cNvGraphicFramePr>
            <a:graphicFrameLocks noGrp="1"/>
          </p:cNvGraphicFramePr>
          <p:nvPr>
            <p:extLst>
              <p:ext uri="{D42A27DB-BD31-4B8C-83A1-F6EECF244321}">
                <p14:modId xmlns:p14="http://schemas.microsoft.com/office/powerpoint/2010/main" val="2123768409"/>
              </p:ext>
            </p:extLst>
          </p:nvPr>
        </p:nvGraphicFramePr>
        <p:xfrm>
          <a:off x="9591040" y="1335886"/>
          <a:ext cx="2402840" cy="3105576"/>
        </p:xfrm>
        <a:graphic>
          <a:graphicData uri="http://schemas.openxmlformats.org/drawingml/2006/table">
            <a:tbl>
              <a:tblPr firstRow="1" bandRow="1">
                <a:tableStyleId>{073A0DAA-6AF3-43AB-8588-CEC1D06C72B9}</a:tableStyleId>
              </a:tblPr>
              <a:tblGrid>
                <a:gridCol w="1602740">
                  <a:extLst>
                    <a:ext uri="{9D8B030D-6E8A-4147-A177-3AD203B41FA5}">
                      <a16:colId xmlns:a16="http://schemas.microsoft.com/office/drawing/2014/main" val="1166012533"/>
                    </a:ext>
                  </a:extLst>
                </a:gridCol>
                <a:gridCol w="800100">
                  <a:extLst>
                    <a:ext uri="{9D8B030D-6E8A-4147-A177-3AD203B41FA5}">
                      <a16:colId xmlns:a16="http://schemas.microsoft.com/office/drawing/2014/main" val="3264493246"/>
                    </a:ext>
                  </a:extLst>
                </a:gridCol>
              </a:tblGrid>
              <a:tr h="517596">
                <a:tc>
                  <a:txBody>
                    <a:bodyPr/>
                    <a:lstStyle/>
                    <a:p>
                      <a:pPr algn="ctr"/>
                      <a:r>
                        <a:rPr lang="en-US" dirty="0">
                          <a:latin typeface="Times New Roman" panose="02020603050405020304" pitchFamily="18" charset="0"/>
                          <a:cs typeface="Times New Roman" panose="02020603050405020304" pitchFamily="18" charset="0"/>
                        </a:rPr>
                        <a:t>Continent</a:t>
                      </a:r>
                    </a:p>
                  </a:txBody>
                  <a:tcPr anchor="ctr"/>
                </a:tc>
                <a:tc>
                  <a:txBody>
                    <a:bodyPr/>
                    <a:lstStyle/>
                    <a:p>
                      <a:pPr algn="ctr"/>
                      <a:r>
                        <a:rPr lang="en-US" dirty="0">
                          <a:latin typeface="Times New Roman" panose="02020603050405020304" pitchFamily="18" charset="0"/>
                          <a:cs typeface="Times New Roman" panose="02020603050405020304" pitchFamily="18" charset="0"/>
                        </a:rPr>
                        <a:t>Count</a:t>
                      </a:r>
                    </a:p>
                  </a:txBody>
                  <a:tcPr anchor="ctr"/>
                </a:tc>
                <a:extLst>
                  <a:ext uri="{0D108BD9-81ED-4DB2-BD59-A6C34878D82A}">
                    <a16:rowId xmlns:a16="http://schemas.microsoft.com/office/drawing/2014/main" val="2823845039"/>
                  </a:ext>
                </a:extLst>
              </a:tr>
              <a:tr h="517596">
                <a:tc>
                  <a:txBody>
                    <a:bodyPr/>
                    <a:lstStyle/>
                    <a:p>
                      <a:pPr algn="ctr"/>
                      <a:r>
                        <a:rPr lang="en-US" dirty="0">
                          <a:latin typeface="Times New Roman" panose="02020603050405020304" pitchFamily="18" charset="0"/>
                          <a:cs typeface="Times New Roman" panose="02020603050405020304" pitchFamily="18" charset="0"/>
                        </a:rPr>
                        <a:t>Europe</a:t>
                      </a:r>
                    </a:p>
                  </a:txBody>
                  <a:tcPr anchor="ctr"/>
                </a:tc>
                <a:tc>
                  <a:txBody>
                    <a:bodyPr/>
                    <a:lstStyle/>
                    <a:p>
                      <a:pPr algn="ctr"/>
                      <a:r>
                        <a:rPr lang="en-US" dirty="0">
                          <a:latin typeface="Times New Roman" panose="02020603050405020304" pitchFamily="18" charset="0"/>
                          <a:cs typeface="Times New Roman" panose="02020603050405020304" pitchFamily="18" charset="0"/>
                        </a:rPr>
                        <a:t>16</a:t>
                      </a:r>
                    </a:p>
                  </a:txBody>
                  <a:tcPr anchor="ctr"/>
                </a:tc>
                <a:extLst>
                  <a:ext uri="{0D108BD9-81ED-4DB2-BD59-A6C34878D82A}">
                    <a16:rowId xmlns:a16="http://schemas.microsoft.com/office/drawing/2014/main" val="910422922"/>
                  </a:ext>
                </a:extLst>
              </a:tr>
              <a:tr h="517596">
                <a:tc>
                  <a:txBody>
                    <a:bodyPr/>
                    <a:lstStyle/>
                    <a:p>
                      <a:pPr algn="ctr"/>
                      <a:r>
                        <a:rPr lang="en-US" dirty="0">
                          <a:latin typeface="Times New Roman" panose="02020603050405020304" pitchFamily="18" charset="0"/>
                          <a:cs typeface="Times New Roman" panose="02020603050405020304" pitchFamily="18" charset="0"/>
                        </a:rPr>
                        <a:t>North America</a:t>
                      </a:r>
                    </a:p>
                  </a:txBody>
                  <a:tcPr anchor="ctr"/>
                </a:tc>
                <a:tc>
                  <a:txBody>
                    <a:bodyPr/>
                    <a:lstStyle/>
                    <a:p>
                      <a:pPr algn="ctr"/>
                      <a:r>
                        <a:rPr lang="en-US" dirty="0">
                          <a:latin typeface="Times New Roman" panose="02020603050405020304" pitchFamily="18" charset="0"/>
                          <a:cs typeface="Times New Roman" panose="02020603050405020304" pitchFamily="18" charset="0"/>
                        </a:rPr>
                        <a:t>6</a:t>
                      </a:r>
                    </a:p>
                  </a:txBody>
                  <a:tcPr anchor="ctr"/>
                </a:tc>
                <a:extLst>
                  <a:ext uri="{0D108BD9-81ED-4DB2-BD59-A6C34878D82A}">
                    <a16:rowId xmlns:a16="http://schemas.microsoft.com/office/drawing/2014/main" val="2893805463"/>
                  </a:ext>
                </a:extLst>
              </a:tr>
              <a:tr h="517596">
                <a:tc>
                  <a:txBody>
                    <a:bodyPr/>
                    <a:lstStyle/>
                    <a:p>
                      <a:pPr algn="ctr"/>
                      <a:r>
                        <a:rPr lang="en-US" dirty="0">
                          <a:latin typeface="Times New Roman" panose="02020603050405020304" pitchFamily="18" charset="0"/>
                          <a:cs typeface="Times New Roman" panose="02020603050405020304" pitchFamily="18" charset="0"/>
                        </a:rPr>
                        <a:t>Asia</a:t>
                      </a:r>
                    </a:p>
                  </a:txBody>
                  <a:tcPr anchor="ctr"/>
                </a:tc>
                <a:tc>
                  <a:txBody>
                    <a:bodyPr/>
                    <a:lstStyle/>
                    <a:p>
                      <a:pPr algn="ctr"/>
                      <a:r>
                        <a:rPr lang="en-US" dirty="0">
                          <a:latin typeface="Times New Roman" panose="02020603050405020304" pitchFamily="18" charset="0"/>
                          <a:cs typeface="Times New Roman" panose="02020603050405020304" pitchFamily="18" charset="0"/>
                        </a:rPr>
                        <a:t>3</a:t>
                      </a:r>
                    </a:p>
                  </a:txBody>
                  <a:tcPr anchor="ctr"/>
                </a:tc>
                <a:extLst>
                  <a:ext uri="{0D108BD9-81ED-4DB2-BD59-A6C34878D82A}">
                    <a16:rowId xmlns:a16="http://schemas.microsoft.com/office/drawing/2014/main" val="2968804477"/>
                  </a:ext>
                </a:extLst>
              </a:tr>
              <a:tr h="517596">
                <a:tc>
                  <a:txBody>
                    <a:bodyPr/>
                    <a:lstStyle/>
                    <a:p>
                      <a:pPr algn="ctr"/>
                      <a:r>
                        <a:rPr lang="en-US" dirty="0">
                          <a:latin typeface="Times New Roman" panose="02020603050405020304" pitchFamily="18" charset="0"/>
                          <a:cs typeface="Times New Roman" panose="02020603050405020304" pitchFamily="18" charset="0"/>
                        </a:rPr>
                        <a:t>Australia</a:t>
                      </a:r>
                    </a:p>
                  </a:txBody>
                  <a:tcPr anchor="ctr"/>
                </a:tc>
                <a:tc>
                  <a:txBody>
                    <a:bodyPr/>
                    <a:lstStyle/>
                    <a:p>
                      <a:pPr algn="ctr"/>
                      <a:r>
                        <a:rPr lang="en-US" dirty="0">
                          <a:latin typeface="Times New Roman" panose="02020603050405020304" pitchFamily="18" charset="0"/>
                          <a:cs typeface="Times New Roman" panose="02020603050405020304" pitchFamily="18" charset="0"/>
                        </a:rPr>
                        <a:t>2</a:t>
                      </a:r>
                    </a:p>
                  </a:txBody>
                  <a:tcPr anchor="ctr"/>
                </a:tc>
                <a:extLst>
                  <a:ext uri="{0D108BD9-81ED-4DB2-BD59-A6C34878D82A}">
                    <a16:rowId xmlns:a16="http://schemas.microsoft.com/office/drawing/2014/main" val="953145468"/>
                  </a:ext>
                </a:extLst>
              </a:tr>
              <a:tr h="517596">
                <a:tc>
                  <a:txBody>
                    <a:bodyPr/>
                    <a:lstStyle/>
                    <a:p>
                      <a:pPr algn="ctr"/>
                      <a:r>
                        <a:rPr lang="en-US" dirty="0">
                          <a:latin typeface="Times New Roman" panose="02020603050405020304" pitchFamily="18" charset="0"/>
                          <a:cs typeface="Times New Roman" panose="02020603050405020304" pitchFamily="18" charset="0"/>
                        </a:rPr>
                        <a:t>South America</a:t>
                      </a:r>
                    </a:p>
                  </a:txBody>
                  <a:tcPr anchor="ctr"/>
                </a:tc>
                <a:tc>
                  <a:txBody>
                    <a:bodyPr/>
                    <a:lstStyle/>
                    <a:p>
                      <a:pPr algn="ctr"/>
                      <a:r>
                        <a:rPr lang="en-US" dirty="0">
                          <a:latin typeface="Times New Roman" panose="02020603050405020304" pitchFamily="18" charset="0"/>
                          <a:cs typeface="Times New Roman" panose="02020603050405020304" pitchFamily="18" charset="0"/>
                        </a:rPr>
                        <a:t>1</a:t>
                      </a:r>
                    </a:p>
                  </a:txBody>
                  <a:tcPr anchor="ctr"/>
                </a:tc>
                <a:extLst>
                  <a:ext uri="{0D108BD9-81ED-4DB2-BD59-A6C34878D82A}">
                    <a16:rowId xmlns:a16="http://schemas.microsoft.com/office/drawing/2014/main" val="1816048049"/>
                  </a:ext>
                </a:extLst>
              </a:tr>
            </a:tbl>
          </a:graphicData>
        </a:graphic>
      </p:graphicFrame>
      <p:grpSp>
        <p:nvGrpSpPr>
          <p:cNvPr id="2" name="Group 1">
            <a:extLst>
              <a:ext uri="{FF2B5EF4-FFF2-40B4-BE49-F238E27FC236}">
                <a16:creationId xmlns:a16="http://schemas.microsoft.com/office/drawing/2014/main" id="{9A76C70E-D793-5BE4-4A14-93AC54C54D86}"/>
              </a:ext>
            </a:extLst>
          </p:cNvPr>
          <p:cNvGrpSpPr/>
          <p:nvPr/>
        </p:nvGrpSpPr>
        <p:grpSpPr>
          <a:xfrm>
            <a:off x="0" y="6544092"/>
            <a:ext cx="12192000" cy="313908"/>
            <a:chOff x="0" y="6544092"/>
            <a:chExt cx="12192000" cy="313908"/>
          </a:xfrm>
        </p:grpSpPr>
        <p:sp>
          <p:nvSpPr>
            <p:cNvPr id="3" name="Rectangle 2">
              <a:extLst>
                <a:ext uri="{FF2B5EF4-FFF2-40B4-BE49-F238E27FC236}">
                  <a16:creationId xmlns:a16="http://schemas.microsoft.com/office/drawing/2014/main" id="{951081F9-0ACD-978C-CF3C-335CB3145069}"/>
                </a:ext>
              </a:extLst>
            </p:cNvPr>
            <p:cNvSpPr/>
            <p:nvPr/>
          </p:nvSpPr>
          <p:spPr>
            <a:xfrm>
              <a:off x="0" y="6544092"/>
              <a:ext cx="12192000" cy="31390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4" name="TextBox 10">
              <a:extLst>
                <a:ext uri="{FF2B5EF4-FFF2-40B4-BE49-F238E27FC236}">
                  <a16:creationId xmlns:a16="http://schemas.microsoft.com/office/drawing/2014/main" id="{A8BFC6C9-FE2E-B1E4-DCFC-3A40E02BBB62}"/>
                </a:ext>
              </a:extLst>
            </p:cNvPr>
            <p:cNvSpPr txBox="1"/>
            <p:nvPr/>
          </p:nvSpPr>
          <p:spPr>
            <a:xfrm>
              <a:off x="109932" y="6577518"/>
              <a:ext cx="2794997" cy="247055"/>
            </a:xfrm>
            <a:prstGeom prst="rect">
              <a:avLst/>
            </a:prstGeom>
            <a:noFill/>
          </p:spPr>
          <p:txBody>
            <a:bodyPr lIns="0" tIns="0" rIns="0" bIns="0" rtlCol="0" anchor="ctr">
              <a:spAutoFit/>
            </a:bodyPr>
            <a:lstStyle/>
            <a:p>
              <a:pPr algn="just">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ENGR. VIOLDAN E. BAYOCOT</a:t>
              </a:r>
            </a:p>
          </p:txBody>
        </p:sp>
        <p:sp>
          <p:nvSpPr>
            <p:cNvPr id="5" name="TextBox 4">
              <a:extLst>
                <a:ext uri="{FF2B5EF4-FFF2-40B4-BE49-F238E27FC236}">
                  <a16:creationId xmlns:a16="http://schemas.microsoft.com/office/drawing/2014/main" id="{9432C56D-E8BF-4B85-7977-ADFA65F499A5}"/>
                </a:ext>
              </a:extLst>
            </p:cNvPr>
            <p:cNvSpPr txBox="1"/>
            <p:nvPr/>
          </p:nvSpPr>
          <p:spPr>
            <a:xfrm>
              <a:off x="3158929" y="6577518"/>
              <a:ext cx="5433668" cy="248145"/>
            </a:xfrm>
            <a:prstGeom prst="rect">
              <a:avLst/>
            </a:prstGeom>
            <a:noFill/>
          </p:spPr>
          <p:txBody>
            <a:bodyPr wrap="square" lIns="0" tIns="0" rIns="0" bIns="0" rtlCol="0" anchor="t">
              <a:spAutoFit/>
            </a:bodyPr>
            <a:lstStyle/>
            <a:p>
              <a:pPr algn="ct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[Krista K.] BECOME A PROBABILITY &amp; STATISTICS MASTER</a:t>
              </a:r>
            </a:p>
          </p:txBody>
        </p:sp>
        <p:sp>
          <p:nvSpPr>
            <p:cNvPr id="6" name="TextBox 5">
              <a:extLst>
                <a:ext uri="{FF2B5EF4-FFF2-40B4-BE49-F238E27FC236}">
                  <a16:creationId xmlns:a16="http://schemas.microsoft.com/office/drawing/2014/main" id="{85096510-9003-08C0-3AFF-EB4CD28AFC87}"/>
                </a:ext>
              </a:extLst>
            </p:cNvPr>
            <p:cNvSpPr txBox="1"/>
            <p:nvPr/>
          </p:nvSpPr>
          <p:spPr>
            <a:xfrm>
              <a:off x="8387007" y="6577518"/>
              <a:ext cx="3701763" cy="248145"/>
            </a:xfrm>
            <a:prstGeom prst="rect">
              <a:avLst/>
            </a:prstGeom>
            <a:noFill/>
          </p:spPr>
          <p:txBody>
            <a:bodyPr wrap="square" lIns="0" tIns="0" rIns="0" bIns="0" rtlCol="0" anchor="t">
              <a:spAutoFit/>
            </a:bodyPr>
            <a:lstStyle/>
            <a:p>
              <a:pPr algn="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QUANTITATIVE METHODS</a:t>
              </a:r>
            </a:p>
          </p:txBody>
        </p:sp>
      </p:grpSp>
    </p:spTree>
    <p:extLst>
      <p:ext uri="{BB962C8B-B14F-4D97-AF65-F5344CB8AC3E}">
        <p14:creationId xmlns:p14="http://schemas.microsoft.com/office/powerpoint/2010/main" val="2656926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wipe(left)">
                                      <p:cBhvr>
                                        <p:cTn id="7" dur="125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36FFF-665E-78B0-CE71-C5C265CB1F87}"/>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9E8F082B-FEE8-B242-BDE6-694FC6B9B23E}"/>
              </a:ext>
            </a:extLst>
          </p:cNvPr>
          <p:cNvSpPr/>
          <p:nvPr/>
        </p:nvSpPr>
        <p:spPr>
          <a:xfrm>
            <a:off x="0" y="0"/>
            <a:ext cx="12192000" cy="548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sz="3000" b="1" dirty="0">
              <a:solidFill>
                <a:schemeClr val="tx1"/>
              </a:solidFill>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6E773F1F-5E7C-72BF-FDCB-80E6431A0E91}"/>
              </a:ext>
            </a:extLst>
          </p:cNvPr>
          <p:cNvSpPr txBox="1">
            <a:spLocks/>
          </p:cNvSpPr>
          <p:nvPr/>
        </p:nvSpPr>
        <p:spPr>
          <a:xfrm>
            <a:off x="5791200" y="0"/>
            <a:ext cx="6400797" cy="548641"/>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PH" sz="3000" b="1" dirty="0">
                <a:solidFill>
                  <a:schemeClr val="bg1"/>
                </a:solidFill>
                <a:latin typeface="Times New Roman" panose="02020603050405020304" pitchFamily="18" charset="0"/>
                <a:cs typeface="Times New Roman" panose="02020603050405020304" pitchFamily="18" charset="0"/>
              </a:rPr>
              <a:t>BAR GRAPHS</a:t>
            </a:r>
            <a:endParaRPr lang="en-PH" sz="3000" b="1" dirty="0">
              <a:solidFill>
                <a:schemeClr val="bg1"/>
              </a:solidFill>
              <a:latin typeface="Courier New" panose="02070309020205020404" pitchFamily="49" charset="0"/>
              <a:cs typeface="Courier New" panose="02070309020205020404" pitchFamily="49" charset="0"/>
            </a:endParaRPr>
          </a:p>
        </p:txBody>
      </p:sp>
      <p:sp>
        <p:nvSpPr>
          <p:cNvPr id="15" name="Subtitle 2">
            <a:extLst>
              <a:ext uri="{FF2B5EF4-FFF2-40B4-BE49-F238E27FC236}">
                <a16:creationId xmlns:a16="http://schemas.microsoft.com/office/drawing/2014/main" id="{49C9CC4E-610D-69AB-74F6-C3CAC33BA099}"/>
              </a:ext>
            </a:extLst>
          </p:cNvPr>
          <p:cNvSpPr txBox="1">
            <a:spLocks/>
          </p:cNvSpPr>
          <p:nvPr/>
        </p:nvSpPr>
        <p:spPr>
          <a:xfrm>
            <a:off x="4508750" y="710034"/>
            <a:ext cx="7151693" cy="650086"/>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dirty="0">
                <a:latin typeface="Times New Roman" panose="02020603050405020304" pitchFamily="18" charset="0"/>
                <a:cs typeface="Times New Roman" panose="02020603050405020304" pitchFamily="18" charset="0"/>
              </a:rPr>
              <a:t>If we wanted to express the count of summer games by continent in a bar graph, it might look like this:</a:t>
            </a:r>
          </a:p>
        </p:txBody>
      </p:sp>
      <p:graphicFrame>
        <p:nvGraphicFramePr>
          <p:cNvPr id="33" name="Table 32">
            <a:extLst>
              <a:ext uri="{FF2B5EF4-FFF2-40B4-BE49-F238E27FC236}">
                <a16:creationId xmlns:a16="http://schemas.microsoft.com/office/drawing/2014/main" id="{57E3941E-6F4D-4EF1-C275-FA20AFCE74CF}"/>
              </a:ext>
            </a:extLst>
          </p:cNvPr>
          <p:cNvGraphicFramePr>
            <a:graphicFrameLocks noGrp="1"/>
          </p:cNvGraphicFramePr>
          <p:nvPr>
            <p:extLst>
              <p:ext uri="{D42A27DB-BD31-4B8C-83A1-F6EECF244321}">
                <p14:modId xmlns:p14="http://schemas.microsoft.com/office/powerpoint/2010/main" val="784686605"/>
              </p:ext>
            </p:extLst>
          </p:nvPr>
        </p:nvGraphicFramePr>
        <p:xfrm>
          <a:off x="1193800" y="710034"/>
          <a:ext cx="2170868" cy="1828800"/>
        </p:xfrm>
        <a:graphic>
          <a:graphicData uri="http://schemas.openxmlformats.org/drawingml/2006/table">
            <a:tbl>
              <a:tblPr firstRow="1" bandRow="1">
                <a:tableStyleId>{073A0DAA-6AF3-43AB-8588-CEC1D06C72B9}</a:tableStyleId>
              </a:tblPr>
              <a:tblGrid>
                <a:gridCol w="1495425">
                  <a:extLst>
                    <a:ext uri="{9D8B030D-6E8A-4147-A177-3AD203B41FA5}">
                      <a16:colId xmlns:a16="http://schemas.microsoft.com/office/drawing/2014/main" val="1166012533"/>
                    </a:ext>
                  </a:extLst>
                </a:gridCol>
                <a:gridCol w="675443">
                  <a:extLst>
                    <a:ext uri="{9D8B030D-6E8A-4147-A177-3AD203B41FA5}">
                      <a16:colId xmlns:a16="http://schemas.microsoft.com/office/drawing/2014/main" val="3264493246"/>
                    </a:ext>
                  </a:extLst>
                </a:gridCol>
              </a:tblGrid>
              <a:tr h="287227">
                <a:tc>
                  <a:txBody>
                    <a:bodyPr/>
                    <a:lstStyle/>
                    <a:p>
                      <a:pPr algn="ctr"/>
                      <a:r>
                        <a:rPr lang="en-US" sz="1400" dirty="0">
                          <a:latin typeface="Times New Roman" panose="02020603050405020304" pitchFamily="18" charset="0"/>
                          <a:cs typeface="Times New Roman" panose="02020603050405020304" pitchFamily="18" charset="0"/>
                        </a:rPr>
                        <a:t>Continent</a:t>
                      </a:r>
                    </a:p>
                  </a:txBody>
                  <a:tcPr anchor="ctr"/>
                </a:tc>
                <a:tc>
                  <a:txBody>
                    <a:bodyPr/>
                    <a:lstStyle/>
                    <a:p>
                      <a:pPr algn="ctr"/>
                      <a:r>
                        <a:rPr lang="en-US" sz="1400" dirty="0">
                          <a:latin typeface="Times New Roman" panose="02020603050405020304" pitchFamily="18" charset="0"/>
                          <a:cs typeface="Times New Roman" panose="02020603050405020304" pitchFamily="18" charset="0"/>
                        </a:rPr>
                        <a:t>Count</a:t>
                      </a:r>
                    </a:p>
                  </a:txBody>
                  <a:tcPr anchor="ctr"/>
                </a:tc>
                <a:extLst>
                  <a:ext uri="{0D108BD9-81ED-4DB2-BD59-A6C34878D82A}">
                    <a16:rowId xmlns:a16="http://schemas.microsoft.com/office/drawing/2014/main" val="2823845039"/>
                  </a:ext>
                </a:extLst>
              </a:tr>
              <a:tr h="287227">
                <a:tc>
                  <a:txBody>
                    <a:bodyPr/>
                    <a:lstStyle/>
                    <a:p>
                      <a:pPr algn="ctr"/>
                      <a:r>
                        <a:rPr lang="en-US" sz="1400" dirty="0">
                          <a:latin typeface="Times New Roman" panose="02020603050405020304" pitchFamily="18" charset="0"/>
                          <a:cs typeface="Times New Roman" panose="02020603050405020304" pitchFamily="18" charset="0"/>
                        </a:rPr>
                        <a:t>Europe</a:t>
                      </a:r>
                    </a:p>
                  </a:txBody>
                  <a:tcPr anchor="ctr"/>
                </a:tc>
                <a:tc>
                  <a:txBody>
                    <a:bodyPr/>
                    <a:lstStyle/>
                    <a:p>
                      <a:pPr algn="ctr"/>
                      <a:r>
                        <a:rPr lang="en-US" sz="1400" dirty="0">
                          <a:latin typeface="Times New Roman" panose="02020603050405020304" pitchFamily="18" charset="0"/>
                          <a:cs typeface="Times New Roman" panose="02020603050405020304" pitchFamily="18" charset="0"/>
                        </a:rPr>
                        <a:t>16</a:t>
                      </a:r>
                    </a:p>
                  </a:txBody>
                  <a:tcPr anchor="ctr"/>
                </a:tc>
                <a:extLst>
                  <a:ext uri="{0D108BD9-81ED-4DB2-BD59-A6C34878D82A}">
                    <a16:rowId xmlns:a16="http://schemas.microsoft.com/office/drawing/2014/main" val="910422922"/>
                  </a:ext>
                </a:extLst>
              </a:tr>
              <a:tr h="287227">
                <a:tc>
                  <a:txBody>
                    <a:bodyPr/>
                    <a:lstStyle/>
                    <a:p>
                      <a:pPr algn="ctr"/>
                      <a:r>
                        <a:rPr lang="en-US" sz="1400" dirty="0">
                          <a:latin typeface="Times New Roman" panose="02020603050405020304" pitchFamily="18" charset="0"/>
                          <a:cs typeface="Times New Roman" panose="02020603050405020304" pitchFamily="18" charset="0"/>
                        </a:rPr>
                        <a:t>North America</a:t>
                      </a:r>
                    </a:p>
                  </a:txBody>
                  <a:tcPr anchor="ctr"/>
                </a:tc>
                <a:tc>
                  <a:txBody>
                    <a:bodyPr/>
                    <a:lstStyle/>
                    <a:p>
                      <a:pPr algn="ctr"/>
                      <a:r>
                        <a:rPr lang="en-US" sz="1400" dirty="0">
                          <a:latin typeface="Times New Roman" panose="02020603050405020304" pitchFamily="18" charset="0"/>
                          <a:cs typeface="Times New Roman" panose="02020603050405020304" pitchFamily="18" charset="0"/>
                        </a:rPr>
                        <a:t>6</a:t>
                      </a:r>
                    </a:p>
                  </a:txBody>
                  <a:tcPr anchor="ctr"/>
                </a:tc>
                <a:extLst>
                  <a:ext uri="{0D108BD9-81ED-4DB2-BD59-A6C34878D82A}">
                    <a16:rowId xmlns:a16="http://schemas.microsoft.com/office/drawing/2014/main" val="2893805463"/>
                  </a:ext>
                </a:extLst>
              </a:tr>
              <a:tr h="287227">
                <a:tc>
                  <a:txBody>
                    <a:bodyPr/>
                    <a:lstStyle/>
                    <a:p>
                      <a:pPr algn="ctr"/>
                      <a:r>
                        <a:rPr lang="en-US" sz="1400" dirty="0">
                          <a:latin typeface="Times New Roman" panose="02020603050405020304" pitchFamily="18" charset="0"/>
                          <a:cs typeface="Times New Roman" panose="02020603050405020304" pitchFamily="18" charset="0"/>
                        </a:rPr>
                        <a:t>Asia</a:t>
                      </a:r>
                    </a:p>
                  </a:txBody>
                  <a:tcPr anchor="ctr"/>
                </a:tc>
                <a:tc>
                  <a:txBody>
                    <a:bodyPr/>
                    <a:lstStyle/>
                    <a:p>
                      <a:pPr algn="ctr"/>
                      <a:r>
                        <a:rPr lang="en-US" sz="1400" dirty="0">
                          <a:latin typeface="Times New Roman" panose="02020603050405020304" pitchFamily="18" charset="0"/>
                          <a:cs typeface="Times New Roman" panose="02020603050405020304" pitchFamily="18" charset="0"/>
                        </a:rPr>
                        <a:t>3</a:t>
                      </a:r>
                    </a:p>
                  </a:txBody>
                  <a:tcPr anchor="ctr"/>
                </a:tc>
                <a:extLst>
                  <a:ext uri="{0D108BD9-81ED-4DB2-BD59-A6C34878D82A}">
                    <a16:rowId xmlns:a16="http://schemas.microsoft.com/office/drawing/2014/main" val="2968804477"/>
                  </a:ext>
                </a:extLst>
              </a:tr>
              <a:tr h="287227">
                <a:tc>
                  <a:txBody>
                    <a:bodyPr/>
                    <a:lstStyle/>
                    <a:p>
                      <a:pPr algn="ctr"/>
                      <a:r>
                        <a:rPr lang="en-US" sz="1400" dirty="0">
                          <a:latin typeface="Times New Roman" panose="02020603050405020304" pitchFamily="18" charset="0"/>
                          <a:cs typeface="Times New Roman" panose="02020603050405020304" pitchFamily="18" charset="0"/>
                        </a:rPr>
                        <a:t>Australia</a:t>
                      </a:r>
                    </a:p>
                  </a:txBody>
                  <a:tcPr anchor="ctr"/>
                </a:tc>
                <a:tc>
                  <a:txBody>
                    <a:bodyPr/>
                    <a:lstStyle/>
                    <a:p>
                      <a:pPr algn="ctr"/>
                      <a:r>
                        <a:rPr lang="en-US" sz="1400" dirty="0">
                          <a:latin typeface="Times New Roman" panose="02020603050405020304" pitchFamily="18" charset="0"/>
                          <a:cs typeface="Times New Roman" panose="02020603050405020304" pitchFamily="18" charset="0"/>
                        </a:rPr>
                        <a:t>2</a:t>
                      </a:r>
                    </a:p>
                  </a:txBody>
                  <a:tcPr anchor="ctr"/>
                </a:tc>
                <a:extLst>
                  <a:ext uri="{0D108BD9-81ED-4DB2-BD59-A6C34878D82A}">
                    <a16:rowId xmlns:a16="http://schemas.microsoft.com/office/drawing/2014/main" val="953145468"/>
                  </a:ext>
                </a:extLst>
              </a:tr>
              <a:tr h="287227">
                <a:tc>
                  <a:txBody>
                    <a:bodyPr/>
                    <a:lstStyle/>
                    <a:p>
                      <a:pPr algn="ctr"/>
                      <a:r>
                        <a:rPr lang="en-US" sz="1400" dirty="0">
                          <a:latin typeface="Times New Roman" panose="02020603050405020304" pitchFamily="18" charset="0"/>
                          <a:cs typeface="Times New Roman" panose="02020603050405020304" pitchFamily="18" charset="0"/>
                        </a:rPr>
                        <a:t>South America</a:t>
                      </a:r>
                    </a:p>
                  </a:txBody>
                  <a:tcPr anchor="ctr"/>
                </a:tc>
                <a:tc>
                  <a:txBody>
                    <a:bodyPr/>
                    <a:lstStyle/>
                    <a:p>
                      <a:pPr algn="ctr"/>
                      <a:r>
                        <a:rPr lang="en-US" sz="1400" dirty="0">
                          <a:latin typeface="Times New Roman" panose="02020603050405020304" pitchFamily="18" charset="0"/>
                          <a:cs typeface="Times New Roman" panose="02020603050405020304" pitchFamily="18" charset="0"/>
                        </a:rPr>
                        <a:t>1</a:t>
                      </a:r>
                    </a:p>
                  </a:txBody>
                  <a:tcPr anchor="ctr"/>
                </a:tc>
                <a:extLst>
                  <a:ext uri="{0D108BD9-81ED-4DB2-BD59-A6C34878D82A}">
                    <a16:rowId xmlns:a16="http://schemas.microsoft.com/office/drawing/2014/main" val="1816048049"/>
                  </a:ext>
                </a:extLst>
              </a:tr>
            </a:tbl>
          </a:graphicData>
        </a:graphic>
      </p:graphicFrame>
      <p:sp>
        <p:nvSpPr>
          <p:cNvPr id="20" name="Subtitle 2">
            <a:extLst>
              <a:ext uri="{FF2B5EF4-FFF2-40B4-BE49-F238E27FC236}">
                <a16:creationId xmlns:a16="http://schemas.microsoft.com/office/drawing/2014/main" id="{47987DBE-F4FE-4ACF-71D8-6D19FD308FAE}"/>
              </a:ext>
            </a:extLst>
          </p:cNvPr>
          <p:cNvSpPr txBox="1">
            <a:spLocks/>
          </p:cNvSpPr>
          <p:nvPr/>
        </p:nvSpPr>
        <p:spPr>
          <a:xfrm>
            <a:off x="159326" y="2866188"/>
            <a:ext cx="4149437" cy="902444"/>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sz="1600" dirty="0">
                <a:latin typeface="Times New Roman" panose="02020603050405020304" pitchFamily="18" charset="0"/>
                <a:cs typeface="Times New Roman" panose="02020603050405020304" pitchFamily="18" charset="0"/>
              </a:rPr>
              <a:t>The bar graph is a nice way to represent this data, because we can quickly get a visual picture of which continents have hosted the summer games most often.</a:t>
            </a:r>
          </a:p>
        </p:txBody>
      </p:sp>
      <p:sp>
        <p:nvSpPr>
          <p:cNvPr id="23" name="Subtitle 2">
            <a:extLst>
              <a:ext uri="{FF2B5EF4-FFF2-40B4-BE49-F238E27FC236}">
                <a16:creationId xmlns:a16="http://schemas.microsoft.com/office/drawing/2014/main" id="{868BCA0B-49A2-BBD9-0CC7-739D09E5259D}"/>
              </a:ext>
            </a:extLst>
          </p:cNvPr>
          <p:cNvSpPr txBox="1">
            <a:spLocks/>
          </p:cNvSpPr>
          <p:nvPr/>
        </p:nvSpPr>
        <p:spPr>
          <a:xfrm>
            <a:off x="159327" y="3894811"/>
            <a:ext cx="4149437" cy="2214771"/>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sz="1600" dirty="0">
                <a:latin typeface="Times New Roman" panose="02020603050405020304" pitchFamily="18" charset="0"/>
                <a:cs typeface="Times New Roman" panose="02020603050405020304" pitchFamily="18" charset="0"/>
              </a:rPr>
              <a:t>Now we can quickly see that </a:t>
            </a:r>
            <a:r>
              <a:rPr lang="en-US" sz="1600" b="1" dirty="0">
                <a:latin typeface="Times New Roman" panose="02020603050405020304" pitchFamily="18" charset="0"/>
                <a:cs typeface="Times New Roman" panose="02020603050405020304" pitchFamily="18" charset="0"/>
              </a:rPr>
              <a:t>Europe</a:t>
            </a:r>
            <a:r>
              <a:rPr lang="en-US" sz="1600" dirty="0">
                <a:latin typeface="Times New Roman" panose="02020603050405020304" pitchFamily="18" charset="0"/>
                <a:cs typeface="Times New Roman" panose="02020603050405020304" pitchFamily="18" charset="0"/>
              </a:rPr>
              <a:t> has hosted more summer games by far than any other continent, </a:t>
            </a:r>
            <a:r>
              <a:rPr lang="en-US" sz="1600" b="1" dirty="0">
                <a:latin typeface="Times New Roman" panose="02020603050405020304" pitchFamily="18" charset="0"/>
                <a:cs typeface="Times New Roman" panose="02020603050405020304" pitchFamily="18" charset="0"/>
              </a:rPr>
              <a:t>North America</a:t>
            </a:r>
            <a:r>
              <a:rPr lang="en-US" sz="1600" dirty="0">
                <a:latin typeface="Times New Roman" panose="02020603050405020304" pitchFamily="18" charset="0"/>
                <a:cs typeface="Times New Roman" panose="02020603050405020304" pitchFamily="18" charset="0"/>
              </a:rPr>
              <a:t> has hosted the second-most number, and </a:t>
            </a:r>
            <a:r>
              <a:rPr lang="en-US" sz="1600" b="1" dirty="0">
                <a:latin typeface="Times New Roman" panose="02020603050405020304" pitchFamily="18" charset="0"/>
                <a:cs typeface="Times New Roman" panose="02020603050405020304" pitchFamily="18" charset="0"/>
              </a:rPr>
              <a:t>South America </a:t>
            </a:r>
            <a:r>
              <a:rPr lang="en-US" sz="1600" dirty="0">
                <a:latin typeface="Times New Roman" panose="02020603050405020304" pitchFamily="18" charset="0"/>
                <a:cs typeface="Times New Roman" panose="02020603050405020304" pitchFamily="18" charset="0"/>
              </a:rPr>
              <a:t>has hosted the summer games the fewest number of times. With this particular dataset, since we know there are </a:t>
            </a:r>
            <a:r>
              <a:rPr lang="en-US" sz="1600" b="1" dirty="0">
                <a:latin typeface="Times New Roman" panose="02020603050405020304" pitchFamily="18" charset="0"/>
                <a:cs typeface="Times New Roman" panose="02020603050405020304" pitchFamily="18" charset="0"/>
              </a:rPr>
              <a:t>7 continents</a:t>
            </a:r>
            <a:r>
              <a:rPr lang="en-US" sz="1600" dirty="0">
                <a:latin typeface="Times New Roman" panose="02020603050405020304" pitchFamily="18" charset="0"/>
                <a:cs typeface="Times New Roman" panose="02020603050405020304" pitchFamily="18" charset="0"/>
              </a:rPr>
              <a:t>, we could infer from the graph that </a:t>
            </a:r>
            <a:r>
              <a:rPr lang="en-US" sz="1600" b="1" dirty="0">
                <a:latin typeface="Times New Roman" panose="02020603050405020304" pitchFamily="18" charset="0"/>
                <a:cs typeface="Times New Roman" panose="02020603050405020304" pitchFamily="18" charset="0"/>
              </a:rPr>
              <a:t>Africa</a:t>
            </a:r>
            <a:r>
              <a:rPr lang="en-US" sz="1600" dirty="0">
                <a:latin typeface="Times New Roman" panose="02020603050405020304" pitchFamily="18" charset="0"/>
                <a:cs typeface="Times New Roman" panose="02020603050405020304" pitchFamily="18" charset="0"/>
              </a:rPr>
              <a:t> and </a:t>
            </a:r>
            <a:r>
              <a:rPr lang="en-US" sz="1600" b="1" dirty="0">
                <a:latin typeface="Times New Roman" panose="02020603050405020304" pitchFamily="18" charset="0"/>
                <a:cs typeface="Times New Roman" panose="02020603050405020304" pitchFamily="18" charset="0"/>
              </a:rPr>
              <a:t>Antarctica</a:t>
            </a:r>
            <a:r>
              <a:rPr lang="en-US" sz="1600" dirty="0">
                <a:latin typeface="Times New Roman" panose="02020603050405020304" pitchFamily="18" charset="0"/>
                <a:cs typeface="Times New Roman" panose="02020603050405020304" pitchFamily="18" charset="0"/>
              </a:rPr>
              <a:t> have  </a:t>
            </a:r>
            <a:r>
              <a:rPr lang="en-US" sz="1600" b="1" dirty="0">
                <a:latin typeface="Times New Roman" panose="02020603050405020304" pitchFamily="18" charset="0"/>
                <a:cs typeface="Times New Roman" panose="02020603050405020304" pitchFamily="18" charset="0"/>
              </a:rPr>
              <a:t>never</a:t>
            </a:r>
            <a:r>
              <a:rPr lang="en-US" sz="1600" dirty="0">
                <a:latin typeface="Times New Roman" panose="02020603050405020304" pitchFamily="18" charset="0"/>
                <a:cs typeface="Times New Roman" panose="02020603050405020304" pitchFamily="18" charset="0"/>
              </a:rPr>
              <a:t> hosted the summer games.</a:t>
            </a:r>
          </a:p>
        </p:txBody>
      </p:sp>
      <p:sp>
        <p:nvSpPr>
          <p:cNvPr id="39" name="Content Placeholder 2">
            <a:extLst>
              <a:ext uri="{FF2B5EF4-FFF2-40B4-BE49-F238E27FC236}">
                <a16:creationId xmlns:a16="http://schemas.microsoft.com/office/drawing/2014/main" id="{0FDFDEC5-8FAF-E29C-E89B-529BD365A4B4}"/>
              </a:ext>
            </a:extLst>
          </p:cNvPr>
          <p:cNvSpPr txBox="1">
            <a:spLocks/>
          </p:cNvSpPr>
          <p:nvPr/>
        </p:nvSpPr>
        <p:spPr>
          <a:xfrm>
            <a:off x="1761744" y="0"/>
            <a:ext cx="4096512" cy="548641"/>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PH" sz="3000" b="1" dirty="0">
                <a:solidFill>
                  <a:schemeClr val="bg1"/>
                </a:solidFill>
                <a:latin typeface="Times New Roman" panose="02020603050405020304" pitchFamily="18" charset="0"/>
                <a:cs typeface="Times New Roman" panose="02020603050405020304" pitchFamily="18" charset="0"/>
              </a:rPr>
              <a:t>BUILDING</a:t>
            </a:r>
            <a:endParaRPr lang="en-PH" sz="3000" b="1" dirty="0">
              <a:solidFill>
                <a:schemeClr val="bg1"/>
              </a:solidFill>
              <a:latin typeface="Courier New" panose="02070309020205020404" pitchFamily="49" charset="0"/>
              <a:cs typeface="Courier New" panose="02070309020205020404" pitchFamily="49" charset="0"/>
            </a:endParaRPr>
          </a:p>
        </p:txBody>
      </p:sp>
      <p:grpSp>
        <p:nvGrpSpPr>
          <p:cNvPr id="2" name="Group 1">
            <a:extLst>
              <a:ext uri="{FF2B5EF4-FFF2-40B4-BE49-F238E27FC236}">
                <a16:creationId xmlns:a16="http://schemas.microsoft.com/office/drawing/2014/main" id="{02F95891-8EBE-9B63-F8FA-3563E8B39782}"/>
              </a:ext>
            </a:extLst>
          </p:cNvPr>
          <p:cNvGrpSpPr/>
          <p:nvPr/>
        </p:nvGrpSpPr>
        <p:grpSpPr>
          <a:xfrm>
            <a:off x="0" y="6544092"/>
            <a:ext cx="12192000" cy="313908"/>
            <a:chOff x="0" y="6544092"/>
            <a:chExt cx="12192000" cy="313908"/>
          </a:xfrm>
        </p:grpSpPr>
        <p:sp>
          <p:nvSpPr>
            <p:cNvPr id="3" name="Rectangle 2">
              <a:extLst>
                <a:ext uri="{FF2B5EF4-FFF2-40B4-BE49-F238E27FC236}">
                  <a16:creationId xmlns:a16="http://schemas.microsoft.com/office/drawing/2014/main" id="{E84BC0DC-C7CF-F042-5FEA-93F47B093F8B}"/>
                </a:ext>
              </a:extLst>
            </p:cNvPr>
            <p:cNvSpPr/>
            <p:nvPr/>
          </p:nvSpPr>
          <p:spPr>
            <a:xfrm>
              <a:off x="0" y="6544092"/>
              <a:ext cx="12192000" cy="31390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4" name="TextBox 10">
              <a:extLst>
                <a:ext uri="{FF2B5EF4-FFF2-40B4-BE49-F238E27FC236}">
                  <a16:creationId xmlns:a16="http://schemas.microsoft.com/office/drawing/2014/main" id="{618F8099-546B-FBB1-A9F3-E24CF938C72E}"/>
                </a:ext>
              </a:extLst>
            </p:cNvPr>
            <p:cNvSpPr txBox="1"/>
            <p:nvPr/>
          </p:nvSpPr>
          <p:spPr>
            <a:xfrm>
              <a:off x="109932" y="6577518"/>
              <a:ext cx="2794997" cy="247055"/>
            </a:xfrm>
            <a:prstGeom prst="rect">
              <a:avLst/>
            </a:prstGeom>
            <a:noFill/>
          </p:spPr>
          <p:txBody>
            <a:bodyPr lIns="0" tIns="0" rIns="0" bIns="0" rtlCol="0" anchor="ctr">
              <a:spAutoFit/>
            </a:bodyPr>
            <a:lstStyle/>
            <a:p>
              <a:pPr algn="just">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ENGR. VIOLDAN E. BAYOCOT</a:t>
              </a:r>
            </a:p>
          </p:txBody>
        </p:sp>
        <p:sp>
          <p:nvSpPr>
            <p:cNvPr id="7" name="TextBox 6">
              <a:extLst>
                <a:ext uri="{FF2B5EF4-FFF2-40B4-BE49-F238E27FC236}">
                  <a16:creationId xmlns:a16="http://schemas.microsoft.com/office/drawing/2014/main" id="{B75ADE27-9697-56CF-1F8F-59AD03A14068}"/>
                </a:ext>
              </a:extLst>
            </p:cNvPr>
            <p:cNvSpPr txBox="1"/>
            <p:nvPr/>
          </p:nvSpPr>
          <p:spPr>
            <a:xfrm>
              <a:off x="3158929" y="6577518"/>
              <a:ext cx="5433668" cy="248145"/>
            </a:xfrm>
            <a:prstGeom prst="rect">
              <a:avLst/>
            </a:prstGeom>
            <a:noFill/>
          </p:spPr>
          <p:txBody>
            <a:bodyPr wrap="square" lIns="0" tIns="0" rIns="0" bIns="0" rtlCol="0" anchor="t">
              <a:spAutoFit/>
            </a:bodyPr>
            <a:lstStyle/>
            <a:p>
              <a:pPr algn="ct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[Krista K.] BECOME A PROBABILITY &amp; STATISTICS MASTER</a:t>
              </a:r>
            </a:p>
          </p:txBody>
        </p:sp>
        <p:sp>
          <p:nvSpPr>
            <p:cNvPr id="8" name="TextBox 7">
              <a:extLst>
                <a:ext uri="{FF2B5EF4-FFF2-40B4-BE49-F238E27FC236}">
                  <a16:creationId xmlns:a16="http://schemas.microsoft.com/office/drawing/2014/main" id="{459557E2-AE29-EDBE-B51C-F2349217872D}"/>
                </a:ext>
              </a:extLst>
            </p:cNvPr>
            <p:cNvSpPr txBox="1"/>
            <p:nvPr/>
          </p:nvSpPr>
          <p:spPr>
            <a:xfrm>
              <a:off x="8387007" y="6577518"/>
              <a:ext cx="3701763" cy="248145"/>
            </a:xfrm>
            <a:prstGeom prst="rect">
              <a:avLst/>
            </a:prstGeom>
            <a:noFill/>
          </p:spPr>
          <p:txBody>
            <a:bodyPr wrap="square" lIns="0" tIns="0" rIns="0" bIns="0" rtlCol="0" anchor="t">
              <a:spAutoFit/>
            </a:bodyPr>
            <a:lstStyle/>
            <a:p>
              <a:pPr algn="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QUANTITATIVE METHODS</a:t>
              </a:r>
            </a:p>
          </p:txBody>
        </p:sp>
      </p:grpSp>
      <p:pic>
        <p:nvPicPr>
          <p:cNvPr id="10" name="Picture 9">
            <a:extLst>
              <a:ext uri="{FF2B5EF4-FFF2-40B4-BE49-F238E27FC236}">
                <a16:creationId xmlns:a16="http://schemas.microsoft.com/office/drawing/2014/main" id="{2BD0A8C1-973C-2F07-2F98-736976A94549}"/>
              </a:ext>
            </a:extLst>
          </p:cNvPr>
          <p:cNvPicPr>
            <a:picLocks noChangeAspect="1"/>
          </p:cNvPicPr>
          <p:nvPr/>
        </p:nvPicPr>
        <p:blipFill>
          <a:blip r:embed="rId3"/>
          <a:stretch>
            <a:fillRect/>
          </a:stretch>
        </p:blipFill>
        <p:spPr>
          <a:xfrm>
            <a:off x="4508750" y="1747398"/>
            <a:ext cx="7154917" cy="4294825"/>
          </a:xfrm>
          <a:prstGeom prst="rect">
            <a:avLst/>
          </a:prstGeom>
        </p:spPr>
      </p:pic>
    </p:spTree>
    <p:extLst>
      <p:ext uri="{BB962C8B-B14F-4D97-AF65-F5344CB8AC3E}">
        <p14:creationId xmlns:p14="http://schemas.microsoft.com/office/powerpoint/2010/main" val="26971403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500"/>
                                        <p:tgtEl>
                                          <p:spTgt spid="20"/>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9080E-5614-9028-97DA-2A8E7DF11E90}"/>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968B6FF-35DF-D673-D940-B72645AF466A}"/>
              </a:ext>
            </a:extLst>
          </p:cNvPr>
          <p:cNvSpPr/>
          <p:nvPr/>
        </p:nvSpPr>
        <p:spPr>
          <a:xfrm>
            <a:off x="0" y="0"/>
            <a:ext cx="12192000" cy="548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sz="3000" b="1" dirty="0">
              <a:solidFill>
                <a:schemeClr val="tx1"/>
              </a:solidFill>
              <a:latin typeface="Times New Roman" panose="02020603050405020304" pitchFamily="18" charset="0"/>
              <a:cs typeface="Times New Roman" panose="02020603050405020304" pitchFamily="18" charset="0"/>
            </a:endParaRPr>
          </a:p>
        </p:txBody>
      </p:sp>
      <p:sp>
        <p:nvSpPr>
          <p:cNvPr id="15" name="Subtitle 2">
            <a:extLst>
              <a:ext uri="{FF2B5EF4-FFF2-40B4-BE49-F238E27FC236}">
                <a16:creationId xmlns:a16="http://schemas.microsoft.com/office/drawing/2014/main" id="{8553DDAD-BA3C-7F56-8717-BE94B2794C19}"/>
              </a:ext>
            </a:extLst>
          </p:cNvPr>
          <p:cNvSpPr txBox="1">
            <a:spLocks/>
          </p:cNvSpPr>
          <p:nvPr/>
        </p:nvSpPr>
        <p:spPr>
          <a:xfrm>
            <a:off x="4508748" y="818661"/>
            <a:ext cx="7151693" cy="342639"/>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dirty="0">
                <a:latin typeface="Times New Roman" panose="02020603050405020304" pitchFamily="18" charset="0"/>
                <a:cs typeface="Times New Roman" panose="02020603050405020304" pitchFamily="18" charset="0"/>
              </a:rPr>
              <a:t>Bar graphs can also be built horizontally</a:t>
            </a:r>
          </a:p>
        </p:txBody>
      </p:sp>
      <p:graphicFrame>
        <p:nvGraphicFramePr>
          <p:cNvPr id="33" name="Table 32">
            <a:extLst>
              <a:ext uri="{FF2B5EF4-FFF2-40B4-BE49-F238E27FC236}">
                <a16:creationId xmlns:a16="http://schemas.microsoft.com/office/drawing/2014/main" id="{B4FBCAFA-E385-4B6E-3319-8FAC57BF0610}"/>
              </a:ext>
            </a:extLst>
          </p:cNvPr>
          <p:cNvGraphicFramePr>
            <a:graphicFrameLocks noGrp="1"/>
          </p:cNvGraphicFramePr>
          <p:nvPr/>
        </p:nvGraphicFramePr>
        <p:xfrm>
          <a:off x="1193800" y="710034"/>
          <a:ext cx="2170868" cy="1828800"/>
        </p:xfrm>
        <a:graphic>
          <a:graphicData uri="http://schemas.openxmlformats.org/drawingml/2006/table">
            <a:tbl>
              <a:tblPr firstRow="1" bandRow="1">
                <a:tableStyleId>{073A0DAA-6AF3-43AB-8588-CEC1D06C72B9}</a:tableStyleId>
              </a:tblPr>
              <a:tblGrid>
                <a:gridCol w="1495425">
                  <a:extLst>
                    <a:ext uri="{9D8B030D-6E8A-4147-A177-3AD203B41FA5}">
                      <a16:colId xmlns:a16="http://schemas.microsoft.com/office/drawing/2014/main" val="1166012533"/>
                    </a:ext>
                  </a:extLst>
                </a:gridCol>
                <a:gridCol w="675443">
                  <a:extLst>
                    <a:ext uri="{9D8B030D-6E8A-4147-A177-3AD203B41FA5}">
                      <a16:colId xmlns:a16="http://schemas.microsoft.com/office/drawing/2014/main" val="3264493246"/>
                    </a:ext>
                  </a:extLst>
                </a:gridCol>
              </a:tblGrid>
              <a:tr h="287227">
                <a:tc>
                  <a:txBody>
                    <a:bodyPr/>
                    <a:lstStyle/>
                    <a:p>
                      <a:pPr algn="ctr"/>
                      <a:r>
                        <a:rPr lang="en-US" sz="1400" dirty="0">
                          <a:latin typeface="Times New Roman" panose="02020603050405020304" pitchFamily="18" charset="0"/>
                          <a:cs typeface="Times New Roman" panose="02020603050405020304" pitchFamily="18" charset="0"/>
                        </a:rPr>
                        <a:t>Continent</a:t>
                      </a:r>
                    </a:p>
                  </a:txBody>
                  <a:tcPr anchor="ctr"/>
                </a:tc>
                <a:tc>
                  <a:txBody>
                    <a:bodyPr/>
                    <a:lstStyle/>
                    <a:p>
                      <a:pPr algn="ctr"/>
                      <a:r>
                        <a:rPr lang="en-US" sz="1400" dirty="0">
                          <a:latin typeface="Times New Roman" panose="02020603050405020304" pitchFamily="18" charset="0"/>
                          <a:cs typeface="Times New Roman" panose="02020603050405020304" pitchFamily="18" charset="0"/>
                        </a:rPr>
                        <a:t>Count</a:t>
                      </a:r>
                    </a:p>
                  </a:txBody>
                  <a:tcPr anchor="ctr"/>
                </a:tc>
                <a:extLst>
                  <a:ext uri="{0D108BD9-81ED-4DB2-BD59-A6C34878D82A}">
                    <a16:rowId xmlns:a16="http://schemas.microsoft.com/office/drawing/2014/main" val="2823845039"/>
                  </a:ext>
                </a:extLst>
              </a:tr>
              <a:tr h="287227">
                <a:tc>
                  <a:txBody>
                    <a:bodyPr/>
                    <a:lstStyle/>
                    <a:p>
                      <a:pPr algn="ctr"/>
                      <a:r>
                        <a:rPr lang="en-US" sz="1400" dirty="0">
                          <a:latin typeface="Times New Roman" panose="02020603050405020304" pitchFamily="18" charset="0"/>
                          <a:cs typeface="Times New Roman" panose="02020603050405020304" pitchFamily="18" charset="0"/>
                        </a:rPr>
                        <a:t>Europe</a:t>
                      </a:r>
                    </a:p>
                  </a:txBody>
                  <a:tcPr anchor="ctr"/>
                </a:tc>
                <a:tc>
                  <a:txBody>
                    <a:bodyPr/>
                    <a:lstStyle/>
                    <a:p>
                      <a:pPr algn="ctr"/>
                      <a:r>
                        <a:rPr lang="en-US" sz="1400" dirty="0">
                          <a:latin typeface="Times New Roman" panose="02020603050405020304" pitchFamily="18" charset="0"/>
                          <a:cs typeface="Times New Roman" panose="02020603050405020304" pitchFamily="18" charset="0"/>
                        </a:rPr>
                        <a:t>16</a:t>
                      </a:r>
                    </a:p>
                  </a:txBody>
                  <a:tcPr anchor="ctr"/>
                </a:tc>
                <a:extLst>
                  <a:ext uri="{0D108BD9-81ED-4DB2-BD59-A6C34878D82A}">
                    <a16:rowId xmlns:a16="http://schemas.microsoft.com/office/drawing/2014/main" val="910422922"/>
                  </a:ext>
                </a:extLst>
              </a:tr>
              <a:tr h="287227">
                <a:tc>
                  <a:txBody>
                    <a:bodyPr/>
                    <a:lstStyle/>
                    <a:p>
                      <a:pPr algn="ctr"/>
                      <a:r>
                        <a:rPr lang="en-US" sz="1400" dirty="0">
                          <a:latin typeface="Times New Roman" panose="02020603050405020304" pitchFamily="18" charset="0"/>
                          <a:cs typeface="Times New Roman" panose="02020603050405020304" pitchFamily="18" charset="0"/>
                        </a:rPr>
                        <a:t>North America</a:t>
                      </a:r>
                    </a:p>
                  </a:txBody>
                  <a:tcPr anchor="ctr"/>
                </a:tc>
                <a:tc>
                  <a:txBody>
                    <a:bodyPr/>
                    <a:lstStyle/>
                    <a:p>
                      <a:pPr algn="ctr"/>
                      <a:r>
                        <a:rPr lang="en-US" sz="1400" dirty="0">
                          <a:latin typeface="Times New Roman" panose="02020603050405020304" pitchFamily="18" charset="0"/>
                          <a:cs typeface="Times New Roman" panose="02020603050405020304" pitchFamily="18" charset="0"/>
                        </a:rPr>
                        <a:t>6</a:t>
                      </a:r>
                    </a:p>
                  </a:txBody>
                  <a:tcPr anchor="ctr"/>
                </a:tc>
                <a:extLst>
                  <a:ext uri="{0D108BD9-81ED-4DB2-BD59-A6C34878D82A}">
                    <a16:rowId xmlns:a16="http://schemas.microsoft.com/office/drawing/2014/main" val="2893805463"/>
                  </a:ext>
                </a:extLst>
              </a:tr>
              <a:tr h="287227">
                <a:tc>
                  <a:txBody>
                    <a:bodyPr/>
                    <a:lstStyle/>
                    <a:p>
                      <a:pPr algn="ctr"/>
                      <a:r>
                        <a:rPr lang="en-US" sz="1400" dirty="0">
                          <a:latin typeface="Times New Roman" panose="02020603050405020304" pitchFamily="18" charset="0"/>
                          <a:cs typeface="Times New Roman" panose="02020603050405020304" pitchFamily="18" charset="0"/>
                        </a:rPr>
                        <a:t>Asia</a:t>
                      </a:r>
                    </a:p>
                  </a:txBody>
                  <a:tcPr anchor="ctr"/>
                </a:tc>
                <a:tc>
                  <a:txBody>
                    <a:bodyPr/>
                    <a:lstStyle/>
                    <a:p>
                      <a:pPr algn="ctr"/>
                      <a:r>
                        <a:rPr lang="en-US" sz="1400" dirty="0">
                          <a:latin typeface="Times New Roman" panose="02020603050405020304" pitchFamily="18" charset="0"/>
                          <a:cs typeface="Times New Roman" panose="02020603050405020304" pitchFamily="18" charset="0"/>
                        </a:rPr>
                        <a:t>3</a:t>
                      </a:r>
                    </a:p>
                  </a:txBody>
                  <a:tcPr anchor="ctr"/>
                </a:tc>
                <a:extLst>
                  <a:ext uri="{0D108BD9-81ED-4DB2-BD59-A6C34878D82A}">
                    <a16:rowId xmlns:a16="http://schemas.microsoft.com/office/drawing/2014/main" val="2968804477"/>
                  </a:ext>
                </a:extLst>
              </a:tr>
              <a:tr h="287227">
                <a:tc>
                  <a:txBody>
                    <a:bodyPr/>
                    <a:lstStyle/>
                    <a:p>
                      <a:pPr algn="ctr"/>
                      <a:r>
                        <a:rPr lang="en-US" sz="1400" dirty="0">
                          <a:latin typeface="Times New Roman" panose="02020603050405020304" pitchFamily="18" charset="0"/>
                          <a:cs typeface="Times New Roman" panose="02020603050405020304" pitchFamily="18" charset="0"/>
                        </a:rPr>
                        <a:t>Australia</a:t>
                      </a:r>
                    </a:p>
                  </a:txBody>
                  <a:tcPr anchor="ctr"/>
                </a:tc>
                <a:tc>
                  <a:txBody>
                    <a:bodyPr/>
                    <a:lstStyle/>
                    <a:p>
                      <a:pPr algn="ctr"/>
                      <a:r>
                        <a:rPr lang="en-US" sz="1400" dirty="0">
                          <a:latin typeface="Times New Roman" panose="02020603050405020304" pitchFamily="18" charset="0"/>
                          <a:cs typeface="Times New Roman" panose="02020603050405020304" pitchFamily="18" charset="0"/>
                        </a:rPr>
                        <a:t>2</a:t>
                      </a:r>
                    </a:p>
                  </a:txBody>
                  <a:tcPr anchor="ctr"/>
                </a:tc>
                <a:extLst>
                  <a:ext uri="{0D108BD9-81ED-4DB2-BD59-A6C34878D82A}">
                    <a16:rowId xmlns:a16="http://schemas.microsoft.com/office/drawing/2014/main" val="953145468"/>
                  </a:ext>
                </a:extLst>
              </a:tr>
              <a:tr h="287227">
                <a:tc>
                  <a:txBody>
                    <a:bodyPr/>
                    <a:lstStyle/>
                    <a:p>
                      <a:pPr algn="ctr"/>
                      <a:r>
                        <a:rPr lang="en-US" sz="1400" dirty="0">
                          <a:latin typeface="Times New Roman" panose="02020603050405020304" pitchFamily="18" charset="0"/>
                          <a:cs typeface="Times New Roman" panose="02020603050405020304" pitchFamily="18" charset="0"/>
                        </a:rPr>
                        <a:t>South America</a:t>
                      </a:r>
                    </a:p>
                  </a:txBody>
                  <a:tcPr anchor="ctr"/>
                </a:tc>
                <a:tc>
                  <a:txBody>
                    <a:bodyPr/>
                    <a:lstStyle/>
                    <a:p>
                      <a:pPr algn="ctr"/>
                      <a:r>
                        <a:rPr lang="en-US" sz="1400" dirty="0">
                          <a:latin typeface="Times New Roman" panose="02020603050405020304" pitchFamily="18" charset="0"/>
                          <a:cs typeface="Times New Roman" panose="02020603050405020304" pitchFamily="18" charset="0"/>
                        </a:rPr>
                        <a:t>1</a:t>
                      </a:r>
                    </a:p>
                  </a:txBody>
                  <a:tcPr anchor="ctr"/>
                </a:tc>
                <a:extLst>
                  <a:ext uri="{0D108BD9-81ED-4DB2-BD59-A6C34878D82A}">
                    <a16:rowId xmlns:a16="http://schemas.microsoft.com/office/drawing/2014/main" val="1816048049"/>
                  </a:ext>
                </a:extLst>
              </a:tr>
            </a:tbl>
          </a:graphicData>
        </a:graphic>
      </p:graphicFrame>
      <p:sp>
        <p:nvSpPr>
          <p:cNvPr id="23" name="Subtitle 2">
            <a:extLst>
              <a:ext uri="{FF2B5EF4-FFF2-40B4-BE49-F238E27FC236}">
                <a16:creationId xmlns:a16="http://schemas.microsoft.com/office/drawing/2014/main" id="{31FF38B3-BD78-B21F-C6ED-7DEE3D484D31}"/>
              </a:ext>
            </a:extLst>
          </p:cNvPr>
          <p:cNvSpPr txBox="1">
            <a:spLocks/>
          </p:cNvSpPr>
          <p:nvPr/>
        </p:nvSpPr>
        <p:spPr>
          <a:xfrm>
            <a:off x="444125" y="2824328"/>
            <a:ext cx="3862518" cy="1215410"/>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sz="1600" dirty="0">
                <a:latin typeface="Times New Roman" panose="02020603050405020304" pitchFamily="18" charset="0"/>
                <a:cs typeface="Times New Roman" panose="02020603050405020304" pitchFamily="18" charset="0"/>
              </a:rPr>
              <a:t>When we build a vertical bar graph, it’s common to sort the data largest to smallest, so that the tallest bars appear on the left, in descending order down to the smallest bars on the right.</a:t>
            </a:r>
          </a:p>
        </p:txBody>
      </p:sp>
      <p:sp>
        <p:nvSpPr>
          <p:cNvPr id="4" name="Subtitle 2">
            <a:extLst>
              <a:ext uri="{FF2B5EF4-FFF2-40B4-BE49-F238E27FC236}">
                <a16:creationId xmlns:a16="http://schemas.microsoft.com/office/drawing/2014/main" id="{B98CE145-74E1-8212-334C-14CCE69C1735}"/>
              </a:ext>
            </a:extLst>
          </p:cNvPr>
          <p:cNvSpPr txBox="1">
            <a:spLocks/>
          </p:cNvSpPr>
          <p:nvPr/>
        </p:nvSpPr>
        <p:spPr>
          <a:xfrm>
            <a:off x="444125" y="4325232"/>
            <a:ext cx="3862518" cy="1215410"/>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sz="1600" dirty="0">
                <a:latin typeface="Times New Roman" panose="02020603050405020304" pitchFamily="18" charset="0"/>
                <a:cs typeface="Times New Roman" panose="02020603050405020304" pitchFamily="18" charset="0"/>
              </a:rPr>
              <a:t>When we build a horizontal bar graph, it’s common to put the largest bars at the top and the smallest bars at the bottom </a:t>
            </a:r>
            <a:r>
              <a:rPr lang="en-US" sz="1600" dirty="0">
                <a:solidFill>
                  <a:srgbClr val="FF0000"/>
                </a:solidFill>
                <a:latin typeface="Times New Roman" panose="02020603050405020304" pitchFamily="18" charset="0"/>
                <a:cs typeface="Times New Roman" panose="02020603050405020304" pitchFamily="18" charset="0"/>
              </a:rPr>
              <a:t>(this is reversed in Microsoft Excel – sort to smallest to largest)</a:t>
            </a:r>
          </a:p>
        </p:txBody>
      </p:sp>
      <p:sp>
        <p:nvSpPr>
          <p:cNvPr id="7" name="Content Placeholder 2">
            <a:extLst>
              <a:ext uri="{FF2B5EF4-FFF2-40B4-BE49-F238E27FC236}">
                <a16:creationId xmlns:a16="http://schemas.microsoft.com/office/drawing/2014/main" id="{6D28E56B-98CF-BDD1-7175-20DE01239ACB}"/>
              </a:ext>
            </a:extLst>
          </p:cNvPr>
          <p:cNvSpPr txBox="1">
            <a:spLocks/>
          </p:cNvSpPr>
          <p:nvPr/>
        </p:nvSpPr>
        <p:spPr>
          <a:xfrm>
            <a:off x="5791200" y="0"/>
            <a:ext cx="6400797" cy="548641"/>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PH" sz="3000" b="1" dirty="0">
                <a:solidFill>
                  <a:schemeClr val="bg1"/>
                </a:solidFill>
                <a:latin typeface="Times New Roman" panose="02020603050405020304" pitchFamily="18" charset="0"/>
                <a:cs typeface="Times New Roman" panose="02020603050405020304" pitchFamily="18" charset="0"/>
              </a:rPr>
              <a:t>BAR GRAPHS</a:t>
            </a:r>
            <a:endParaRPr lang="en-PH" sz="3000" b="1" dirty="0">
              <a:solidFill>
                <a:schemeClr val="bg1"/>
              </a:solidFill>
              <a:latin typeface="Courier New" panose="02070309020205020404" pitchFamily="49" charset="0"/>
              <a:cs typeface="Courier New" panose="02070309020205020404" pitchFamily="49" charset="0"/>
            </a:endParaRPr>
          </a:p>
        </p:txBody>
      </p:sp>
      <p:sp>
        <p:nvSpPr>
          <p:cNvPr id="8" name="Content Placeholder 2">
            <a:extLst>
              <a:ext uri="{FF2B5EF4-FFF2-40B4-BE49-F238E27FC236}">
                <a16:creationId xmlns:a16="http://schemas.microsoft.com/office/drawing/2014/main" id="{19D92879-BA75-784D-8C57-EB406ECE011E}"/>
              </a:ext>
            </a:extLst>
          </p:cNvPr>
          <p:cNvSpPr txBox="1">
            <a:spLocks/>
          </p:cNvSpPr>
          <p:nvPr/>
        </p:nvSpPr>
        <p:spPr>
          <a:xfrm>
            <a:off x="1761744" y="0"/>
            <a:ext cx="4096512" cy="548641"/>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PH" sz="3000" b="1" dirty="0">
                <a:solidFill>
                  <a:schemeClr val="bg1"/>
                </a:solidFill>
                <a:latin typeface="Times New Roman" panose="02020603050405020304" pitchFamily="18" charset="0"/>
                <a:cs typeface="Times New Roman" panose="02020603050405020304" pitchFamily="18" charset="0"/>
              </a:rPr>
              <a:t>BUILDING</a:t>
            </a:r>
            <a:endParaRPr lang="en-PH" sz="3000" b="1" dirty="0">
              <a:solidFill>
                <a:schemeClr val="bg1"/>
              </a:solidFill>
              <a:latin typeface="Courier New" panose="02070309020205020404" pitchFamily="49" charset="0"/>
              <a:cs typeface="Courier New" panose="02070309020205020404" pitchFamily="49" charset="0"/>
            </a:endParaRPr>
          </a:p>
        </p:txBody>
      </p:sp>
      <p:grpSp>
        <p:nvGrpSpPr>
          <p:cNvPr id="2" name="Group 1">
            <a:extLst>
              <a:ext uri="{FF2B5EF4-FFF2-40B4-BE49-F238E27FC236}">
                <a16:creationId xmlns:a16="http://schemas.microsoft.com/office/drawing/2014/main" id="{A3E33E50-D234-058C-304D-45C3674804C8}"/>
              </a:ext>
            </a:extLst>
          </p:cNvPr>
          <p:cNvGrpSpPr/>
          <p:nvPr/>
        </p:nvGrpSpPr>
        <p:grpSpPr>
          <a:xfrm>
            <a:off x="0" y="6544092"/>
            <a:ext cx="12192000" cy="313908"/>
            <a:chOff x="0" y="6544092"/>
            <a:chExt cx="12192000" cy="313908"/>
          </a:xfrm>
        </p:grpSpPr>
        <p:sp>
          <p:nvSpPr>
            <p:cNvPr id="6" name="Rectangle 5">
              <a:extLst>
                <a:ext uri="{FF2B5EF4-FFF2-40B4-BE49-F238E27FC236}">
                  <a16:creationId xmlns:a16="http://schemas.microsoft.com/office/drawing/2014/main" id="{AB3ECA2D-7FBA-E37E-7FB3-90D44D0A1217}"/>
                </a:ext>
              </a:extLst>
            </p:cNvPr>
            <p:cNvSpPr/>
            <p:nvPr/>
          </p:nvSpPr>
          <p:spPr>
            <a:xfrm>
              <a:off x="0" y="6544092"/>
              <a:ext cx="12192000" cy="31390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9" name="TextBox 10">
              <a:extLst>
                <a:ext uri="{FF2B5EF4-FFF2-40B4-BE49-F238E27FC236}">
                  <a16:creationId xmlns:a16="http://schemas.microsoft.com/office/drawing/2014/main" id="{7C7DDF74-282E-FF1E-2511-671B59C80C87}"/>
                </a:ext>
              </a:extLst>
            </p:cNvPr>
            <p:cNvSpPr txBox="1"/>
            <p:nvPr/>
          </p:nvSpPr>
          <p:spPr>
            <a:xfrm>
              <a:off x="109932" y="6577518"/>
              <a:ext cx="2794997" cy="247055"/>
            </a:xfrm>
            <a:prstGeom prst="rect">
              <a:avLst/>
            </a:prstGeom>
            <a:noFill/>
          </p:spPr>
          <p:txBody>
            <a:bodyPr lIns="0" tIns="0" rIns="0" bIns="0" rtlCol="0" anchor="ctr">
              <a:spAutoFit/>
            </a:bodyPr>
            <a:lstStyle/>
            <a:p>
              <a:pPr algn="just">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ENGR. VIOLDAN E. BAYOCOT</a:t>
              </a:r>
            </a:p>
          </p:txBody>
        </p:sp>
        <p:sp>
          <p:nvSpPr>
            <p:cNvPr id="10" name="TextBox 9">
              <a:extLst>
                <a:ext uri="{FF2B5EF4-FFF2-40B4-BE49-F238E27FC236}">
                  <a16:creationId xmlns:a16="http://schemas.microsoft.com/office/drawing/2014/main" id="{23C8B6C3-3D6F-09DC-5DA1-37EEBB290C48}"/>
                </a:ext>
              </a:extLst>
            </p:cNvPr>
            <p:cNvSpPr txBox="1"/>
            <p:nvPr/>
          </p:nvSpPr>
          <p:spPr>
            <a:xfrm>
              <a:off x="3158929" y="6577518"/>
              <a:ext cx="5433668" cy="248145"/>
            </a:xfrm>
            <a:prstGeom prst="rect">
              <a:avLst/>
            </a:prstGeom>
            <a:noFill/>
          </p:spPr>
          <p:txBody>
            <a:bodyPr wrap="square" lIns="0" tIns="0" rIns="0" bIns="0" rtlCol="0" anchor="t">
              <a:spAutoFit/>
            </a:bodyPr>
            <a:lstStyle/>
            <a:p>
              <a:pPr algn="ct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[Krista K.] BECOME A PROBABILITY &amp; STATISTICS MASTER</a:t>
              </a:r>
            </a:p>
          </p:txBody>
        </p:sp>
        <p:sp>
          <p:nvSpPr>
            <p:cNvPr id="11" name="TextBox 10">
              <a:extLst>
                <a:ext uri="{FF2B5EF4-FFF2-40B4-BE49-F238E27FC236}">
                  <a16:creationId xmlns:a16="http://schemas.microsoft.com/office/drawing/2014/main" id="{A5B79C48-561C-3384-D4A4-D590A6F6C3BA}"/>
                </a:ext>
              </a:extLst>
            </p:cNvPr>
            <p:cNvSpPr txBox="1"/>
            <p:nvPr/>
          </p:nvSpPr>
          <p:spPr>
            <a:xfrm>
              <a:off x="8387007" y="6577518"/>
              <a:ext cx="3701763" cy="248145"/>
            </a:xfrm>
            <a:prstGeom prst="rect">
              <a:avLst/>
            </a:prstGeom>
            <a:noFill/>
          </p:spPr>
          <p:txBody>
            <a:bodyPr wrap="square" lIns="0" tIns="0" rIns="0" bIns="0" rtlCol="0" anchor="t">
              <a:spAutoFit/>
            </a:bodyPr>
            <a:lstStyle/>
            <a:p>
              <a:pPr algn="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QUANTITATIVE METHODS</a:t>
              </a:r>
            </a:p>
          </p:txBody>
        </p:sp>
      </p:grpSp>
      <p:pic>
        <p:nvPicPr>
          <p:cNvPr id="13" name="Picture 12">
            <a:extLst>
              <a:ext uri="{FF2B5EF4-FFF2-40B4-BE49-F238E27FC236}">
                <a16:creationId xmlns:a16="http://schemas.microsoft.com/office/drawing/2014/main" id="{0B60A955-3228-B0DB-C7A2-ED94F296510B}"/>
              </a:ext>
            </a:extLst>
          </p:cNvPr>
          <p:cNvPicPr>
            <a:picLocks noChangeAspect="1"/>
          </p:cNvPicPr>
          <p:nvPr/>
        </p:nvPicPr>
        <p:blipFill>
          <a:blip r:embed="rId3"/>
          <a:stretch>
            <a:fillRect/>
          </a:stretch>
        </p:blipFill>
        <p:spPr>
          <a:xfrm>
            <a:off x="4508747" y="1438697"/>
            <a:ext cx="7154555" cy="4215336"/>
          </a:xfrm>
          <a:prstGeom prst="rect">
            <a:avLst/>
          </a:prstGeom>
        </p:spPr>
      </p:pic>
    </p:spTree>
    <p:extLst>
      <p:ext uri="{BB962C8B-B14F-4D97-AF65-F5344CB8AC3E}">
        <p14:creationId xmlns:p14="http://schemas.microsoft.com/office/powerpoint/2010/main" val="35835140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par>
                                <p:cTn id="8" presetID="22" presetClass="entr" presetSubtype="8"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wipe(left)">
                                      <p:cBhvr>
                                        <p:cTn id="10" dur="500"/>
                                        <p:tgtEl>
                                          <p:spTgt spid="13"/>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500"/>
                                        <p:tgtEl>
                                          <p:spTgt spid="23"/>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3" grpId="0"/>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0E892-3D28-7D79-7FC2-27EC724CA744}"/>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18E7D36E-368C-976D-AAB1-DB7F3FB39E32}"/>
              </a:ext>
            </a:extLst>
          </p:cNvPr>
          <p:cNvSpPr/>
          <p:nvPr/>
        </p:nvSpPr>
        <p:spPr>
          <a:xfrm>
            <a:off x="0" y="0"/>
            <a:ext cx="12192000" cy="548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sz="3000" b="1" dirty="0">
              <a:solidFill>
                <a:schemeClr val="tx1"/>
              </a:solidFill>
              <a:latin typeface="Times New Roman" panose="02020603050405020304" pitchFamily="18" charset="0"/>
              <a:cs typeface="Times New Roman" panose="02020603050405020304" pitchFamily="18" charset="0"/>
            </a:endParaRPr>
          </a:p>
        </p:txBody>
      </p:sp>
      <p:sp>
        <p:nvSpPr>
          <p:cNvPr id="15" name="Subtitle 2">
            <a:extLst>
              <a:ext uri="{FF2B5EF4-FFF2-40B4-BE49-F238E27FC236}">
                <a16:creationId xmlns:a16="http://schemas.microsoft.com/office/drawing/2014/main" id="{6E83B892-6B81-29D7-F61D-36EEA5A1060A}"/>
              </a:ext>
            </a:extLst>
          </p:cNvPr>
          <p:cNvSpPr txBox="1">
            <a:spLocks/>
          </p:cNvSpPr>
          <p:nvPr/>
        </p:nvSpPr>
        <p:spPr>
          <a:xfrm>
            <a:off x="4508750" y="710034"/>
            <a:ext cx="7151693" cy="650086"/>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dirty="0">
                <a:latin typeface="Times New Roman" panose="02020603050405020304" pitchFamily="18" charset="0"/>
                <a:cs typeface="Times New Roman" panose="02020603050405020304" pitchFamily="18" charset="0"/>
              </a:rPr>
              <a:t>If we only have the bar graph, and no data table to work with, we may only be able to get approximate values from the bar graph. </a:t>
            </a:r>
          </a:p>
        </p:txBody>
      </p:sp>
      <p:graphicFrame>
        <p:nvGraphicFramePr>
          <p:cNvPr id="33" name="Table 32">
            <a:extLst>
              <a:ext uri="{FF2B5EF4-FFF2-40B4-BE49-F238E27FC236}">
                <a16:creationId xmlns:a16="http://schemas.microsoft.com/office/drawing/2014/main" id="{AD97059C-1E50-F898-8811-149DE09C8C31}"/>
              </a:ext>
            </a:extLst>
          </p:cNvPr>
          <p:cNvGraphicFramePr>
            <a:graphicFrameLocks noGrp="1"/>
          </p:cNvGraphicFramePr>
          <p:nvPr/>
        </p:nvGraphicFramePr>
        <p:xfrm>
          <a:off x="1193800" y="710034"/>
          <a:ext cx="2170868" cy="1828800"/>
        </p:xfrm>
        <a:graphic>
          <a:graphicData uri="http://schemas.openxmlformats.org/drawingml/2006/table">
            <a:tbl>
              <a:tblPr firstRow="1" bandRow="1">
                <a:tableStyleId>{073A0DAA-6AF3-43AB-8588-CEC1D06C72B9}</a:tableStyleId>
              </a:tblPr>
              <a:tblGrid>
                <a:gridCol w="1495425">
                  <a:extLst>
                    <a:ext uri="{9D8B030D-6E8A-4147-A177-3AD203B41FA5}">
                      <a16:colId xmlns:a16="http://schemas.microsoft.com/office/drawing/2014/main" val="1166012533"/>
                    </a:ext>
                  </a:extLst>
                </a:gridCol>
                <a:gridCol w="675443">
                  <a:extLst>
                    <a:ext uri="{9D8B030D-6E8A-4147-A177-3AD203B41FA5}">
                      <a16:colId xmlns:a16="http://schemas.microsoft.com/office/drawing/2014/main" val="3264493246"/>
                    </a:ext>
                  </a:extLst>
                </a:gridCol>
              </a:tblGrid>
              <a:tr h="287227">
                <a:tc>
                  <a:txBody>
                    <a:bodyPr/>
                    <a:lstStyle/>
                    <a:p>
                      <a:pPr algn="ctr"/>
                      <a:r>
                        <a:rPr lang="en-US" sz="1400" dirty="0">
                          <a:latin typeface="Times New Roman" panose="02020603050405020304" pitchFamily="18" charset="0"/>
                          <a:cs typeface="Times New Roman" panose="02020603050405020304" pitchFamily="18" charset="0"/>
                        </a:rPr>
                        <a:t>Continent</a:t>
                      </a:r>
                    </a:p>
                  </a:txBody>
                  <a:tcPr anchor="ctr"/>
                </a:tc>
                <a:tc>
                  <a:txBody>
                    <a:bodyPr/>
                    <a:lstStyle/>
                    <a:p>
                      <a:pPr algn="ctr"/>
                      <a:r>
                        <a:rPr lang="en-US" sz="1400" dirty="0">
                          <a:latin typeface="Times New Roman" panose="02020603050405020304" pitchFamily="18" charset="0"/>
                          <a:cs typeface="Times New Roman" panose="02020603050405020304" pitchFamily="18" charset="0"/>
                        </a:rPr>
                        <a:t>Count</a:t>
                      </a:r>
                    </a:p>
                  </a:txBody>
                  <a:tcPr anchor="ctr"/>
                </a:tc>
                <a:extLst>
                  <a:ext uri="{0D108BD9-81ED-4DB2-BD59-A6C34878D82A}">
                    <a16:rowId xmlns:a16="http://schemas.microsoft.com/office/drawing/2014/main" val="2823845039"/>
                  </a:ext>
                </a:extLst>
              </a:tr>
              <a:tr h="287227">
                <a:tc>
                  <a:txBody>
                    <a:bodyPr/>
                    <a:lstStyle/>
                    <a:p>
                      <a:pPr algn="ctr"/>
                      <a:r>
                        <a:rPr lang="en-US" sz="1400" dirty="0">
                          <a:latin typeface="Times New Roman" panose="02020603050405020304" pitchFamily="18" charset="0"/>
                          <a:cs typeface="Times New Roman" panose="02020603050405020304" pitchFamily="18" charset="0"/>
                        </a:rPr>
                        <a:t>Europe</a:t>
                      </a:r>
                    </a:p>
                  </a:txBody>
                  <a:tcPr anchor="ctr"/>
                </a:tc>
                <a:tc>
                  <a:txBody>
                    <a:bodyPr/>
                    <a:lstStyle/>
                    <a:p>
                      <a:pPr algn="ctr"/>
                      <a:r>
                        <a:rPr lang="en-US" sz="1400" dirty="0">
                          <a:latin typeface="Times New Roman" panose="02020603050405020304" pitchFamily="18" charset="0"/>
                          <a:cs typeface="Times New Roman" panose="02020603050405020304" pitchFamily="18" charset="0"/>
                        </a:rPr>
                        <a:t>16</a:t>
                      </a:r>
                    </a:p>
                  </a:txBody>
                  <a:tcPr anchor="ctr"/>
                </a:tc>
                <a:extLst>
                  <a:ext uri="{0D108BD9-81ED-4DB2-BD59-A6C34878D82A}">
                    <a16:rowId xmlns:a16="http://schemas.microsoft.com/office/drawing/2014/main" val="910422922"/>
                  </a:ext>
                </a:extLst>
              </a:tr>
              <a:tr h="287227">
                <a:tc>
                  <a:txBody>
                    <a:bodyPr/>
                    <a:lstStyle/>
                    <a:p>
                      <a:pPr algn="ctr"/>
                      <a:r>
                        <a:rPr lang="en-US" sz="1400" dirty="0">
                          <a:latin typeface="Times New Roman" panose="02020603050405020304" pitchFamily="18" charset="0"/>
                          <a:cs typeface="Times New Roman" panose="02020603050405020304" pitchFamily="18" charset="0"/>
                        </a:rPr>
                        <a:t>North America</a:t>
                      </a:r>
                    </a:p>
                  </a:txBody>
                  <a:tcPr anchor="ctr"/>
                </a:tc>
                <a:tc>
                  <a:txBody>
                    <a:bodyPr/>
                    <a:lstStyle/>
                    <a:p>
                      <a:pPr algn="ctr"/>
                      <a:r>
                        <a:rPr lang="en-US" sz="1400" dirty="0">
                          <a:latin typeface="Times New Roman" panose="02020603050405020304" pitchFamily="18" charset="0"/>
                          <a:cs typeface="Times New Roman" panose="02020603050405020304" pitchFamily="18" charset="0"/>
                        </a:rPr>
                        <a:t>6</a:t>
                      </a:r>
                    </a:p>
                  </a:txBody>
                  <a:tcPr anchor="ctr"/>
                </a:tc>
                <a:extLst>
                  <a:ext uri="{0D108BD9-81ED-4DB2-BD59-A6C34878D82A}">
                    <a16:rowId xmlns:a16="http://schemas.microsoft.com/office/drawing/2014/main" val="2893805463"/>
                  </a:ext>
                </a:extLst>
              </a:tr>
              <a:tr h="287227">
                <a:tc>
                  <a:txBody>
                    <a:bodyPr/>
                    <a:lstStyle/>
                    <a:p>
                      <a:pPr algn="ctr"/>
                      <a:r>
                        <a:rPr lang="en-US" sz="1400" dirty="0">
                          <a:latin typeface="Times New Roman" panose="02020603050405020304" pitchFamily="18" charset="0"/>
                          <a:cs typeface="Times New Roman" panose="02020603050405020304" pitchFamily="18" charset="0"/>
                        </a:rPr>
                        <a:t>Asia</a:t>
                      </a:r>
                    </a:p>
                  </a:txBody>
                  <a:tcPr anchor="ctr"/>
                </a:tc>
                <a:tc>
                  <a:txBody>
                    <a:bodyPr/>
                    <a:lstStyle/>
                    <a:p>
                      <a:pPr algn="ctr"/>
                      <a:r>
                        <a:rPr lang="en-US" sz="1400" dirty="0">
                          <a:latin typeface="Times New Roman" panose="02020603050405020304" pitchFamily="18" charset="0"/>
                          <a:cs typeface="Times New Roman" panose="02020603050405020304" pitchFamily="18" charset="0"/>
                        </a:rPr>
                        <a:t>3</a:t>
                      </a:r>
                    </a:p>
                  </a:txBody>
                  <a:tcPr anchor="ctr"/>
                </a:tc>
                <a:extLst>
                  <a:ext uri="{0D108BD9-81ED-4DB2-BD59-A6C34878D82A}">
                    <a16:rowId xmlns:a16="http://schemas.microsoft.com/office/drawing/2014/main" val="2968804477"/>
                  </a:ext>
                </a:extLst>
              </a:tr>
              <a:tr h="287227">
                <a:tc>
                  <a:txBody>
                    <a:bodyPr/>
                    <a:lstStyle/>
                    <a:p>
                      <a:pPr algn="ctr"/>
                      <a:r>
                        <a:rPr lang="en-US" sz="1400" dirty="0">
                          <a:latin typeface="Times New Roman" panose="02020603050405020304" pitchFamily="18" charset="0"/>
                          <a:cs typeface="Times New Roman" panose="02020603050405020304" pitchFamily="18" charset="0"/>
                        </a:rPr>
                        <a:t>Australia</a:t>
                      </a:r>
                    </a:p>
                  </a:txBody>
                  <a:tcPr anchor="ctr"/>
                </a:tc>
                <a:tc>
                  <a:txBody>
                    <a:bodyPr/>
                    <a:lstStyle/>
                    <a:p>
                      <a:pPr algn="ctr"/>
                      <a:r>
                        <a:rPr lang="en-US" sz="1400" dirty="0">
                          <a:latin typeface="Times New Roman" panose="02020603050405020304" pitchFamily="18" charset="0"/>
                          <a:cs typeface="Times New Roman" panose="02020603050405020304" pitchFamily="18" charset="0"/>
                        </a:rPr>
                        <a:t>2</a:t>
                      </a:r>
                    </a:p>
                  </a:txBody>
                  <a:tcPr anchor="ctr"/>
                </a:tc>
                <a:extLst>
                  <a:ext uri="{0D108BD9-81ED-4DB2-BD59-A6C34878D82A}">
                    <a16:rowId xmlns:a16="http://schemas.microsoft.com/office/drawing/2014/main" val="953145468"/>
                  </a:ext>
                </a:extLst>
              </a:tr>
              <a:tr h="287227">
                <a:tc>
                  <a:txBody>
                    <a:bodyPr/>
                    <a:lstStyle/>
                    <a:p>
                      <a:pPr algn="ctr"/>
                      <a:r>
                        <a:rPr lang="en-US" sz="1400" dirty="0">
                          <a:latin typeface="Times New Roman" panose="02020603050405020304" pitchFamily="18" charset="0"/>
                          <a:cs typeface="Times New Roman" panose="02020603050405020304" pitchFamily="18" charset="0"/>
                        </a:rPr>
                        <a:t>South America</a:t>
                      </a:r>
                    </a:p>
                  </a:txBody>
                  <a:tcPr anchor="ctr"/>
                </a:tc>
                <a:tc>
                  <a:txBody>
                    <a:bodyPr/>
                    <a:lstStyle/>
                    <a:p>
                      <a:pPr algn="ctr"/>
                      <a:r>
                        <a:rPr lang="en-US" sz="1400" dirty="0">
                          <a:latin typeface="Times New Roman" panose="02020603050405020304" pitchFamily="18" charset="0"/>
                          <a:cs typeface="Times New Roman" panose="02020603050405020304" pitchFamily="18" charset="0"/>
                        </a:rPr>
                        <a:t>1</a:t>
                      </a:r>
                    </a:p>
                  </a:txBody>
                  <a:tcPr anchor="ctr"/>
                </a:tc>
                <a:extLst>
                  <a:ext uri="{0D108BD9-81ED-4DB2-BD59-A6C34878D82A}">
                    <a16:rowId xmlns:a16="http://schemas.microsoft.com/office/drawing/2014/main" val="1816048049"/>
                  </a:ext>
                </a:extLst>
              </a:tr>
            </a:tbl>
          </a:graphicData>
        </a:graphic>
      </p:graphicFrame>
      <p:sp>
        <p:nvSpPr>
          <p:cNvPr id="2" name="Content Placeholder 2">
            <a:extLst>
              <a:ext uri="{FF2B5EF4-FFF2-40B4-BE49-F238E27FC236}">
                <a16:creationId xmlns:a16="http://schemas.microsoft.com/office/drawing/2014/main" id="{D4CC9933-3D58-6355-A107-E8B725C22A8A}"/>
              </a:ext>
            </a:extLst>
          </p:cNvPr>
          <p:cNvSpPr txBox="1">
            <a:spLocks/>
          </p:cNvSpPr>
          <p:nvPr/>
        </p:nvSpPr>
        <p:spPr>
          <a:xfrm>
            <a:off x="5791200" y="0"/>
            <a:ext cx="6400797" cy="548641"/>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PH" sz="3000" b="1" dirty="0">
                <a:solidFill>
                  <a:schemeClr val="bg1"/>
                </a:solidFill>
                <a:latin typeface="Times New Roman" panose="02020603050405020304" pitchFamily="18" charset="0"/>
                <a:cs typeface="Times New Roman" panose="02020603050405020304" pitchFamily="18" charset="0"/>
              </a:rPr>
              <a:t>BAR GRAPHS</a:t>
            </a:r>
            <a:endParaRPr lang="en-PH" sz="3000" b="1" dirty="0">
              <a:solidFill>
                <a:schemeClr val="bg1"/>
              </a:solidFill>
              <a:latin typeface="Courier New" panose="02070309020205020404" pitchFamily="49" charset="0"/>
              <a:cs typeface="Courier New" panose="02070309020205020404" pitchFamily="49" charset="0"/>
            </a:endParaRPr>
          </a:p>
        </p:txBody>
      </p:sp>
      <p:sp>
        <p:nvSpPr>
          <p:cNvPr id="3" name="Content Placeholder 2">
            <a:extLst>
              <a:ext uri="{FF2B5EF4-FFF2-40B4-BE49-F238E27FC236}">
                <a16:creationId xmlns:a16="http://schemas.microsoft.com/office/drawing/2014/main" id="{6914B6C0-6827-5CDD-6A76-F5367C1D706B}"/>
              </a:ext>
            </a:extLst>
          </p:cNvPr>
          <p:cNvSpPr txBox="1">
            <a:spLocks/>
          </p:cNvSpPr>
          <p:nvPr/>
        </p:nvSpPr>
        <p:spPr>
          <a:xfrm>
            <a:off x="1761744" y="0"/>
            <a:ext cx="4096512" cy="548641"/>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PH" sz="3000" b="1" dirty="0">
                <a:solidFill>
                  <a:schemeClr val="bg1"/>
                </a:solidFill>
                <a:latin typeface="Times New Roman" panose="02020603050405020304" pitchFamily="18" charset="0"/>
                <a:cs typeface="Times New Roman" panose="02020603050405020304" pitchFamily="18" charset="0"/>
              </a:rPr>
              <a:t>READING</a:t>
            </a:r>
            <a:endParaRPr lang="en-PH" sz="3000" b="1" dirty="0">
              <a:solidFill>
                <a:schemeClr val="bg1"/>
              </a:solidFill>
              <a:latin typeface="Courier New" panose="02070309020205020404" pitchFamily="49" charset="0"/>
              <a:cs typeface="Courier New" panose="02070309020205020404" pitchFamily="49" charset="0"/>
            </a:endParaRPr>
          </a:p>
        </p:txBody>
      </p:sp>
      <p:sp>
        <p:nvSpPr>
          <p:cNvPr id="20" name="Subtitle 2">
            <a:extLst>
              <a:ext uri="{FF2B5EF4-FFF2-40B4-BE49-F238E27FC236}">
                <a16:creationId xmlns:a16="http://schemas.microsoft.com/office/drawing/2014/main" id="{B0936D63-A38F-1A74-52EB-F56DC8A3FFC2}"/>
              </a:ext>
            </a:extLst>
          </p:cNvPr>
          <p:cNvSpPr txBox="1">
            <a:spLocks/>
          </p:cNvSpPr>
          <p:nvPr/>
        </p:nvSpPr>
        <p:spPr>
          <a:xfrm>
            <a:off x="204516" y="2697700"/>
            <a:ext cx="4149437" cy="1828800"/>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sz="1600" dirty="0">
                <a:latin typeface="Times New Roman" panose="02020603050405020304" pitchFamily="18" charset="0"/>
                <a:cs typeface="Times New Roman" panose="02020603050405020304" pitchFamily="18" charset="0"/>
              </a:rPr>
              <a:t>We see that the vertical axis isn’t marked off at every increment, only at every </a:t>
            </a:r>
            <a:r>
              <a:rPr lang="en-US" sz="1600" b="1" dirty="0">
                <a:latin typeface="Times New Roman" panose="02020603050405020304" pitchFamily="18" charset="0"/>
                <a:cs typeface="Times New Roman" panose="02020603050405020304" pitchFamily="18" charset="0"/>
              </a:rPr>
              <a:t>increment</a:t>
            </a:r>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of</a:t>
            </a:r>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5</a:t>
            </a:r>
            <a:r>
              <a:rPr lang="en-US" sz="1600" dirty="0">
                <a:latin typeface="Times New Roman" panose="02020603050405020304" pitchFamily="18" charset="0"/>
                <a:cs typeface="Times New Roman" panose="02020603050405020304" pitchFamily="18" charset="0"/>
              </a:rPr>
              <a:t>. So based on how far up the bar extends for </a:t>
            </a:r>
            <a:r>
              <a:rPr lang="en-US" sz="1600" b="1" dirty="0">
                <a:latin typeface="Times New Roman" panose="02020603050405020304" pitchFamily="18" charset="0"/>
                <a:cs typeface="Times New Roman" panose="02020603050405020304" pitchFamily="18" charset="0"/>
              </a:rPr>
              <a:t>Europe</a:t>
            </a:r>
            <a:r>
              <a:rPr lang="en-US" sz="1600" dirty="0">
                <a:latin typeface="Times New Roman" panose="02020603050405020304" pitchFamily="18" charset="0"/>
                <a:cs typeface="Times New Roman" panose="02020603050405020304" pitchFamily="18" charset="0"/>
              </a:rPr>
              <a:t>, we only know with absolute certainty that it has hosted </a:t>
            </a:r>
            <a:r>
              <a:rPr lang="en-US" sz="1600" b="1" i="1" dirty="0">
                <a:latin typeface="Times New Roman" panose="02020603050405020304" pitchFamily="18" charset="0"/>
                <a:cs typeface="Times New Roman" panose="02020603050405020304" pitchFamily="18" charset="0"/>
              </a:rPr>
              <a:t>between 15 and 20 times</a:t>
            </a:r>
            <a:r>
              <a:rPr lang="en-US" sz="1600" dirty="0">
                <a:latin typeface="Times New Roman" panose="02020603050405020304" pitchFamily="18" charset="0"/>
                <a:cs typeface="Times New Roman" panose="02020603050405020304" pitchFamily="18" charset="0"/>
              </a:rPr>
              <a:t>. We could probably guess that they’ve hosted about </a:t>
            </a:r>
            <a:r>
              <a:rPr lang="en-US" sz="1600" b="1" i="1" dirty="0">
                <a:latin typeface="Times New Roman" panose="02020603050405020304" pitchFamily="18" charset="0"/>
                <a:cs typeface="Times New Roman" panose="02020603050405020304" pitchFamily="18" charset="0"/>
              </a:rPr>
              <a:t>16 or 17 summer games</a:t>
            </a:r>
            <a:r>
              <a:rPr lang="en-US" sz="1600" dirty="0">
                <a:latin typeface="Times New Roman" panose="02020603050405020304" pitchFamily="18" charset="0"/>
                <a:cs typeface="Times New Roman" panose="02020603050405020304" pitchFamily="18" charset="0"/>
              </a:rPr>
              <a:t>, but we might not feel absolutely sure.</a:t>
            </a:r>
          </a:p>
        </p:txBody>
      </p:sp>
      <p:sp>
        <p:nvSpPr>
          <p:cNvPr id="4" name="Subtitle 2">
            <a:extLst>
              <a:ext uri="{FF2B5EF4-FFF2-40B4-BE49-F238E27FC236}">
                <a16:creationId xmlns:a16="http://schemas.microsoft.com/office/drawing/2014/main" id="{F9ACE1CE-9FFB-4C65-8183-787A82DF7CBC}"/>
              </a:ext>
            </a:extLst>
          </p:cNvPr>
          <p:cNvSpPr txBox="1">
            <a:spLocks/>
          </p:cNvSpPr>
          <p:nvPr/>
        </p:nvSpPr>
        <p:spPr>
          <a:xfrm>
            <a:off x="204515" y="4689791"/>
            <a:ext cx="4149437" cy="583182"/>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sz="1600" dirty="0">
                <a:latin typeface="Times New Roman" panose="02020603050405020304" pitchFamily="18" charset="0"/>
                <a:cs typeface="Times New Roman" panose="02020603050405020304" pitchFamily="18" charset="0"/>
              </a:rPr>
              <a:t>At quick glance we would know that </a:t>
            </a:r>
            <a:r>
              <a:rPr lang="en-US" sz="1600" b="1" dirty="0">
                <a:latin typeface="Times New Roman" panose="02020603050405020304" pitchFamily="18" charset="0"/>
                <a:cs typeface="Times New Roman" panose="02020603050405020304" pitchFamily="18" charset="0"/>
              </a:rPr>
              <a:t>Australia</a:t>
            </a:r>
            <a:r>
              <a:rPr lang="en-US" sz="1600" dirty="0">
                <a:latin typeface="Times New Roman" panose="02020603050405020304" pitchFamily="18" charset="0"/>
                <a:cs typeface="Times New Roman" panose="02020603050405020304" pitchFamily="18" charset="0"/>
              </a:rPr>
              <a:t> has probably hosted only </a:t>
            </a:r>
            <a:r>
              <a:rPr lang="en-US" sz="1600" b="1" dirty="0">
                <a:latin typeface="Times New Roman" panose="02020603050405020304" pitchFamily="18" charset="0"/>
                <a:cs typeface="Times New Roman" panose="02020603050405020304" pitchFamily="18" charset="0"/>
              </a:rPr>
              <a:t>2 or 3 times</a:t>
            </a:r>
          </a:p>
        </p:txBody>
      </p:sp>
      <p:sp>
        <p:nvSpPr>
          <p:cNvPr id="7" name="Subtitle 2">
            <a:extLst>
              <a:ext uri="{FF2B5EF4-FFF2-40B4-BE49-F238E27FC236}">
                <a16:creationId xmlns:a16="http://schemas.microsoft.com/office/drawing/2014/main" id="{9005D412-2446-E080-7782-ED2B9E557E59}"/>
              </a:ext>
            </a:extLst>
          </p:cNvPr>
          <p:cNvSpPr txBox="1">
            <a:spLocks/>
          </p:cNvSpPr>
          <p:nvPr/>
        </p:nvSpPr>
        <p:spPr>
          <a:xfrm>
            <a:off x="204514" y="5436264"/>
            <a:ext cx="4149437" cy="936613"/>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sz="1600" dirty="0">
                <a:latin typeface="Times New Roman" panose="02020603050405020304" pitchFamily="18" charset="0"/>
                <a:cs typeface="Times New Roman" panose="02020603050405020304" pitchFamily="18" charset="0"/>
              </a:rPr>
              <a:t>It’s worth making the point that bar graphs </a:t>
            </a:r>
            <a:r>
              <a:rPr lang="en-US" sz="1600" b="1" i="1" dirty="0">
                <a:latin typeface="Times New Roman" panose="02020603050405020304" pitchFamily="18" charset="0"/>
                <a:cs typeface="Times New Roman" panose="02020603050405020304" pitchFamily="18" charset="0"/>
              </a:rPr>
              <a:t>aren’t always great at expressing exact values</a:t>
            </a:r>
            <a:r>
              <a:rPr lang="en-US" sz="1600" dirty="0">
                <a:latin typeface="Times New Roman" panose="02020603050405020304" pitchFamily="18" charset="0"/>
                <a:cs typeface="Times New Roman" panose="02020603050405020304" pitchFamily="18" charset="0"/>
              </a:rPr>
              <a:t>, but they’re excellent at giving us a quick visual picture of data.</a:t>
            </a:r>
          </a:p>
        </p:txBody>
      </p:sp>
      <p:grpSp>
        <p:nvGrpSpPr>
          <p:cNvPr id="6" name="Group 5">
            <a:extLst>
              <a:ext uri="{FF2B5EF4-FFF2-40B4-BE49-F238E27FC236}">
                <a16:creationId xmlns:a16="http://schemas.microsoft.com/office/drawing/2014/main" id="{B311A048-893E-1079-9F99-AAD8D9F20240}"/>
              </a:ext>
            </a:extLst>
          </p:cNvPr>
          <p:cNvGrpSpPr/>
          <p:nvPr/>
        </p:nvGrpSpPr>
        <p:grpSpPr>
          <a:xfrm>
            <a:off x="0" y="6544092"/>
            <a:ext cx="12192000" cy="313908"/>
            <a:chOff x="0" y="6544092"/>
            <a:chExt cx="12192000" cy="313908"/>
          </a:xfrm>
        </p:grpSpPr>
        <p:sp>
          <p:nvSpPr>
            <p:cNvPr id="8" name="Rectangle 7">
              <a:extLst>
                <a:ext uri="{FF2B5EF4-FFF2-40B4-BE49-F238E27FC236}">
                  <a16:creationId xmlns:a16="http://schemas.microsoft.com/office/drawing/2014/main" id="{FCCF8B64-FAC4-87A8-0583-0D2D0FA2DBF3}"/>
                </a:ext>
              </a:extLst>
            </p:cNvPr>
            <p:cNvSpPr/>
            <p:nvPr/>
          </p:nvSpPr>
          <p:spPr>
            <a:xfrm>
              <a:off x="0" y="6544092"/>
              <a:ext cx="12192000" cy="31390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9" name="TextBox 10">
              <a:extLst>
                <a:ext uri="{FF2B5EF4-FFF2-40B4-BE49-F238E27FC236}">
                  <a16:creationId xmlns:a16="http://schemas.microsoft.com/office/drawing/2014/main" id="{57FCEE24-C7A6-DE83-EE1B-1A3E49178A49}"/>
                </a:ext>
              </a:extLst>
            </p:cNvPr>
            <p:cNvSpPr txBox="1"/>
            <p:nvPr/>
          </p:nvSpPr>
          <p:spPr>
            <a:xfrm>
              <a:off x="109932" y="6577518"/>
              <a:ext cx="2794997" cy="247055"/>
            </a:xfrm>
            <a:prstGeom prst="rect">
              <a:avLst/>
            </a:prstGeom>
            <a:noFill/>
          </p:spPr>
          <p:txBody>
            <a:bodyPr lIns="0" tIns="0" rIns="0" bIns="0" rtlCol="0" anchor="ctr">
              <a:spAutoFit/>
            </a:bodyPr>
            <a:lstStyle/>
            <a:p>
              <a:pPr algn="just">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ENGR. VIOLDAN E. BAYOCOT</a:t>
              </a:r>
            </a:p>
          </p:txBody>
        </p:sp>
        <p:sp>
          <p:nvSpPr>
            <p:cNvPr id="10" name="TextBox 9">
              <a:extLst>
                <a:ext uri="{FF2B5EF4-FFF2-40B4-BE49-F238E27FC236}">
                  <a16:creationId xmlns:a16="http://schemas.microsoft.com/office/drawing/2014/main" id="{0837A9AC-207C-4ED9-6463-50E0482C658E}"/>
                </a:ext>
              </a:extLst>
            </p:cNvPr>
            <p:cNvSpPr txBox="1"/>
            <p:nvPr/>
          </p:nvSpPr>
          <p:spPr>
            <a:xfrm>
              <a:off x="3158929" y="6577518"/>
              <a:ext cx="5433668" cy="248145"/>
            </a:xfrm>
            <a:prstGeom prst="rect">
              <a:avLst/>
            </a:prstGeom>
            <a:noFill/>
          </p:spPr>
          <p:txBody>
            <a:bodyPr wrap="square" lIns="0" tIns="0" rIns="0" bIns="0" rtlCol="0" anchor="t">
              <a:spAutoFit/>
            </a:bodyPr>
            <a:lstStyle/>
            <a:p>
              <a:pPr algn="ct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[Krista K.] BECOME A PROBABILITY &amp; STATISTICS MASTER</a:t>
              </a:r>
            </a:p>
          </p:txBody>
        </p:sp>
        <p:sp>
          <p:nvSpPr>
            <p:cNvPr id="11" name="TextBox 10">
              <a:extLst>
                <a:ext uri="{FF2B5EF4-FFF2-40B4-BE49-F238E27FC236}">
                  <a16:creationId xmlns:a16="http://schemas.microsoft.com/office/drawing/2014/main" id="{6DAFFCB2-8E7E-9C5E-A608-587F366449D2}"/>
                </a:ext>
              </a:extLst>
            </p:cNvPr>
            <p:cNvSpPr txBox="1"/>
            <p:nvPr/>
          </p:nvSpPr>
          <p:spPr>
            <a:xfrm>
              <a:off x="8387007" y="6577518"/>
              <a:ext cx="3701763" cy="248145"/>
            </a:xfrm>
            <a:prstGeom prst="rect">
              <a:avLst/>
            </a:prstGeom>
            <a:noFill/>
          </p:spPr>
          <p:txBody>
            <a:bodyPr wrap="square" lIns="0" tIns="0" rIns="0" bIns="0" rtlCol="0" anchor="t">
              <a:spAutoFit/>
            </a:bodyPr>
            <a:lstStyle/>
            <a:p>
              <a:pPr algn="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QUANTITATIVE METHODS</a:t>
              </a:r>
            </a:p>
          </p:txBody>
        </p:sp>
      </p:grpSp>
      <p:pic>
        <p:nvPicPr>
          <p:cNvPr id="12" name="Picture 11">
            <a:extLst>
              <a:ext uri="{FF2B5EF4-FFF2-40B4-BE49-F238E27FC236}">
                <a16:creationId xmlns:a16="http://schemas.microsoft.com/office/drawing/2014/main" id="{589D899D-E592-4B6B-A5EC-651C25628021}"/>
              </a:ext>
            </a:extLst>
          </p:cNvPr>
          <p:cNvPicPr>
            <a:picLocks noChangeAspect="1"/>
          </p:cNvPicPr>
          <p:nvPr/>
        </p:nvPicPr>
        <p:blipFill>
          <a:blip r:embed="rId3"/>
          <a:stretch>
            <a:fillRect/>
          </a:stretch>
        </p:blipFill>
        <p:spPr>
          <a:xfrm>
            <a:off x="4508750" y="1747398"/>
            <a:ext cx="7154917" cy="4294825"/>
          </a:xfrm>
          <a:prstGeom prst="rect">
            <a:avLst/>
          </a:prstGeom>
        </p:spPr>
      </p:pic>
    </p:spTree>
    <p:extLst>
      <p:ext uri="{BB962C8B-B14F-4D97-AF65-F5344CB8AC3E}">
        <p14:creationId xmlns:p14="http://schemas.microsoft.com/office/powerpoint/2010/main" val="1254263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500"/>
                                        <p:tgtEl>
                                          <p:spTgt spid="2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500"/>
                                        <p:tgtEl>
                                          <p:spTgt spid="4"/>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up)">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4" grpId="0"/>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90F03-23B4-5A19-9D9A-41AB7CFEF27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7CF5C321-D63E-D246-C5AA-122F748E5F1E}"/>
              </a:ext>
            </a:extLst>
          </p:cNvPr>
          <p:cNvSpPr/>
          <p:nvPr/>
        </p:nvSpPr>
        <p:spPr>
          <a:xfrm>
            <a:off x="0" y="0"/>
            <a:ext cx="12192000" cy="548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sz="3000" b="1" dirty="0">
              <a:solidFill>
                <a:schemeClr val="tx1"/>
              </a:solidFill>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737B8C6E-E4DE-B0B8-5038-714D2417207E}"/>
              </a:ext>
            </a:extLst>
          </p:cNvPr>
          <p:cNvSpPr txBox="1">
            <a:spLocks/>
          </p:cNvSpPr>
          <p:nvPr/>
        </p:nvSpPr>
        <p:spPr>
          <a:xfrm>
            <a:off x="0" y="0"/>
            <a:ext cx="12191997" cy="548641"/>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PH" sz="3000" b="1" dirty="0">
                <a:solidFill>
                  <a:schemeClr val="bg1"/>
                </a:solidFill>
                <a:latin typeface="Times New Roman" panose="02020603050405020304" pitchFamily="18" charset="0"/>
                <a:cs typeface="Times New Roman" panose="02020603050405020304" pitchFamily="18" charset="0"/>
              </a:rPr>
              <a:t>BUILDING PIE CHARTS</a:t>
            </a:r>
            <a:endParaRPr lang="en-PH" sz="3000" b="1" dirty="0">
              <a:solidFill>
                <a:schemeClr val="bg1"/>
              </a:solidFill>
              <a:latin typeface="Courier New" panose="02070309020205020404" pitchFamily="49" charset="0"/>
              <a:cs typeface="Courier New" panose="02070309020205020404" pitchFamily="49" charset="0"/>
            </a:endParaRPr>
          </a:p>
        </p:txBody>
      </p:sp>
      <p:sp>
        <p:nvSpPr>
          <p:cNvPr id="15" name="Subtitle 2">
            <a:extLst>
              <a:ext uri="{FF2B5EF4-FFF2-40B4-BE49-F238E27FC236}">
                <a16:creationId xmlns:a16="http://schemas.microsoft.com/office/drawing/2014/main" id="{A7588734-40E3-D376-EAC6-97BA5DB8AA96}"/>
              </a:ext>
            </a:extLst>
          </p:cNvPr>
          <p:cNvSpPr txBox="1">
            <a:spLocks/>
          </p:cNvSpPr>
          <p:nvPr/>
        </p:nvSpPr>
        <p:spPr>
          <a:xfrm>
            <a:off x="4508750" y="710034"/>
            <a:ext cx="7151693" cy="650086"/>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dirty="0">
                <a:latin typeface="Times New Roman" panose="02020603050405020304" pitchFamily="18" charset="0"/>
                <a:cs typeface="Times New Roman" panose="02020603050405020304" pitchFamily="18" charset="0"/>
              </a:rPr>
              <a:t>From same data, we can also make a pie chart</a:t>
            </a:r>
          </a:p>
        </p:txBody>
      </p:sp>
      <p:graphicFrame>
        <p:nvGraphicFramePr>
          <p:cNvPr id="33" name="Table 32">
            <a:extLst>
              <a:ext uri="{FF2B5EF4-FFF2-40B4-BE49-F238E27FC236}">
                <a16:creationId xmlns:a16="http://schemas.microsoft.com/office/drawing/2014/main" id="{53F5DBBF-09C6-4D94-08F5-D4F427FC4F7A}"/>
              </a:ext>
            </a:extLst>
          </p:cNvPr>
          <p:cNvGraphicFramePr>
            <a:graphicFrameLocks noGrp="1"/>
          </p:cNvGraphicFramePr>
          <p:nvPr/>
        </p:nvGraphicFramePr>
        <p:xfrm>
          <a:off x="1193800" y="710034"/>
          <a:ext cx="2170868" cy="1828800"/>
        </p:xfrm>
        <a:graphic>
          <a:graphicData uri="http://schemas.openxmlformats.org/drawingml/2006/table">
            <a:tbl>
              <a:tblPr firstRow="1" bandRow="1">
                <a:tableStyleId>{073A0DAA-6AF3-43AB-8588-CEC1D06C72B9}</a:tableStyleId>
              </a:tblPr>
              <a:tblGrid>
                <a:gridCol w="1495425">
                  <a:extLst>
                    <a:ext uri="{9D8B030D-6E8A-4147-A177-3AD203B41FA5}">
                      <a16:colId xmlns:a16="http://schemas.microsoft.com/office/drawing/2014/main" val="1166012533"/>
                    </a:ext>
                  </a:extLst>
                </a:gridCol>
                <a:gridCol w="675443">
                  <a:extLst>
                    <a:ext uri="{9D8B030D-6E8A-4147-A177-3AD203B41FA5}">
                      <a16:colId xmlns:a16="http://schemas.microsoft.com/office/drawing/2014/main" val="3264493246"/>
                    </a:ext>
                  </a:extLst>
                </a:gridCol>
              </a:tblGrid>
              <a:tr h="287227">
                <a:tc>
                  <a:txBody>
                    <a:bodyPr/>
                    <a:lstStyle/>
                    <a:p>
                      <a:pPr algn="ctr"/>
                      <a:r>
                        <a:rPr lang="en-US" sz="1400" dirty="0">
                          <a:latin typeface="Times New Roman" panose="02020603050405020304" pitchFamily="18" charset="0"/>
                          <a:cs typeface="Times New Roman" panose="02020603050405020304" pitchFamily="18" charset="0"/>
                        </a:rPr>
                        <a:t>Continent</a:t>
                      </a:r>
                    </a:p>
                  </a:txBody>
                  <a:tcPr anchor="ctr"/>
                </a:tc>
                <a:tc>
                  <a:txBody>
                    <a:bodyPr/>
                    <a:lstStyle/>
                    <a:p>
                      <a:pPr algn="ctr"/>
                      <a:r>
                        <a:rPr lang="en-US" sz="1400" dirty="0">
                          <a:latin typeface="Times New Roman" panose="02020603050405020304" pitchFamily="18" charset="0"/>
                          <a:cs typeface="Times New Roman" panose="02020603050405020304" pitchFamily="18" charset="0"/>
                        </a:rPr>
                        <a:t>Count</a:t>
                      </a:r>
                    </a:p>
                  </a:txBody>
                  <a:tcPr anchor="ctr"/>
                </a:tc>
                <a:extLst>
                  <a:ext uri="{0D108BD9-81ED-4DB2-BD59-A6C34878D82A}">
                    <a16:rowId xmlns:a16="http://schemas.microsoft.com/office/drawing/2014/main" val="2823845039"/>
                  </a:ext>
                </a:extLst>
              </a:tr>
              <a:tr h="287227">
                <a:tc>
                  <a:txBody>
                    <a:bodyPr/>
                    <a:lstStyle/>
                    <a:p>
                      <a:pPr algn="ctr"/>
                      <a:r>
                        <a:rPr lang="en-US" sz="1400" dirty="0">
                          <a:latin typeface="Times New Roman" panose="02020603050405020304" pitchFamily="18" charset="0"/>
                          <a:cs typeface="Times New Roman" panose="02020603050405020304" pitchFamily="18" charset="0"/>
                        </a:rPr>
                        <a:t>Europe</a:t>
                      </a:r>
                    </a:p>
                  </a:txBody>
                  <a:tcPr anchor="ctr"/>
                </a:tc>
                <a:tc>
                  <a:txBody>
                    <a:bodyPr/>
                    <a:lstStyle/>
                    <a:p>
                      <a:pPr algn="ctr"/>
                      <a:r>
                        <a:rPr lang="en-US" sz="1400" dirty="0">
                          <a:latin typeface="Times New Roman" panose="02020603050405020304" pitchFamily="18" charset="0"/>
                          <a:cs typeface="Times New Roman" panose="02020603050405020304" pitchFamily="18" charset="0"/>
                        </a:rPr>
                        <a:t>16</a:t>
                      </a:r>
                    </a:p>
                  </a:txBody>
                  <a:tcPr anchor="ctr"/>
                </a:tc>
                <a:extLst>
                  <a:ext uri="{0D108BD9-81ED-4DB2-BD59-A6C34878D82A}">
                    <a16:rowId xmlns:a16="http://schemas.microsoft.com/office/drawing/2014/main" val="910422922"/>
                  </a:ext>
                </a:extLst>
              </a:tr>
              <a:tr h="287227">
                <a:tc>
                  <a:txBody>
                    <a:bodyPr/>
                    <a:lstStyle/>
                    <a:p>
                      <a:pPr algn="ctr"/>
                      <a:r>
                        <a:rPr lang="en-US" sz="1400" dirty="0">
                          <a:latin typeface="Times New Roman" panose="02020603050405020304" pitchFamily="18" charset="0"/>
                          <a:cs typeface="Times New Roman" panose="02020603050405020304" pitchFamily="18" charset="0"/>
                        </a:rPr>
                        <a:t>North America</a:t>
                      </a:r>
                    </a:p>
                  </a:txBody>
                  <a:tcPr anchor="ctr"/>
                </a:tc>
                <a:tc>
                  <a:txBody>
                    <a:bodyPr/>
                    <a:lstStyle/>
                    <a:p>
                      <a:pPr algn="ctr"/>
                      <a:r>
                        <a:rPr lang="en-US" sz="1400" dirty="0">
                          <a:latin typeface="Times New Roman" panose="02020603050405020304" pitchFamily="18" charset="0"/>
                          <a:cs typeface="Times New Roman" panose="02020603050405020304" pitchFamily="18" charset="0"/>
                        </a:rPr>
                        <a:t>6</a:t>
                      </a:r>
                    </a:p>
                  </a:txBody>
                  <a:tcPr anchor="ctr"/>
                </a:tc>
                <a:extLst>
                  <a:ext uri="{0D108BD9-81ED-4DB2-BD59-A6C34878D82A}">
                    <a16:rowId xmlns:a16="http://schemas.microsoft.com/office/drawing/2014/main" val="2893805463"/>
                  </a:ext>
                </a:extLst>
              </a:tr>
              <a:tr h="287227">
                <a:tc>
                  <a:txBody>
                    <a:bodyPr/>
                    <a:lstStyle/>
                    <a:p>
                      <a:pPr algn="ctr"/>
                      <a:r>
                        <a:rPr lang="en-US" sz="1400" dirty="0">
                          <a:latin typeface="Times New Roman" panose="02020603050405020304" pitchFamily="18" charset="0"/>
                          <a:cs typeface="Times New Roman" panose="02020603050405020304" pitchFamily="18" charset="0"/>
                        </a:rPr>
                        <a:t>Asia</a:t>
                      </a:r>
                    </a:p>
                  </a:txBody>
                  <a:tcPr anchor="ctr"/>
                </a:tc>
                <a:tc>
                  <a:txBody>
                    <a:bodyPr/>
                    <a:lstStyle/>
                    <a:p>
                      <a:pPr algn="ctr"/>
                      <a:r>
                        <a:rPr lang="en-US" sz="1400" dirty="0">
                          <a:latin typeface="Times New Roman" panose="02020603050405020304" pitchFamily="18" charset="0"/>
                          <a:cs typeface="Times New Roman" panose="02020603050405020304" pitchFamily="18" charset="0"/>
                        </a:rPr>
                        <a:t>3</a:t>
                      </a:r>
                    </a:p>
                  </a:txBody>
                  <a:tcPr anchor="ctr"/>
                </a:tc>
                <a:extLst>
                  <a:ext uri="{0D108BD9-81ED-4DB2-BD59-A6C34878D82A}">
                    <a16:rowId xmlns:a16="http://schemas.microsoft.com/office/drawing/2014/main" val="2968804477"/>
                  </a:ext>
                </a:extLst>
              </a:tr>
              <a:tr h="287227">
                <a:tc>
                  <a:txBody>
                    <a:bodyPr/>
                    <a:lstStyle/>
                    <a:p>
                      <a:pPr algn="ctr"/>
                      <a:r>
                        <a:rPr lang="en-US" sz="1400" dirty="0">
                          <a:latin typeface="Times New Roman" panose="02020603050405020304" pitchFamily="18" charset="0"/>
                          <a:cs typeface="Times New Roman" panose="02020603050405020304" pitchFamily="18" charset="0"/>
                        </a:rPr>
                        <a:t>Australia</a:t>
                      </a:r>
                    </a:p>
                  </a:txBody>
                  <a:tcPr anchor="ctr"/>
                </a:tc>
                <a:tc>
                  <a:txBody>
                    <a:bodyPr/>
                    <a:lstStyle/>
                    <a:p>
                      <a:pPr algn="ctr"/>
                      <a:r>
                        <a:rPr lang="en-US" sz="1400" dirty="0">
                          <a:latin typeface="Times New Roman" panose="02020603050405020304" pitchFamily="18" charset="0"/>
                          <a:cs typeface="Times New Roman" panose="02020603050405020304" pitchFamily="18" charset="0"/>
                        </a:rPr>
                        <a:t>2</a:t>
                      </a:r>
                    </a:p>
                  </a:txBody>
                  <a:tcPr anchor="ctr"/>
                </a:tc>
                <a:extLst>
                  <a:ext uri="{0D108BD9-81ED-4DB2-BD59-A6C34878D82A}">
                    <a16:rowId xmlns:a16="http://schemas.microsoft.com/office/drawing/2014/main" val="953145468"/>
                  </a:ext>
                </a:extLst>
              </a:tr>
              <a:tr h="287227">
                <a:tc>
                  <a:txBody>
                    <a:bodyPr/>
                    <a:lstStyle/>
                    <a:p>
                      <a:pPr algn="ctr"/>
                      <a:r>
                        <a:rPr lang="en-US" sz="1400" dirty="0">
                          <a:latin typeface="Times New Roman" panose="02020603050405020304" pitchFamily="18" charset="0"/>
                          <a:cs typeface="Times New Roman" panose="02020603050405020304" pitchFamily="18" charset="0"/>
                        </a:rPr>
                        <a:t>South America</a:t>
                      </a:r>
                    </a:p>
                  </a:txBody>
                  <a:tcPr anchor="ctr"/>
                </a:tc>
                <a:tc>
                  <a:txBody>
                    <a:bodyPr/>
                    <a:lstStyle/>
                    <a:p>
                      <a:pPr algn="ctr"/>
                      <a:r>
                        <a:rPr lang="en-US" sz="1400" dirty="0">
                          <a:latin typeface="Times New Roman" panose="02020603050405020304" pitchFamily="18" charset="0"/>
                          <a:cs typeface="Times New Roman" panose="02020603050405020304" pitchFamily="18" charset="0"/>
                        </a:rPr>
                        <a:t>1</a:t>
                      </a:r>
                    </a:p>
                  </a:txBody>
                  <a:tcPr anchor="ctr"/>
                </a:tc>
                <a:extLst>
                  <a:ext uri="{0D108BD9-81ED-4DB2-BD59-A6C34878D82A}">
                    <a16:rowId xmlns:a16="http://schemas.microsoft.com/office/drawing/2014/main" val="1816048049"/>
                  </a:ext>
                </a:extLst>
              </a:tr>
            </a:tbl>
          </a:graphicData>
        </a:graphic>
      </p:graphicFrame>
      <p:sp>
        <p:nvSpPr>
          <p:cNvPr id="20" name="Subtitle 2">
            <a:extLst>
              <a:ext uri="{FF2B5EF4-FFF2-40B4-BE49-F238E27FC236}">
                <a16:creationId xmlns:a16="http://schemas.microsoft.com/office/drawing/2014/main" id="{82DA01D3-426C-E3F8-A64A-8CAB469F7BF2}"/>
              </a:ext>
            </a:extLst>
          </p:cNvPr>
          <p:cNvSpPr txBox="1">
            <a:spLocks/>
          </p:cNvSpPr>
          <p:nvPr/>
        </p:nvSpPr>
        <p:spPr>
          <a:xfrm>
            <a:off x="159326" y="3080894"/>
            <a:ext cx="4149437" cy="753389"/>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sz="1600" dirty="0">
                <a:latin typeface="Times New Roman" panose="02020603050405020304" pitchFamily="18" charset="0"/>
                <a:cs typeface="Times New Roman" panose="02020603050405020304" pitchFamily="18" charset="0"/>
              </a:rPr>
              <a:t>It’s helpful in a pie chart, though not necessary, to make each individual a different color so that it’s easy to see the distinction between sections</a:t>
            </a:r>
          </a:p>
        </p:txBody>
      </p:sp>
      <p:sp>
        <p:nvSpPr>
          <p:cNvPr id="23" name="Subtitle 2">
            <a:extLst>
              <a:ext uri="{FF2B5EF4-FFF2-40B4-BE49-F238E27FC236}">
                <a16:creationId xmlns:a16="http://schemas.microsoft.com/office/drawing/2014/main" id="{3987D8B3-1EE8-4DCB-AF5E-9552AE9A3D14}"/>
              </a:ext>
            </a:extLst>
          </p:cNvPr>
          <p:cNvSpPr txBox="1">
            <a:spLocks/>
          </p:cNvSpPr>
          <p:nvPr/>
        </p:nvSpPr>
        <p:spPr>
          <a:xfrm>
            <a:off x="157361" y="4169131"/>
            <a:ext cx="4149437" cy="753389"/>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sz="1600" dirty="0">
                <a:latin typeface="Times New Roman" panose="02020603050405020304" pitchFamily="18" charset="0"/>
                <a:cs typeface="Times New Roman" panose="02020603050405020304" pitchFamily="18" charset="0"/>
              </a:rPr>
              <a:t>Like the bar graphs, it’s customary to put the largest slices next to each other, in order all the way down to the smallest sections</a:t>
            </a:r>
          </a:p>
        </p:txBody>
      </p:sp>
      <p:grpSp>
        <p:nvGrpSpPr>
          <p:cNvPr id="2" name="Group 1">
            <a:extLst>
              <a:ext uri="{FF2B5EF4-FFF2-40B4-BE49-F238E27FC236}">
                <a16:creationId xmlns:a16="http://schemas.microsoft.com/office/drawing/2014/main" id="{17E5BD8E-87F8-44F7-10E5-3A442C377C0E}"/>
              </a:ext>
            </a:extLst>
          </p:cNvPr>
          <p:cNvGrpSpPr/>
          <p:nvPr/>
        </p:nvGrpSpPr>
        <p:grpSpPr>
          <a:xfrm>
            <a:off x="0" y="6544092"/>
            <a:ext cx="12192000" cy="313908"/>
            <a:chOff x="0" y="6544092"/>
            <a:chExt cx="12192000" cy="313908"/>
          </a:xfrm>
        </p:grpSpPr>
        <p:sp>
          <p:nvSpPr>
            <p:cNvPr id="3" name="Rectangle 2">
              <a:extLst>
                <a:ext uri="{FF2B5EF4-FFF2-40B4-BE49-F238E27FC236}">
                  <a16:creationId xmlns:a16="http://schemas.microsoft.com/office/drawing/2014/main" id="{0F07126A-3BED-E223-1CB8-92ACFF13247D}"/>
                </a:ext>
              </a:extLst>
            </p:cNvPr>
            <p:cNvSpPr/>
            <p:nvPr/>
          </p:nvSpPr>
          <p:spPr>
            <a:xfrm>
              <a:off x="0" y="6544092"/>
              <a:ext cx="12192000" cy="31390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9" name="TextBox 10">
              <a:extLst>
                <a:ext uri="{FF2B5EF4-FFF2-40B4-BE49-F238E27FC236}">
                  <a16:creationId xmlns:a16="http://schemas.microsoft.com/office/drawing/2014/main" id="{F2FB9B45-A4FF-29E8-DB2D-41010F39DFEE}"/>
                </a:ext>
              </a:extLst>
            </p:cNvPr>
            <p:cNvSpPr txBox="1"/>
            <p:nvPr/>
          </p:nvSpPr>
          <p:spPr>
            <a:xfrm>
              <a:off x="109932" y="6577518"/>
              <a:ext cx="2794997" cy="247055"/>
            </a:xfrm>
            <a:prstGeom prst="rect">
              <a:avLst/>
            </a:prstGeom>
            <a:noFill/>
          </p:spPr>
          <p:txBody>
            <a:bodyPr lIns="0" tIns="0" rIns="0" bIns="0" rtlCol="0" anchor="ctr">
              <a:spAutoFit/>
            </a:bodyPr>
            <a:lstStyle/>
            <a:p>
              <a:pPr algn="just">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ENGR. VIOLDAN E. BAYOCOT</a:t>
              </a:r>
            </a:p>
          </p:txBody>
        </p:sp>
        <p:sp>
          <p:nvSpPr>
            <p:cNvPr id="10" name="TextBox 9">
              <a:extLst>
                <a:ext uri="{FF2B5EF4-FFF2-40B4-BE49-F238E27FC236}">
                  <a16:creationId xmlns:a16="http://schemas.microsoft.com/office/drawing/2014/main" id="{FC5B9C0C-F677-8FA5-AADA-1CAD84C47D06}"/>
                </a:ext>
              </a:extLst>
            </p:cNvPr>
            <p:cNvSpPr txBox="1"/>
            <p:nvPr/>
          </p:nvSpPr>
          <p:spPr>
            <a:xfrm>
              <a:off x="3158929" y="6577518"/>
              <a:ext cx="5433668" cy="248145"/>
            </a:xfrm>
            <a:prstGeom prst="rect">
              <a:avLst/>
            </a:prstGeom>
            <a:noFill/>
          </p:spPr>
          <p:txBody>
            <a:bodyPr wrap="square" lIns="0" tIns="0" rIns="0" bIns="0" rtlCol="0" anchor="t">
              <a:spAutoFit/>
            </a:bodyPr>
            <a:lstStyle/>
            <a:p>
              <a:pPr algn="ct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[Krista K.] BECOME A PROBABILITY &amp; STATISTICS MASTER</a:t>
              </a:r>
            </a:p>
          </p:txBody>
        </p:sp>
        <p:sp>
          <p:nvSpPr>
            <p:cNvPr id="11" name="TextBox 10">
              <a:extLst>
                <a:ext uri="{FF2B5EF4-FFF2-40B4-BE49-F238E27FC236}">
                  <a16:creationId xmlns:a16="http://schemas.microsoft.com/office/drawing/2014/main" id="{09E900AA-BD01-0479-1809-F8D76FAF87B5}"/>
                </a:ext>
              </a:extLst>
            </p:cNvPr>
            <p:cNvSpPr txBox="1"/>
            <p:nvPr/>
          </p:nvSpPr>
          <p:spPr>
            <a:xfrm>
              <a:off x="8387007" y="6577518"/>
              <a:ext cx="3701763" cy="248145"/>
            </a:xfrm>
            <a:prstGeom prst="rect">
              <a:avLst/>
            </a:prstGeom>
            <a:noFill/>
          </p:spPr>
          <p:txBody>
            <a:bodyPr wrap="square" lIns="0" tIns="0" rIns="0" bIns="0" rtlCol="0" anchor="t">
              <a:spAutoFit/>
            </a:bodyPr>
            <a:lstStyle/>
            <a:p>
              <a:pPr algn="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QUANTITATIVE METHODS</a:t>
              </a:r>
            </a:p>
          </p:txBody>
        </p:sp>
      </p:grpSp>
      <p:pic>
        <p:nvPicPr>
          <p:cNvPr id="7" name="Picture 6">
            <a:extLst>
              <a:ext uri="{FF2B5EF4-FFF2-40B4-BE49-F238E27FC236}">
                <a16:creationId xmlns:a16="http://schemas.microsoft.com/office/drawing/2014/main" id="{219A4020-6B04-B4AF-76F7-BD2F392048E8}"/>
              </a:ext>
            </a:extLst>
          </p:cNvPr>
          <p:cNvPicPr>
            <a:picLocks noChangeAspect="1"/>
          </p:cNvPicPr>
          <p:nvPr/>
        </p:nvPicPr>
        <p:blipFill>
          <a:blip r:embed="rId3"/>
          <a:stretch>
            <a:fillRect/>
          </a:stretch>
        </p:blipFill>
        <p:spPr>
          <a:xfrm>
            <a:off x="4508750" y="1451471"/>
            <a:ext cx="7196511" cy="4696495"/>
          </a:xfrm>
          <a:prstGeom prst="rect">
            <a:avLst/>
          </a:prstGeom>
        </p:spPr>
      </p:pic>
    </p:spTree>
    <p:extLst>
      <p:ext uri="{BB962C8B-B14F-4D97-AF65-F5344CB8AC3E}">
        <p14:creationId xmlns:p14="http://schemas.microsoft.com/office/powerpoint/2010/main" val="30618725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heel(1)">
                                      <p:cBhvr>
                                        <p:cTn id="7" dur="750"/>
                                        <p:tgtEl>
                                          <p:spTgt spid="7"/>
                                        </p:tgtEl>
                                      </p:cBhvr>
                                    </p:animEffect>
                                  </p:childTnLst>
                                </p:cTn>
                              </p:par>
                            </p:childTnLst>
                          </p:cTn>
                        </p:par>
                        <p:par>
                          <p:cTn id="8" fill="hold">
                            <p:stCondLst>
                              <p:cond delay="750"/>
                            </p:stCondLst>
                            <p:childTnLst>
                              <p:par>
                                <p:cTn id="9" presetID="10" presetClass="entr" presetSubtype="0"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500"/>
                                        <p:tgtEl>
                                          <p:spTgt spid="20"/>
                                        </p:tgtEl>
                                      </p:cBhvr>
                                    </p:animEffect>
                                  </p:childTnLst>
                                </p:cTn>
                              </p:par>
                            </p:childTnLst>
                          </p:cTn>
                        </p:par>
                        <p:par>
                          <p:cTn id="12" fill="hold">
                            <p:stCondLst>
                              <p:cond delay="1250"/>
                            </p:stCondLst>
                            <p:childTnLst>
                              <p:par>
                                <p:cTn id="13" presetID="10" presetClass="entr" presetSubtype="0" fill="hold" grpId="0"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CF184-0DB7-DE9E-488E-9A5940025D51}"/>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878BC841-0626-D200-8921-28C4188F6CFA}"/>
              </a:ext>
            </a:extLst>
          </p:cNvPr>
          <p:cNvSpPr/>
          <p:nvPr/>
        </p:nvSpPr>
        <p:spPr>
          <a:xfrm>
            <a:off x="0" y="0"/>
            <a:ext cx="12192000" cy="548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sz="3000" b="1" dirty="0">
              <a:solidFill>
                <a:schemeClr val="tx1"/>
              </a:solidFill>
              <a:latin typeface="Times New Roman" panose="02020603050405020304" pitchFamily="18" charset="0"/>
              <a:cs typeface="Times New Roman" panose="02020603050405020304" pitchFamily="18" charset="0"/>
            </a:endParaRPr>
          </a:p>
        </p:txBody>
      </p:sp>
      <p:sp>
        <p:nvSpPr>
          <p:cNvPr id="2" name="Content Placeholder 2">
            <a:extLst>
              <a:ext uri="{FF2B5EF4-FFF2-40B4-BE49-F238E27FC236}">
                <a16:creationId xmlns:a16="http://schemas.microsoft.com/office/drawing/2014/main" id="{020BD96C-27F1-5982-8FA0-926417A0346C}"/>
              </a:ext>
            </a:extLst>
          </p:cNvPr>
          <p:cNvSpPr txBox="1">
            <a:spLocks/>
          </p:cNvSpPr>
          <p:nvPr/>
        </p:nvSpPr>
        <p:spPr>
          <a:xfrm>
            <a:off x="0" y="0"/>
            <a:ext cx="12191998" cy="548641"/>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PH" sz="3000" b="1" dirty="0">
                <a:solidFill>
                  <a:schemeClr val="bg1"/>
                </a:solidFill>
                <a:latin typeface="Times New Roman" panose="02020603050405020304" pitchFamily="18" charset="0"/>
                <a:cs typeface="Times New Roman" panose="02020603050405020304" pitchFamily="18" charset="0"/>
              </a:rPr>
              <a:t>WINTER GAMES DATASET - EXAMPLE</a:t>
            </a:r>
            <a:endParaRPr lang="en-PH" sz="3000" b="1" dirty="0">
              <a:solidFill>
                <a:schemeClr val="bg1"/>
              </a:solidFill>
              <a:latin typeface="Courier New" panose="02070309020205020404" pitchFamily="49" charset="0"/>
              <a:cs typeface="Courier New" panose="02070309020205020404" pitchFamily="49" charset="0"/>
            </a:endParaRPr>
          </a:p>
        </p:txBody>
      </p:sp>
      <p:sp>
        <p:nvSpPr>
          <p:cNvPr id="4" name="Subtitle 2">
            <a:extLst>
              <a:ext uri="{FF2B5EF4-FFF2-40B4-BE49-F238E27FC236}">
                <a16:creationId xmlns:a16="http://schemas.microsoft.com/office/drawing/2014/main" id="{C49031FD-ABA2-7EAE-F5EE-D7818CD9F26A}"/>
              </a:ext>
            </a:extLst>
          </p:cNvPr>
          <p:cNvSpPr txBox="1">
            <a:spLocks/>
          </p:cNvSpPr>
          <p:nvPr/>
        </p:nvSpPr>
        <p:spPr>
          <a:xfrm>
            <a:off x="406566" y="677981"/>
            <a:ext cx="11378865" cy="715017"/>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dirty="0">
                <a:latin typeface="Times New Roman" panose="02020603050405020304" pitchFamily="18" charset="0"/>
                <a:cs typeface="Times New Roman" panose="02020603050405020304" pitchFamily="18" charset="0"/>
              </a:rPr>
              <a:t>Create a </a:t>
            </a:r>
            <a:r>
              <a:rPr lang="en-US" sz="2000" b="1" dirty="0">
                <a:latin typeface="Times New Roman" panose="02020603050405020304" pitchFamily="18" charset="0"/>
                <a:cs typeface="Times New Roman" panose="02020603050405020304" pitchFamily="18" charset="0"/>
              </a:rPr>
              <a:t>bar graph </a:t>
            </a:r>
            <a:r>
              <a:rPr lang="en-US" sz="2000" dirty="0">
                <a:latin typeface="Times New Roman" panose="02020603050405020304" pitchFamily="18" charset="0"/>
                <a:cs typeface="Times New Roman" panose="02020603050405020304" pitchFamily="18" charset="0"/>
              </a:rPr>
              <a:t>and </a:t>
            </a:r>
            <a:r>
              <a:rPr lang="en-US" sz="2000" b="1" dirty="0">
                <a:latin typeface="Times New Roman" panose="02020603050405020304" pitchFamily="18" charset="0"/>
                <a:cs typeface="Times New Roman" panose="02020603050405020304" pitchFamily="18" charset="0"/>
              </a:rPr>
              <a:t>pie chart </a:t>
            </a:r>
            <a:r>
              <a:rPr lang="en-US" sz="2000" dirty="0">
                <a:latin typeface="Times New Roman" panose="02020603050405020304" pitchFamily="18" charset="0"/>
                <a:cs typeface="Times New Roman" panose="02020603050405020304" pitchFamily="18" charset="0"/>
              </a:rPr>
              <a:t>that shows the number of times each continent has hosted the winter Olympic games. Use the </a:t>
            </a:r>
            <a:r>
              <a:rPr lang="en-US" sz="2000" b="1" dirty="0">
                <a:latin typeface="Times New Roman" panose="02020603050405020304" pitchFamily="18" charset="0"/>
                <a:cs typeface="Times New Roman" panose="02020603050405020304" pitchFamily="18" charset="0"/>
              </a:rPr>
              <a:t>data table </a:t>
            </a:r>
            <a:r>
              <a:rPr lang="en-US" sz="2000" dirty="0">
                <a:latin typeface="Times New Roman" panose="02020603050405020304" pitchFamily="18" charset="0"/>
                <a:cs typeface="Times New Roman" panose="02020603050405020304" pitchFamily="18" charset="0"/>
              </a:rPr>
              <a:t>to first </a:t>
            </a:r>
            <a:r>
              <a:rPr lang="en-US" sz="2000" b="1" dirty="0">
                <a:latin typeface="Times New Roman" panose="02020603050405020304" pitchFamily="18" charset="0"/>
                <a:cs typeface="Times New Roman" panose="02020603050405020304" pitchFamily="18" charset="0"/>
              </a:rPr>
              <a:t>create a summary table</a:t>
            </a:r>
            <a:r>
              <a:rPr lang="en-US" sz="2000" dirty="0">
                <a:latin typeface="Times New Roman" panose="02020603050405020304" pitchFamily="18" charset="0"/>
                <a:cs typeface="Times New Roman" panose="02020603050405020304" pitchFamily="18" charset="0"/>
              </a:rPr>
              <a:t>, then build the bar graph and pie chart.</a:t>
            </a:r>
          </a:p>
        </p:txBody>
      </p:sp>
      <p:graphicFrame>
        <p:nvGraphicFramePr>
          <p:cNvPr id="12" name="Table 11">
            <a:extLst>
              <a:ext uri="{FF2B5EF4-FFF2-40B4-BE49-F238E27FC236}">
                <a16:creationId xmlns:a16="http://schemas.microsoft.com/office/drawing/2014/main" id="{B081D554-229B-51E6-0B68-37452BF10B58}"/>
              </a:ext>
            </a:extLst>
          </p:cNvPr>
          <p:cNvGraphicFramePr>
            <a:graphicFrameLocks noGrp="1"/>
          </p:cNvGraphicFramePr>
          <p:nvPr>
            <p:extLst>
              <p:ext uri="{D42A27DB-BD31-4B8C-83A1-F6EECF244321}">
                <p14:modId xmlns:p14="http://schemas.microsoft.com/office/powerpoint/2010/main" val="664578420"/>
              </p:ext>
            </p:extLst>
          </p:nvPr>
        </p:nvGraphicFramePr>
        <p:xfrm>
          <a:off x="6309875" y="1911618"/>
          <a:ext cx="5554465" cy="3735550"/>
        </p:xfrm>
        <a:graphic>
          <a:graphicData uri="http://schemas.openxmlformats.org/drawingml/2006/table">
            <a:tbl>
              <a:tblPr firstRow="1" bandRow="1">
                <a:tableStyleId>{073A0DAA-6AF3-43AB-8588-CEC1D06C72B9}</a:tableStyleId>
              </a:tblPr>
              <a:tblGrid>
                <a:gridCol w="827651">
                  <a:extLst>
                    <a:ext uri="{9D8B030D-6E8A-4147-A177-3AD203B41FA5}">
                      <a16:colId xmlns:a16="http://schemas.microsoft.com/office/drawing/2014/main" val="2686799140"/>
                    </a:ext>
                  </a:extLst>
                </a:gridCol>
                <a:gridCol w="827651">
                  <a:extLst>
                    <a:ext uri="{9D8B030D-6E8A-4147-A177-3AD203B41FA5}">
                      <a16:colId xmlns:a16="http://schemas.microsoft.com/office/drawing/2014/main" val="683507027"/>
                    </a:ext>
                  </a:extLst>
                </a:gridCol>
                <a:gridCol w="2510546">
                  <a:extLst>
                    <a:ext uri="{9D8B030D-6E8A-4147-A177-3AD203B41FA5}">
                      <a16:colId xmlns:a16="http://schemas.microsoft.com/office/drawing/2014/main" val="2101790897"/>
                    </a:ext>
                  </a:extLst>
                </a:gridCol>
                <a:gridCol w="1388617">
                  <a:extLst>
                    <a:ext uri="{9D8B030D-6E8A-4147-A177-3AD203B41FA5}">
                      <a16:colId xmlns:a16="http://schemas.microsoft.com/office/drawing/2014/main" val="3959219217"/>
                    </a:ext>
                  </a:extLst>
                </a:gridCol>
              </a:tblGrid>
              <a:tr h="287350">
                <a:tc>
                  <a:txBody>
                    <a:bodyPr/>
                    <a:lstStyle/>
                    <a:p>
                      <a:pPr algn="ctr" fontAlgn="b">
                        <a:buNone/>
                      </a:pPr>
                      <a:r>
                        <a:rPr lang="en-US" sz="1600" b="1" u="none" strike="noStrike" dirty="0">
                          <a:solidFill>
                            <a:schemeClr val="bg1"/>
                          </a:solidFill>
                          <a:effectLst/>
                          <a:latin typeface="Times New Roman" panose="02020603050405020304" pitchFamily="18" charset="0"/>
                          <a:cs typeface="Times New Roman" panose="02020603050405020304" pitchFamily="18" charset="0"/>
                        </a:rPr>
                        <a:t>Games</a:t>
                      </a:r>
                      <a:endParaRPr lang="en-US" sz="16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1" u="none" strike="noStrike" dirty="0">
                          <a:solidFill>
                            <a:schemeClr val="bg1"/>
                          </a:solidFill>
                          <a:effectLst/>
                          <a:latin typeface="Times New Roman" panose="02020603050405020304" pitchFamily="18" charset="0"/>
                          <a:cs typeface="Times New Roman" panose="02020603050405020304" pitchFamily="18" charset="0"/>
                        </a:rPr>
                        <a:t>Year</a:t>
                      </a:r>
                      <a:endParaRPr lang="en-US" sz="16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1" u="none" strike="noStrike" dirty="0">
                          <a:solidFill>
                            <a:schemeClr val="bg1"/>
                          </a:solidFill>
                          <a:effectLst/>
                          <a:latin typeface="Times New Roman" panose="02020603050405020304" pitchFamily="18" charset="0"/>
                          <a:cs typeface="Times New Roman" panose="02020603050405020304" pitchFamily="18" charset="0"/>
                        </a:rPr>
                        <a:t>City, Country</a:t>
                      </a:r>
                      <a:endParaRPr lang="en-US" sz="16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1" u="none" strike="noStrike" dirty="0">
                          <a:solidFill>
                            <a:schemeClr val="bg1"/>
                          </a:solidFill>
                          <a:effectLst/>
                          <a:latin typeface="Times New Roman" panose="02020603050405020304" pitchFamily="18" charset="0"/>
                          <a:cs typeface="Times New Roman" panose="02020603050405020304" pitchFamily="18" charset="0"/>
                        </a:rPr>
                        <a:t>Continent</a:t>
                      </a:r>
                      <a:endParaRPr lang="en-US" sz="16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365091595"/>
                  </a:ext>
                </a:extLst>
              </a:tr>
              <a:tr h="287350">
                <a:tc>
                  <a:txBody>
                    <a:bodyPr/>
                    <a:lstStyle/>
                    <a:p>
                      <a:pPr algn="ctr" fontAlgn="ctr">
                        <a:buNone/>
                      </a:pPr>
                      <a:r>
                        <a:rPr lang="en-US" sz="1600" b="0" i="0" u="none" strike="noStrike" dirty="0">
                          <a:solidFill>
                            <a:srgbClr val="000000"/>
                          </a:solidFill>
                          <a:effectLst/>
                          <a:latin typeface="Times New Roman" panose="02020603050405020304" pitchFamily="18" charset="0"/>
                          <a:cs typeface="Times New Roman" panose="02020603050405020304" pitchFamily="18" charset="0"/>
                        </a:rPr>
                        <a:t>XII</a:t>
                      </a:r>
                    </a:p>
                  </a:txBody>
                  <a:tcPr marL="7620" marR="7620" marT="7620" marB="0" anchor="ctr"/>
                </a:tc>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1976</a:t>
                      </a:r>
                    </a:p>
                  </a:txBody>
                  <a:tcPr marL="7620" marR="7620" marT="7620" marB="0" anchor="ctr"/>
                </a:tc>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Innsbruck, Austria</a:t>
                      </a:r>
                    </a:p>
                  </a:txBody>
                  <a:tcPr marL="7620" marR="7620" marT="7620" marB="0" anchor="ctr"/>
                </a:tc>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Europe</a:t>
                      </a:r>
                    </a:p>
                  </a:txBody>
                  <a:tcPr marL="7620" marR="7620" marT="7620" marB="0" anchor="ctr"/>
                </a:tc>
                <a:extLst>
                  <a:ext uri="{0D108BD9-81ED-4DB2-BD59-A6C34878D82A}">
                    <a16:rowId xmlns:a16="http://schemas.microsoft.com/office/drawing/2014/main" val="1280199405"/>
                  </a:ext>
                </a:extLst>
              </a:tr>
              <a:tr h="287350">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XIII</a:t>
                      </a:r>
                    </a:p>
                  </a:txBody>
                  <a:tcPr marL="7620" marR="7620" marT="7620" marB="0" anchor="ctr"/>
                </a:tc>
                <a:tc>
                  <a:txBody>
                    <a:bodyPr/>
                    <a:lstStyle/>
                    <a:p>
                      <a:pPr algn="ctr" fontAlgn="ctr">
                        <a:buNone/>
                      </a:pPr>
                      <a:r>
                        <a:rPr lang="en-US" sz="1600" b="0" i="0" u="none" strike="noStrike" dirty="0">
                          <a:solidFill>
                            <a:srgbClr val="000000"/>
                          </a:solidFill>
                          <a:effectLst/>
                          <a:latin typeface="Times New Roman" panose="02020603050405020304" pitchFamily="18" charset="0"/>
                          <a:cs typeface="Times New Roman" panose="02020603050405020304" pitchFamily="18" charset="0"/>
                        </a:rPr>
                        <a:t>1980</a:t>
                      </a:r>
                    </a:p>
                  </a:txBody>
                  <a:tcPr marL="7620" marR="7620" marT="7620" marB="0" anchor="ctr"/>
                </a:tc>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Lake Placid, United States</a:t>
                      </a:r>
                    </a:p>
                  </a:txBody>
                  <a:tcPr marL="7620" marR="7620" marT="7620" marB="0" anchor="ctr"/>
                </a:tc>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North America</a:t>
                      </a:r>
                    </a:p>
                  </a:txBody>
                  <a:tcPr marL="7620" marR="7620" marT="7620" marB="0" anchor="ctr"/>
                </a:tc>
                <a:extLst>
                  <a:ext uri="{0D108BD9-81ED-4DB2-BD59-A6C34878D82A}">
                    <a16:rowId xmlns:a16="http://schemas.microsoft.com/office/drawing/2014/main" val="2391389394"/>
                  </a:ext>
                </a:extLst>
              </a:tr>
              <a:tr h="287350">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XIV</a:t>
                      </a:r>
                    </a:p>
                  </a:txBody>
                  <a:tcPr marL="7620" marR="7620" marT="7620" marB="0" anchor="ctr"/>
                </a:tc>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1984</a:t>
                      </a:r>
                    </a:p>
                  </a:txBody>
                  <a:tcPr marL="7620" marR="7620" marT="7620" marB="0" anchor="ctr"/>
                </a:tc>
                <a:tc>
                  <a:txBody>
                    <a:bodyPr/>
                    <a:lstStyle/>
                    <a:p>
                      <a:pPr algn="ctr" fontAlgn="ctr">
                        <a:buNone/>
                      </a:pPr>
                      <a:r>
                        <a:rPr lang="en-US" sz="1600" b="0" i="0" u="none" strike="noStrike" dirty="0">
                          <a:solidFill>
                            <a:srgbClr val="000000"/>
                          </a:solidFill>
                          <a:effectLst/>
                          <a:latin typeface="Times New Roman" panose="02020603050405020304" pitchFamily="18" charset="0"/>
                          <a:cs typeface="Times New Roman" panose="02020603050405020304" pitchFamily="18" charset="0"/>
                        </a:rPr>
                        <a:t>Sarajevo, Yugoslavia</a:t>
                      </a:r>
                    </a:p>
                  </a:txBody>
                  <a:tcPr marL="7620" marR="7620" marT="7620" marB="0" anchor="ctr"/>
                </a:tc>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Europe</a:t>
                      </a:r>
                    </a:p>
                  </a:txBody>
                  <a:tcPr marL="7620" marR="7620" marT="7620" marB="0" anchor="ctr"/>
                </a:tc>
                <a:extLst>
                  <a:ext uri="{0D108BD9-81ED-4DB2-BD59-A6C34878D82A}">
                    <a16:rowId xmlns:a16="http://schemas.microsoft.com/office/drawing/2014/main" val="1014809043"/>
                  </a:ext>
                </a:extLst>
              </a:tr>
              <a:tr h="287350">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XV</a:t>
                      </a:r>
                    </a:p>
                  </a:txBody>
                  <a:tcPr marL="7620" marR="7620" marT="7620" marB="0" anchor="ctr"/>
                </a:tc>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1988</a:t>
                      </a:r>
                    </a:p>
                  </a:txBody>
                  <a:tcPr marL="7620" marR="7620" marT="7620" marB="0" anchor="ctr"/>
                </a:tc>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Calgary, Canada</a:t>
                      </a:r>
                    </a:p>
                  </a:txBody>
                  <a:tcPr marL="7620" marR="7620" marT="7620" marB="0" anchor="ctr"/>
                </a:tc>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North America</a:t>
                      </a:r>
                    </a:p>
                  </a:txBody>
                  <a:tcPr marL="7620" marR="7620" marT="7620" marB="0" anchor="ctr"/>
                </a:tc>
                <a:extLst>
                  <a:ext uri="{0D108BD9-81ED-4DB2-BD59-A6C34878D82A}">
                    <a16:rowId xmlns:a16="http://schemas.microsoft.com/office/drawing/2014/main" val="3835869228"/>
                  </a:ext>
                </a:extLst>
              </a:tr>
              <a:tr h="287350">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XVI</a:t>
                      </a:r>
                    </a:p>
                  </a:txBody>
                  <a:tcPr marL="7620" marR="7620" marT="7620" marB="0" anchor="ctr"/>
                </a:tc>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1992</a:t>
                      </a:r>
                    </a:p>
                  </a:txBody>
                  <a:tcPr marL="7620" marR="7620" marT="7620" marB="0" anchor="ctr"/>
                </a:tc>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Albertville, France</a:t>
                      </a:r>
                    </a:p>
                  </a:txBody>
                  <a:tcPr marL="7620" marR="7620" marT="7620" marB="0" anchor="ctr"/>
                </a:tc>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Europe</a:t>
                      </a:r>
                    </a:p>
                  </a:txBody>
                  <a:tcPr marL="7620" marR="7620" marT="7620" marB="0" anchor="ctr"/>
                </a:tc>
                <a:extLst>
                  <a:ext uri="{0D108BD9-81ED-4DB2-BD59-A6C34878D82A}">
                    <a16:rowId xmlns:a16="http://schemas.microsoft.com/office/drawing/2014/main" val="1687663148"/>
                  </a:ext>
                </a:extLst>
              </a:tr>
              <a:tr h="287350">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XVII</a:t>
                      </a:r>
                    </a:p>
                  </a:txBody>
                  <a:tcPr marL="7620" marR="7620" marT="7620" marB="0" anchor="ctr"/>
                </a:tc>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1994</a:t>
                      </a:r>
                    </a:p>
                  </a:txBody>
                  <a:tcPr marL="7620" marR="7620" marT="7620" marB="0" anchor="ctr"/>
                </a:tc>
                <a:tc>
                  <a:txBody>
                    <a:bodyPr/>
                    <a:lstStyle/>
                    <a:p>
                      <a:pPr algn="ctr" fontAlgn="ctr">
                        <a:buNone/>
                      </a:pPr>
                      <a:r>
                        <a:rPr lang="en-US" sz="1600" b="0" i="0" u="none" strike="noStrike" dirty="0">
                          <a:solidFill>
                            <a:srgbClr val="000000"/>
                          </a:solidFill>
                          <a:effectLst/>
                          <a:latin typeface="Times New Roman" panose="02020603050405020304" pitchFamily="18" charset="0"/>
                          <a:cs typeface="Times New Roman" panose="02020603050405020304" pitchFamily="18" charset="0"/>
                        </a:rPr>
                        <a:t>Lillehammer, Norway</a:t>
                      </a:r>
                    </a:p>
                  </a:txBody>
                  <a:tcPr marL="7620" marR="7620" marT="7620" marB="0" anchor="ctr"/>
                </a:tc>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Europe</a:t>
                      </a:r>
                    </a:p>
                  </a:txBody>
                  <a:tcPr marL="7620" marR="7620" marT="7620" marB="0" anchor="ctr"/>
                </a:tc>
                <a:extLst>
                  <a:ext uri="{0D108BD9-81ED-4DB2-BD59-A6C34878D82A}">
                    <a16:rowId xmlns:a16="http://schemas.microsoft.com/office/drawing/2014/main" val="1687604853"/>
                  </a:ext>
                </a:extLst>
              </a:tr>
              <a:tr h="287350">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XVIII</a:t>
                      </a:r>
                    </a:p>
                  </a:txBody>
                  <a:tcPr marL="7620" marR="7620" marT="7620" marB="0" anchor="ctr"/>
                </a:tc>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1998</a:t>
                      </a:r>
                    </a:p>
                  </a:txBody>
                  <a:tcPr marL="7620" marR="7620" marT="7620" marB="0" anchor="ctr"/>
                </a:tc>
                <a:tc>
                  <a:txBody>
                    <a:bodyPr/>
                    <a:lstStyle/>
                    <a:p>
                      <a:pPr algn="ctr" fontAlgn="ctr">
                        <a:buNone/>
                      </a:pPr>
                      <a:r>
                        <a:rPr lang="en-US" sz="1600" b="0" i="0" u="none" strike="noStrike" dirty="0">
                          <a:solidFill>
                            <a:srgbClr val="000000"/>
                          </a:solidFill>
                          <a:effectLst/>
                          <a:latin typeface="Times New Roman" panose="02020603050405020304" pitchFamily="18" charset="0"/>
                          <a:cs typeface="Times New Roman" panose="02020603050405020304" pitchFamily="18" charset="0"/>
                        </a:rPr>
                        <a:t>Nagano, Japan</a:t>
                      </a:r>
                    </a:p>
                  </a:txBody>
                  <a:tcPr marL="7620" marR="7620" marT="7620" marB="0" anchor="ctr"/>
                </a:tc>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Asia</a:t>
                      </a:r>
                    </a:p>
                  </a:txBody>
                  <a:tcPr marL="7620" marR="7620" marT="7620" marB="0" anchor="ctr"/>
                </a:tc>
                <a:extLst>
                  <a:ext uri="{0D108BD9-81ED-4DB2-BD59-A6C34878D82A}">
                    <a16:rowId xmlns:a16="http://schemas.microsoft.com/office/drawing/2014/main" val="688440376"/>
                  </a:ext>
                </a:extLst>
              </a:tr>
              <a:tr h="287350">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XIX</a:t>
                      </a:r>
                    </a:p>
                  </a:txBody>
                  <a:tcPr marL="7620" marR="7620" marT="7620" marB="0" anchor="ctr"/>
                </a:tc>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2002</a:t>
                      </a:r>
                    </a:p>
                  </a:txBody>
                  <a:tcPr marL="7620" marR="7620" marT="7620" marB="0" anchor="ctr"/>
                </a:tc>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Salt Lake City, United States</a:t>
                      </a:r>
                    </a:p>
                  </a:txBody>
                  <a:tcPr marL="7620" marR="7620" marT="7620" marB="0" anchor="ctr"/>
                </a:tc>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North America</a:t>
                      </a:r>
                    </a:p>
                  </a:txBody>
                  <a:tcPr marL="7620" marR="7620" marT="7620" marB="0" anchor="ctr"/>
                </a:tc>
                <a:extLst>
                  <a:ext uri="{0D108BD9-81ED-4DB2-BD59-A6C34878D82A}">
                    <a16:rowId xmlns:a16="http://schemas.microsoft.com/office/drawing/2014/main" val="2204043722"/>
                  </a:ext>
                </a:extLst>
              </a:tr>
              <a:tr h="287350">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XX</a:t>
                      </a:r>
                    </a:p>
                  </a:txBody>
                  <a:tcPr marL="7620" marR="7620" marT="7620" marB="0" anchor="ctr"/>
                </a:tc>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2006</a:t>
                      </a:r>
                    </a:p>
                  </a:txBody>
                  <a:tcPr marL="7620" marR="7620" marT="7620" marB="0" anchor="ctr"/>
                </a:tc>
                <a:tc>
                  <a:txBody>
                    <a:bodyPr/>
                    <a:lstStyle/>
                    <a:p>
                      <a:pPr algn="ctr" fontAlgn="ctr">
                        <a:buNone/>
                      </a:pPr>
                      <a:r>
                        <a:rPr lang="en-US" sz="1600" b="0" i="0" u="none" strike="noStrike" dirty="0">
                          <a:solidFill>
                            <a:srgbClr val="000000"/>
                          </a:solidFill>
                          <a:effectLst/>
                          <a:latin typeface="Times New Roman" panose="02020603050405020304" pitchFamily="18" charset="0"/>
                          <a:cs typeface="Times New Roman" panose="02020603050405020304" pitchFamily="18" charset="0"/>
                        </a:rPr>
                        <a:t>Turin, Italy</a:t>
                      </a:r>
                    </a:p>
                  </a:txBody>
                  <a:tcPr marL="7620" marR="7620" marT="7620" marB="0" anchor="ctr"/>
                </a:tc>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Europe</a:t>
                      </a:r>
                    </a:p>
                  </a:txBody>
                  <a:tcPr marL="7620" marR="7620" marT="7620" marB="0" anchor="ctr"/>
                </a:tc>
                <a:extLst>
                  <a:ext uri="{0D108BD9-81ED-4DB2-BD59-A6C34878D82A}">
                    <a16:rowId xmlns:a16="http://schemas.microsoft.com/office/drawing/2014/main" val="1305401900"/>
                  </a:ext>
                </a:extLst>
              </a:tr>
              <a:tr h="287350">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XXI</a:t>
                      </a:r>
                    </a:p>
                  </a:txBody>
                  <a:tcPr marL="7620" marR="7620" marT="7620" marB="0" anchor="ctr"/>
                </a:tc>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2010</a:t>
                      </a:r>
                    </a:p>
                  </a:txBody>
                  <a:tcPr marL="7620" marR="7620" marT="7620" marB="0" anchor="ctr"/>
                </a:tc>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Vancouver, Canada</a:t>
                      </a:r>
                    </a:p>
                  </a:txBody>
                  <a:tcPr marL="7620" marR="7620" marT="7620" marB="0" anchor="ctr"/>
                </a:tc>
                <a:tc>
                  <a:txBody>
                    <a:bodyPr/>
                    <a:lstStyle/>
                    <a:p>
                      <a:pPr algn="ctr" fontAlgn="ctr">
                        <a:buNone/>
                      </a:pPr>
                      <a:r>
                        <a:rPr lang="en-US" sz="1600" b="0" i="0" u="none" strike="noStrike" dirty="0">
                          <a:solidFill>
                            <a:srgbClr val="000000"/>
                          </a:solidFill>
                          <a:effectLst/>
                          <a:latin typeface="Times New Roman" panose="02020603050405020304" pitchFamily="18" charset="0"/>
                          <a:cs typeface="Times New Roman" panose="02020603050405020304" pitchFamily="18" charset="0"/>
                        </a:rPr>
                        <a:t>North America</a:t>
                      </a:r>
                    </a:p>
                  </a:txBody>
                  <a:tcPr marL="7620" marR="7620" marT="7620" marB="0" anchor="ctr"/>
                </a:tc>
                <a:extLst>
                  <a:ext uri="{0D108BD9-81ED-4DB2-BD59-A6C34878D82A}">
                    <a16:rowId xmlns:a16="http://schemas.microsoft.com/office/drawing/2014/main" val="98371614"/>
                  </a:ext>
                </a:extLst>
              </a:tr>
              <a:tr h="287350">
                <a:tc>
                  <a:txBody>
                    <a:bodyPr/>
                    <a:lstStyle/>
                    <a:p>
                      <a:pPr algn="ctr" fontAlgn="ctr">
                        <a:buNone/>
                      </a:pPr>
                      <a:r>
                        <a:rPr lang="en-US" sz="1600" b="0" i="0" u="none" strike="noStrike" dirty="0">
                          <a:solidFill>
                            <a:srgbClr val="000000"/>
                          </a:solidFill>
                          <a:effectLst/>
                          <a:latin typeface="Times New Roman" panose="02020603050405020304" pitchFamily="18" charset="0"/>
                          <a:cs typeface="Times New Roman" panose="02020603050405020304" pitchFamily="18" charset="0"/>
                        </a:rPr>
                        <a:t>XXII</a:t>
                      </a:r>
                    </a:p>
                  </a:txBody>
                  <a:tcPr marL="7620" marR="7620" marT="7620" marB="0" anchor="ctr"/>
                </a:tc>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2014</a:t>
                      </a:r>
                    </a:p>
                  </a:txBody>
                  <a:tcPr marL="7620" marR="7620" marT="7620" marB="0" anchor="ctr"/>
                </a:tc>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Sochi, Russia</a:t>
                      </a:r>
                    </a:p>
                  </a:txBody>
                  <a:tcPr marL="7620" marR="7620" marT="7620" marB="0" anchor="ctr"/>
                </a:tc>
                <a:tc>
                  <a:txBody>
                    <a:bodyPr/>
                    <a:lstStyle/>
                    <a:p>
                      <a:pPr algn="ctr" fontAlgn="ctr">
                        <a:buNone/>
                      </a:pPr>
                      <a:r>
                        <a:rPr lang="en-US" sz="1600" b="0" i="0" u="none" strike="noStrike" dirty="0">
                          <a:solidFill>
                            <a:srgbClr val="000000"/>
                          </a:solidFill>
                          <a:effectLst/>
                          <a:latin typeface="Times New Roman" panose="02020603050405020304" pitchFamily="18" charset="0"/>
                          <a:cs typeface="Times New Roman" panose="02020603050405020304" pitchFamily="18" charset="0"/>
                        </a:rPr>
                        <a:t>Europe</a:t>
                      </a:r>
                    </a:p>
                  </a:txBody>
                  <a:tcPr marL="7620" marR="7620" marT="7620" marB="0" anchor="ctr"/>
                </a:tc>
                <a:extLst>
                  <a:ext uri="{0D108BD9-81ED-4DB2-BD59-A6C34878D82A}">
                    <a16:rowId xmlns:a16="http://schemas.microsoft.com/office/drawing/2014/main" val="352835000"/>
                  </a:ext>
                </a:extLst>
              </a:tr>
              <a:tr h="287350">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XXIII</a:t>
                      </a:r>
                    </a:p>
                  </a:txBody>
                  <a:tcPr marL="7620" marR="7620" marT="7620" marB="0" anchor="ctr"/>
                </a:tc>
                <a:tc>
                  <a:txBody>
                    <a:bodyPr/>
                    <a:lstStyle/>
                    <a:p>
                      <a:pPr algn="ctr" fontAlgn="ctr">
                        <a:buNone/>
                      </a:pPr>
                      <a:r>
                        <a:rPr lang="en-US" sz="1600" b="0" i="0" u="none" strike="noStrike" dirty="0">
                          <a:solidFill>
                            <a:srgbClr val="000000"/>
                          </a:solidFill>
                          <a:effectLst/>
                          <a:latin typeface="Times New Roman" panose="02020603050405020304" pitchFamily="18" charset="0"/>
                          <a:cs typeface="Times New Roman" panose="02020603050405020304" pitchFamily="18" charset="0"/>
                        </a:rPr>
                        <a:t>2018</a:t>
                      </a:r>
                    </a:p>
                  </a:txBody>
                  <a:tcPr marL="7620" marR="7620" marT="7620" marB="0" anchor="ctr"/>
                </a:tc>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Pyeongchang, South Korea</a:t>
                      </a:r>
                    </a:p>
                  </a:txBody>
                  <a:tcPr marL="7620" marR="7620" marT="7620" marB="0" anchor="ctr"/>
                </a:tc>
                <a:tc>
                  <a:txBody>
                    <a:bodyPr/>
                    <a:lstStyle/>
                    <a:p>
                      <a:pPr algn="ctr" fontAlgn="ctr">
                        <a:buNone/>
                      </a:pPr>
                      <a:r>
                        <a:rPr lang="en-US" sz="1600" b="0" i="0" u="none" strike="noStrike" dirty="0">
                          <a:solidFill>
                            <a:srgbClr val="000000"/>
                          </a:solidFill>
                          <a:effectLst/>
                          <a:latin typeface="Times New Roman" panose="02020603050405020304" pitchFamily="18" charset="0"/>
                          <a:cs typeface="Times New Roman" panose="02020603050405020304" pitchFamily="18" charset="0"/>
                        </a:rPr>
                        <a:t>Asia</a:t>
                      </a:r>
                    </a:p>
                  </a:txBody>
                  <a:tcPr marL="7620" marR="7620" marT="7620" marB="0" anchor="ctr"/>
                </a:tc>
                <a:extLst>
                  <a:ext uri="{0D108BD9-81ED-4DB2-BD59-A6C34878D82A}">
                    <a16:rowId xmlns:a16="http://schemas.microsoft.com/office/drawing/2014/main" val="36270867"/>
                  </a:ext>
                </a:extLst>
              </a:tr>
            </a:tbl>
          </a:graphicData>
        </a:graphic>
      </p:graphicFrame>
      <p:graphicFrame>
        <p:nvGraphicFramePr>
          <p:cNvPr id="11" name="Table 10">
            <a:extLst>
              <a:ext uri="{FF2B5EF4-FFF2-40B4-BE49-F238E27FC236}">
                <a16:creationId xmlns:a16="http://schemas.microsoft.com/office/drawing/2014/main" id="{EEA09CD0-3F4B-6CBE-7C20-8871A49DBA6A}"/>
              </a:ext>
            </a:extLst>
          </p:cNvPr>
          <p:cNvGraphicFramePr>
            <a:graphicFrameLocks noGrp="1"/>
          </p:cNvGraphicFramePr>
          <p:nvPr>
            <p:extLst>
              <p:ext uri="{D42A27DB-BD31-4B8C-83A1-F6EECF244321}">
                <p14:modId xmlns:p14="http://schemas.microsoft.com/office/powerpoint/2010/main" val="2582509289"/>
              </p:ext>
            </p:extLst>
          </p:nvPr>
        </p:nvGraphicFramePr>
        <p:xfrm>
          <a:off x="327660" y="1915910"/>
          <a:ext cx="5554465" cy="3731260"/>
        </p:xfrm>
        <a:graphic>
          <a:graphicData uri="http://schemas.openxmlformats.org/drawingml/2006/table">
            <a:tbl>
              <a:tblPr firstRow="1" bandRow="1">
                <a:tableStyleId>{073A0DAA-6AF3-43AB-8588-CEC1D06C72B9}</a:tableStyleId>
              </a:tblPr>
              <a:tblGrid>
                <a:gridCol w="827651">
                  <a:extLst>
                    <a:ext uri="{9D8B030D-6E8A-4147-A177-3AD203B41FA5}">
                      <a16:colId xmlns:a16="http://schemas.microsoft.com/office/drawing/2014/main" val="2686799140"/>
                    </a:ext>
                  </a:extLst>
                </a:gridCol>
                <a:gridCol w="827651">
                  <a:extLst>
                    <a:ext uri="{9D8B030D-6E8A-4147-A177-3AD203B41FA5}">
                      <a16:colId xmlns:a16="http://schemas.microsoft.com/office/drawing/2014/main" val="683507027"/>
                    </a:ext>
                  </a:extLst>
                </a:gridCol>
                <a:gridCol w="2510546">
                  <a:extLst>
                    <a:ext uri="{9D8B030D-6E8A-4147-A177-3AD203B41FA5}">
                      <a16:colId xmlns:a16="http://schemas.microsoft.com/office/drawing/2014/main" val="2101790897"/>
                    </a:ext>
                  </a:extLst>
                </a:gridCol>
                <a:gridCol w="1388617">
                  <a:extLst>
                    <a:ext uri="{9D8B030D-6E8A-4147-A177-3AD203B41FA5}">
                      <a16:colId xmlns:a16="http://schemas.microsoft.com/office/drawing/2014/main" val="3959219217"/>
                    </a:ext>
                  </a:extLst>
                </a:gridCol>
              </a:tblGrid>
              <a:tr h="257474">
                <a:tc>
                  <a:txBody>
                    <a:bodyPr/>
                    <a:lstStyle/>
                    <a:p>
                      <a:pPr algn="ctr" fontAlgn="b">
                        <a:buNone/>
                      </a:pPr>
                      <a:r>
                        <a:rPr lang="en-US" sz="1600" b="1" u="none" strike="noStrike" dirty="0">
                          <a:solidFill>
                            <a:schemeClr val="bg1"/>
                          </a:solidFill>
                          <a:effectLst/>
                          <a:latin typeface="Times New Roman" panose="02020603050405020304" pitchFamily="18" charset="0"/>
                          <a:cs typeface="Times New Roman" panose="02020603050405020304" pitchFamily="18" charset="0"/>
                        </a:rPr>
                        <a:t>Games</a:t>
                      </a:r>
                      <a:endParaRPr lang="en-US" sz="16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1" u="none" strike="noStrike" dirty="0">
                          <a:solidFill>
                            <a:schemeClr val="bg1"/>
                          </a:solidFill>
                          <a:effectLst/>
                          <a:latin typeface="Times New Roman" panose="02020603050405020304" pitchFamily="18" charset="0"/>
                          <a:cs typeface="Times New Roman" panose="02020603050405020304" pitchFamily="18" charset="0"/>
                        </a:rPr>
                        <a:t>Year</a:t>
                      </a:r>
                      <a:endParaRPr lang="en-US" sz="16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1" u="none" strike="noStrike" dirty="0">
                          <a:solidFill>
                            <a:schemeClr val="bg1"/>
                          </a:solidFill>
                          <a:effectLst/>
                          <a:latin typeface="Times New Roman" panose="02020603050405020304" pitchFamily="18" charset="0"/>
                          <a:cs typeface="Times New Roman" panose="02020603050405020304" pitchFamily="18" charset="0"/>
                        </a:rPr>
                        <a:t>City, Country</a:t>
                      </a:r>
                      <a:endParaRPr lang="en-US" sz="16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600" b="1" u="none" strike="noStrike" dirty="0">
                          <a:solidFill>
                            <a:schemeClr val="bg1"/>
                          </a:solidFill>
                          <a:effectLst/>
                          <a:latin typeface="Times New Roman" panose="02020603050405020304" pitchFamily="18" charset="0"/>
                          <a:cs typeface="Times New Roman" panose="02020603050405020304" pitchFamily="18" charset="0"/>
                        </a:rPr>
                        <a:t>Continent</a:t>
                      </a:r>
                      <a:endParaRPr lang="en-US" sz="16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365091595"/>
                  </a:ext>
                </a:extLst>
              </a:tr>
              <a:tr h="296664">
                <a:tc>
                  <a:txBody>
                    <a:bodyPr/>
                    <a:lstStyle/>
                    <a:p>
                      <a:pPr algn="ctr" fontAlgn="ctr">
                        <a:buNone/>
                      </a:pPr>
                      <a:r>
                        <a:rPr lang="en-US" sz="1600" b="0" i="0" u="none" strike="noStrike" dirty="0">
                          <a:solidFill>
                            <a:srgbClr val="000000"/>
                          </a:solidFill>
                          <a:effectLst/>
                          <a:latin typeface="Times New Roman" panose="02020603050405020304" pitchFamily="18" charset="0"/>
                          <a:cs typeface="Times New Roman" panose="02020603050405020304" pitchFamily="18" charset="0"/>
                        </a:rPr>
                        <a:t>I</a:t>
                      </a:r>
                    </a:p>
                  </a:txBody>
                  <a:tcPr marL="7620" marR="7620" marT="7620" marB="0" anchor="ctr"/>
                </a:tc>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1924</a:t>
                      </a:r>
                    </a:p>
                  </a:txBody>
                  <a:tcPr marL="7620" marR="7620" marT="7620" marB="0" anchor="ctr"/>
                </a:tc>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Chamonix, France</a:t>
                      </a:r>
                    </a:p>
                  </a:txBody>
                  <a:tcPr marL="7620" marR="7620" marT="7620" marB="0" anchor="ctr"/>
                </a:tc>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Europe</a:t>
                      </a:r>
                    </a:p>
                  </a:txBody>
                  <a:tcPr marL="7620" marR="7620" marT="7620" marB="0" anchor="ctr"/>
                </a:tc>
                <a:extLst>
                  <a:ext uri="{0D108BD9-81ED-4DB2-BD59-A6C34878D82A}">
                    <a16:rowId xmlns:a16="http://schemas.microsoft.com/office/drawing/2014/main" val="262370353"/>
                  </a:ext>
                </a:extLst>
              </a:tr>
              <a:tr h="296664">
                <a:tc>
                  <a:txBody>
                    <a:bodyPr/>
                    <a:lstStyle/>
                    <a:p>
                      <a:pPr algn="ctr" fontAlgn="ctr">
                        <a:buNone/>
                      </a:pPr>
                      <a:r>
                        <a:rPr lang="en-US" sz="1600" b="0" i="0" u="none" strike="noStrike" dirty="0">
                          <a:solidFill>
                            <a:srgbClr val="000000"/>
                          </a:solidFill>
                          <a:effectLst/>
                          <a:latin typeface="Times New Roman" panose="02020603050405020304" pitchFamily="18" charset="0"/>
                          <a:cs typeface="Times New Roman" panose="02020603050405020304" pitchFamily="18" charset="0"/>
                        </a:rPr>
                        <a:t>II</a:t>
                      </a:r>
                    </a:p>
                  </a:txBody>
                  <a:tcPr marL="7620" marR="7620" marT="7620" marB="0" anchor="ctr"/>
                </a:tc>
                <a:tc>
                  <a:txBody>
                    <a:bodyPr/>
                    <a:lstStyle/>
                    <a:p>
                      <a:pPr algn="ctr" fontAlgn="ctr">
                        <a:buNone/>
                      </a:pPr>
                      <a:r>
                        <a:rPr lang="en-US" sz="1600" b="0" i="0" u="none" strike="noStrike" dirty="0">
                          <a:solidFill>
                            <a:srgbClr val="000000"/>
                          </a:solidFill>
                          <a:effectLst/>
                          <a:latin typeface="Times New Roman" panose="02020603050405020304" pitchFamily="18" charset="0"/>
                          <a:cs typeface="Times New Roman" panose="02020603050405020304" pitchFamily="18" charset="0"/>
                        </a:rPr>
                        <a:t>1928</a:t>
                      </a:r>
                    </a:p>
                  </a:txBody>
                  <a:tcPr marL="7620" marR="7620" marT="7620" marB="0" anchor="ctr"/>
                </a:tc>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St. Moritz, Switzerland</a:t>
                      </a:r>
                    </a:p>
                  </a:txBody>
                  <a:tcPr marL="7620" marR="7620" marT="7620" marB="0" anchor="ctr"/>
                </a:tc>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Europe</a:t>
                      </a:r>
                    </a:p>
                  </a:txBody>
                  <a:tcPr marL="7620" marR="7620" marT="7620" marB="0" anchor="ctr"/>
                </a:tc>
                <a:extLst>
                  <a:ext uri="{0D108BD9-81ED-4DB2-BD59-A6C34878D82A}">
                    <a16:rowId xmlns:a16="http://schemas.microsoft.com/office/drawing/2014/main" val="4058687104"/>
                  </a:ext>
                </a:extLst>
              </a:tr>
              <a:tr h="296664">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III</a:t>
                      </a:r>
                    </a:p>
                  </a:txBody>
                  <a:tcPr marL="7620" marR="7620" marT="7620" marB="0" anchor="ctr"/>
                </a:tc>
                <a:tc>
                  <a:txBody>
                    <a:bodyPr/>
                    <a:lstStyle/>
                    <a:p>
                      <a:pPr algn="ctr" fontAlgn="ctr">
                        <a:buNone/>
                      </a:pPr>
                      <a:r>
                        <a:rPr lang="en-US" sz="1600" b="0" i="0" u="none" strike="noStrike" dirty="0">
                          <a:solidFill>
                            <a:srgbClr val="000000"/>
                          </a:solidFill>
                          <a:effectLst/>
                          <a:latin typeface="Times New Roman" panose="02020603050405020304" pitchFamily="18" charset="0"/>
                          <a:cs typeface="Times New Roman" panose="02020603050405020304" pitchFamily="18" charset="0"/>
                        </a:rPr>
                        <a:t>1932</a:t>
                      </a:r>
                    </a:p>
                  </a:txBody>
                  <a:tcPr marL="7620" marR="7620" marT="7620" marB="0" anchor="ctr"/>
                </a:tc>
                <a:tc>
                  <a:txBody>
                    <a:bodyPr/>
                    <a:lstStyle/>
                    <a:p>
                      <a:pPr algn="ctr" fontAlgn="ctr">
                        <a:buNone/>
                      </a:pPr>
                      <a:r>
                        <a:rPr lang="en-US" sz="1600" b="0" i="0" u="none" strike="noStrike" dirty="0">
                          <a:solidFill>
                            <a:srgbClr val="000000"/>
                          </a:solidFill>
                          <a:effectLst/>
                          <a:latin typeface="Times New Roman" panose="02020603050405020304" pitchFamily="18" charset="0"/>
                          <a:cs typeface="Times New Roman" panose="02020603050405020304" pitchFamily="18" charset="0"/>
                        </a:rPr>
                        <a:t>Lake Placid, United States</a:t>
                      </a:r>
                    </a:p>
                  </a:txBody>
                  <a:tcPr marL="7620" marR="7620" marT="7620" marB="0" anchor="ctr"/>
                </a:tc>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North America</a:t>
                      </a:r>
                    </a:p>
                  </a:txBody>
                  <a:tcPr marL="7620" marR="7620" marT="7620" marB="0" anchor="ctr"/>
                </a:tc>
                <a:extLst>
                  <a:ext uri="{0D108BD9-81ED-4DB2-BD59-A6C34878D82A}">
                    <a16:rowId xmlns:a16="http://schemas.microsoft.com/office/drawing/2014/main" val="1288988412"/>
                  </a:ext>
                </a:extLst>
              </a:tr>
              <a:tr h="507146">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IV</a:t>
                      </a:r>
                    </a:p>
                  </a:txBody>
                  <a:tcPr marL="7620" marR="7620" marT="7620" marB="0" anchor="ctr"/>
                </a:tc>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1936</a:t>
                      </a:r>
                    </a:p>
                  </a:txBody>
                  <a:tcPr marL="7620" marR="7620" marT="7620" marB="0" anchor="ctr"/>
                </a:tc>
                <a:tc>
                  <a:txBody>
                    <a:bodyPr/>
                    <a:lstStyle/>
                    <a:p>
                      <a:pPr algn="ctr" fontAlgn="ctr">
                        <a:buNone/>
                      </a:pPr>
                      <a:r>
                        <a:rPr lang="en-US" sz="1600" b="0" i="0" u="none" strike="noStrike" dirty="0">
                          <a:solidFill>
                            <a:srgbClr val="000000"/>
                          </a:solidFill>
                          <a:effectLst/>
                          <a:latin typeface="Times New Roman" panose="02020603050405020304" pitchFamily="18" charset="0"/>
                          <a:cs typeface="Times New Roman" panose="02020603050405020304" pitchFamily="18" charset="0"/>
                        </a:rPr>
                        <a:t>Garmisch-Partenkirchen, Germany</a:t>
                      </a:r>
                    </a:p>
                  </a:txBody>
                  <a:tcPr marL="7620" marR="7620" marT="7620" marB="0" anchor="ctr"/>
                </a:tc>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Europe</a:t>
                      </a:r>
                    </a:p>
                  </a:txBody>
                  <a:tcPr marL="7620" marR="7620" marT="7620" marB="0" anchor="ctr"/>
                </a:tc>
                <a:extLst>
                  <a:ext uri="{0D108BD9-81ED-4DB2-BD59-A6C34878D82A}">
                    <a16:rowId xmlns:a16="http://schemas.microsoft.com/office/drawing/2014/main" val="1477487543"/>
                  </a:ext>
                </a:extLst>
              </a:tr>
              <a:tr h="296664">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V</a:t>
                      </a:r>
                    </a:p>
                  </a:txBody>
                  <a:tcPr marL="7620" marR="7620" marT="7620" marB="0" anchor="ctr"/>
                </a:tc>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1948</a:t>
                      </a:r>
                    </a:p>
                  </a:txBody>
                  <a:tcPr marL="7620" marR="7620" marT="7620" marB="0" anchor="ctr"/>
                </a:tc>
                <a:tc>
                  <a:txBody>
                    <a:bodyPr/>
                    <a:lstStyle/>
                    <a:p>
                      <a:pPr algn="ctr" fontAlgn="ctr">
                        <a:buNone/>
                      </a:pPr>
                      <a:r>
                        <a:rPr lang="en-US" sz="1600" b="0" i="0" u="none" strike="noStrike" dirty="0">
                          <a:solidFill>
                            <a:srgbClr val="000000"/>
                          </a:solidFill>
                          <a:effectLst/>
                          <a:latin typeface="Times New Roman" panose="02020603050405020304" pitchFamily="18" charset="0"/>
                          <a:cs typeface="Times New Roman" panose="02020603050405020304" pitchFamily="18" charset="0"/>
                        </a:rPr>
                        <a:t>St. Moritz, Switzerland</a:t>
                      </a:r>
                    </a:p>
                  </a:txBody>
                  <a:tcPr marL="7620" marR="7620" marT="7620" marB="0" anchor="ctr"/>
                </a:tc>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Europe</a:t>
                      </a:r>
                    </a:p>
                  </a:txBody>
                  <a:tcPr marL="7620" marR="7620" marT="7620" marB="0" anchor="ctr"/>
                </a:tc>
                <a:extLst>
                  <a:ext uri="{0D108BD9-81ED-4DB2-BD59-A6C34878D82A}">
                    <a16:rowId xmlns:a16="http://schemas.microsoft.com/office/drawing/2014/main" val="423082493"/>
                  </a:ext>
                </a:extLst>
              </a:tr>
              <a:tr h="296664">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VI</a:t>
                      </a:r>
                    </a:p>
                  </a:txBody>
                  <a:tcPr marL="7620" marR="7620" marT="7620" marB="0" anchor="ctr"/>
                </a:tc>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1952</a:t>
                      </a:r>
                    </a:p>
                  </a:txBody>
                  <a:tcPr marL="7620" marR="7620" marT="7620" marB="0" anchor="ctr"/>
                </a:tc>
                <a:tc>
                  <a:txBody>
                    <a:bodyPr/>
                    <a:lstStyle/>
                    <a:p>
                      <a:pPr algn="ctr" fontAlgn="ctr">
                        <a:buNone/>
                      </a:pPr>
                      <a:r>
                        <a:rPr lang="en-US" sz="1600" b="0" i="0" u="none" strike="noStrike" dirty="0">
                          <a:solidFill>
                            <a:srgbClr val="000000"/>
                          </a:solidFill>
                          <a:effectLst/>
                          <a:latin typeface="Times New Roman" panose="02020603050405020304" pitchFamily="18" charset="0"/>
                          <a:cs typeface="Times New Roman" panose="02020603050405020304" pitchFamily="18" charset="0"/>
                        </a:rPr>
                        <a:t>Oslo, Norway</a:t>
                      </a:r>
                    </a:p>
                  </a:txBody>
                  <a:tcPr marL="7620" marR="7620" marT="7620" marB="0" anchor="ctr"/>
                </a:tc>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Europe</a:t>
                      </a:r>
                    </a:p>
                  </a:txBody>
                  <a:tcPr marL="7620" marR="7620" marT="7620" marB="0" anchor="ctr"/>
                </a:tc>
                <a:extLst>
                  <a:ext uri="{0D108BD9-81ED-4DB2-BD59-A6C34878D82A}">
                    <a16:rowId xmlns:a16="http://schemas.microsoft.com/office/drawing/2014/main" val="3220277975"/>
                  </a:ext>
                </a:extLst>
              </a:tr>
              <a:tr h="296664">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VII</a:t>
                      </a:r>
                    </a:p>
                  </a:txBody>
                  <a:tcPr marL="7620" marR="7620" marT="7620" marB="0" anchor="ctr"/>
                </a:tc>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1956</a:t>
                      </a:r>
                    </a:p>
                  </a:txBody>
                  <a:tcPr marL="7620" marR="7620" marT="7620" marB="0" anchor="ctr"/>
                </a:tc>
                <a:tc>
                  <a:txBody>
                    <a:bodyPr/>
                    <a:lstStyle/>
                    <a:p>
                      <a:pPr algn="ctr" fontAlgn="ctr">
                        <a:buNone/>
                      </a:pPr>
                      <a:r>
                        <a:rPr lang="en-US" sz="1600" b="0" i="0" u="none" strike="noStrike" dirty="0">
                          <a:solidFill>
                            <a:srgbClr val="000000"/>
                          </a:solidFill>
                          <a:effectLst/>
                          <a:latin typeface="Times New Roman" panose="02020603050405020304" pitchFamily="18" charset="0"/>
                          <a:cs typeface="Times New Roman" panose="02020603050405020304" pitchFamily="18" charset="0"/>
                        </a:rPr>
                        <a:t>Cortina </a:t>
                      </a:r>
                      <a:r>
                        <a:rPr lang="en-US" sz="1600" b="0" i="0" u="none" strike="noStrike" dirty="0" err="1">
                          <a:solidFill>
                            <a:srgbClr val="000000"/>
                          </a:solidFill>
                          <a:effectLst/>
                          <a:latin typeface="Times New Roman" panose="02020603050405020304" pitchFamily="18" charset="0"/>
                          <a:cs typeface="Times New Roman" panose="02020603050405020304" pitchFamily="18" charset="0"/>
                        </a:rPr>
                        <a:t>d'Ampezzo</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 Italy</a:t>
                      </a:r>
                    </a:p>
                  </a:txBody>
                  <a:tcPr marL="7620" marR="7620" marT="7620" marB="0" anchor="ctr"/>
                </a:tc>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Europe</a:t>
                      </a:r>
                    </a:p>
                  </a:txBody>
                  <a:tcPr marL="7620" marR="7620" marT="7620" marB="0" anchor="ctr"/>
                </a:tc>
                <a:extLst>
                  <a:ext uri="{0D108BD9-81ED-4DB2-BD59-A6C34878D82A}">
                    <a16:rowId xmlns:a16="http://schemas.microsoft.com/office/drawing/2014/main" val="3715296144"/>
                  </a:ext>
                </a:extLst>
              </a:tr>
              <a:tr h="296664">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VIII</a:t>
                      </a:r>
                    </a:p>
                  </a:txBody>
                  <a:tcPr marL="7620" marR="7620" marT="7620" marB="0" anchor="ctr"/>
                </a:tc>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1960</a:t>
                      </a:r>
                    </a:p>
                  </a:txBody>
                  <a:tcPr marL="7620" marR="7620" marT="7620" marB="0" anchor="ctr"/>
                </a:tc>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Squaw Valley, United States</a:t>
                      </a:r>
                    </a:p>
                  </a:txBody>
                  <a:tcPr marL="7620" marR="7620" marT="7620" marB="0" anchor="ctr"/>
                </a:tc>
                <a:tc>
                  <a:txBody>
                    <a:bodyPr/>
                    <a:lstStyle/>
                    <a:p>
                      <a:pPr algn="ctr" fontAlgn="ctr">
                        <a:buNone/>
                      </a:pPr>
                      <a:r>
                        <a:rPr lang="en-US" sz="1600" b="0" i="0" u="none" strike="noStrike" dirty="0">
                          <a:solidFill>
                            <a:srgbClr val="000000"/>
                          </a:solidFill>
                          <a:effectLst/>
                          <a:latin typeface="Times New Roman" panose="02020603050405020304" pitchFamily="18" charset="0"/>
                          <a:cs typeface="Times New Roman" panose="02020603050405020304" pitchFamily="18" charset="0"/>
                        </a:rPr>
                        <a:t>North America</a:t>
                      </a:r>
                    </a:p>
                  </a:txBody>
                  <a:tcPr marL="7620" marR="7620" marT="7620" marB="0" anchor="ctr"/>
                </a:tc>
                <a:extLst>
                  <a:ext uri="{0D108BD9-81ED-4DB2-BD59-A6C34878D82A}">
                    <a16:rowId xmlns:a16="http://schemas.microsoft.com/office/drawing/2014/main" val="3728316628"/>
                  </a:ext>
                </a:extLst>
              </a:tr>
              <a:tr h="296664">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IX</a:t>
                      </a:r>
                    </a:p>
                  </a:txBody>
                  <a:tcPr marL="7620" marR="7620" marT="7620" marB="0" anchor="ctr"/>
                </a:tc>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1964</a:t>
                      </a:r>
                    </a:p>
                  </a:txBody>
                  <a:tcPr marL="7620" marR="7620" marT="7620" marB="0" anchor="ctr"/>
                </a:tc>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Innsbruck, Austria</a:t>
                      </a:r>
                    </a:p>
                  </a:txBody>
                  <a:tcPr marL="7620" marR="7620" marT="7620" marB="0" anchor="ctr"/>
                </a:tc>
                <a:tc>
                  <a:txBody>
                    <a:bodyPr/>
                    <a:lstStyle/>
                    <a:p>
                      <a:pPr algn="ctr" fontAlgn="ctr">
                        <a:buNone/>
                      </a:pPr>
                      <a:r>
                        <a:rPr lang="en-US" sz="1600" b="0" i="0" u="none" strike="noStrike" dirty="0">
                          <a:solidFill>
                            <a:srgbClr val="000000"/>
                          </a:solidFill>
                          <a:effectLst/>
                          <a:latin typeface="Times New Roman" panose="02020603050405020304" pitchFamily="18" charset="0"/>
                          <a:cs typeface="Times New Roman" panose="02020603050405020304" pitchFamily="18" charset="0"/>
                        </a:rPr>
                        <a:t>Europe</a:t>
                      </a:r>
                    </a:p>
                  </a:txBody>
                  <a:tcPr marL="7620" marR="7620" marT="7620" marB="0" anchor="ctr"/>
                </a:tc>
                <a:extLst>
                  <a:ext uri="{0D108BD9-81ED-4DB2-BD59-A6C34878D82A}">
                    <a16:rowId xmlns:a16="http://schemas.microsoft.com/office/drawing/2014/main" val="3761093690"/>
                  </a:ext>
                </a:extLst>
              </a:tr>
              <a:tr h="296664">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X</a:t>
                      </a:r>
                    </a:p>
                  </a:txBody>
                  <a:tcPr marL="7620" marR="7620" marT="7620" marB="0" anchor="ctr"/>
                </a:tc>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1968</a:t>
                      </a:r>
                    </a:p>
                  </a:txBody>
                  <a:tcPr marL="7620" marR="7620" marT="7620" marB="0" anchor="ctr"/>
                </a:tc>
                <a:tc>
                  <a:txBody>
                    <a:bodyPr/>
                    <a:lstStyle/>
                    <a:p>
                      <a:pPr algn="ctr" fontAlgn="ctr">
                        <a:buNone/>
                      </a:pPr>
                      <a:r>
                        <a:rPr lang="en-US" sz="1600" b="0" i="0" u="none" strike="noStrike" dirty="0">
                          <a:solidFill>
                            <a:srgbClr val="000000"/>
                          </a:solidFill>
                          <a:effectLst/>
                          <a:latin typeface="Times New Roman" panose="02020603050405020304" pitchFamily="18" charset="0"/>
                          <a:cs typeface="Times New Roman" panose="02020603050405020304" pitchFamily="18" charset="0"/>
                        </a:rPr>
                        <a:t>Grenoble, France</a:t>
                      </a:r>
                    </a:p>
                  </a:txBody>
                  <a:tcPr marL="7620" marR="7620" marT="7620" marB="0" anchor="ctr"/>
                </a:tc>
                <a:tc>
                  <a:txBody>
                    <a:bodyPr/>
                    <a:lstStyle/>
                    <a:p>
                      <a:pPr algn="ctr" fontAlgn="ctr">
                        <a:buNone/>
                      </a:pPr>
                      <a:r>
                        <a:rPr lang="en-US" sz="1600" b="0" i="0" u="none" strike="noStrike" dirty="0">
                          <a:solidFill>
                            <a:srgbClr val="000000"/>
                          </a:solidFill>
                          <a:effectLst/>
                          <a:latin typeface="Times New Roman" panose="02020603050405020304" pitchFamily="18" charset="0"/>
                          <a:cs typeface="Times New Roman" panose="02020603050405020304" pitchFamily="18" charset="0"/>
                        </a:rPr>
                        <a:t>Europe</a:t>
                      </a:r>
                    </a:p>
                  </a:txBody>
                  <a:tcPr marL="7620" marR="7620" marT="7620" marB="0" anchor="ctr"/>
                </a:tc>
                <a:extLst>
                  <a:ext uri="{0D108BD9-81ED-4DB2-BD59-A6C34878D82A}">
                    <a16:rowId xmlns:a16="http://schemas.microsoft.com/office/drawing/2014/main" val="690443604"/>
                  </a:ext>
                </a:extLst>
              </a:tr>
              <a:tr h="296664">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XI</a:t>
                      </a:r>
                    </a:p>
                  </a:txBody>
                  <a:tcPr marL="7620" marR="7620" marT="7620" marB="0" anchor="ctr"/>
                </a:tc>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1972</a:t>
                      </a:r>
                    </a:p>
                  </a:txBody>
                  <a:tcPr marL="7620" marR="7620" marT="7620" marB="0" anchor="ctr"/>
                </a:tc>
                <a:tc>
                  <a:txBody>
                    <a:bodyPr/>
                    <a:lstStyle/>
                    <a:p>
                      <a:pPr algn="ctr" fontAlgn="ctr">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Sapporo, Japan</a:t>
                      </a:r>
                    </a:p>
                  </a:txBody>
                  <a:tcPr marL="7620" marR="7620" marT="7620" marB="0" anchor="ctr"/>
                </a:tc>
                <a:tc>
                  <a:txBody>
                    <a:bodyPr/>
                    <a:lstStyle/>
                    <a:p>
                      <a:pPr algn="ctr" fontAlgn="ctr">
                        <a:buNone/>
                      </a:pPr>
                      <a:r>
                        <a:rPr lang="en-US" sz="1600" b="0" i="0" u="none" strike="noStrike" dirty="0">
                          <a:solidFill>
                            <a:srgbClr val="000000"/>
                          </a:solidFill>
                          <a:effectLst/>
                          <a:latin typeface="Times New Roman" panose="02020603050405020304" pitchFamily="18" charset="0"/>
                          <a:cs typeface="Times New Roman" panose="02020603050405020304" pitchFamily="18" charset="0"/>
                        </a:rPr>
                        <a:t>Asia</a:t>
                      </a:r>
                    </a:p>
                  </a:txBody>
                  <a:tcPr marL="7620" marR="7620" marT="7620" marB="0" anchor="ctr"/>
                </a:tc>
                <a:extLst>
                  <a:ext uri="{0D108BD9-81ED-4DB2-BD59-A6C34878D82A}">
                    <a16:rowId xmlns:a16="http://schemas.microsoft.com/office/drawing/2014/main" val="2644513106"/>
                  </a:ext>
                </a:extLst>
              </a:tr>
            </a:tbl>
          </a:graphicData>
        </a:graphic>
      </p:graphicFrame>
      <p:sp>
        <p:nvSpPr>
          <p:cNvPr id="3" name="Subtitle 2">
            <a:extLst>
              <a:ext uri="{FF2B5EF4-FFF2-40B4-BE49-F238E27FC236}">
                <a16:creationId xmlns:a16="http://schemas.microsoft.com/office/drawing/2014/main" id="{E7744EA6-8E50-5CC0-1FDF-14CE42243428}"/>
              </a:ext>
            </a:extLst>
          </p:cNvPr>
          <p:cNvSpPr txBox="1">
            <a:spLocks/>
          </p:cNvSpPr>
          <p:nvPr/>
        </p:nvSpPr>
        <p:spPr>
          <a:xfrm>
            <a:off x="406566" y="5738120"/>
            <a:ext cx="11378865" cy="715017"/>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dirty="0">
                <a:latin typeface="Times New Roman" panose="02020603050405020304" pitchFamily="18" charset="0"/>
                <a:cs typeface="Times New Roman" panose="02020603050405020304" pitchFamily="18" charset="0"/>
              </a:rPr>
              <a:t>If we try to make a </a:t>
            </a:r>
            <a:r>
              <a:rPr lang="en-US" sz="2000" b="1" dirty="0">
                <a:latin typeface="Times New Roman" panose="02020603050405020304" pitchFamily="18" charset="0"/>
                <a:cs typeface="Times New Roman" panose="02020603050405020304" pitchFamily="18" charset="0"/>
              </a:rPr>
              <a:t>frequency table </a:t>
            </a:r>
            <a:r>
              <a:rPr lang="en-US" sz="2000" dirty="0">
                <a:latin typeface="Times New Roman" panose="02020603050405020304" pitchFamily="18" charset="0"/>
                <a:cs typeface="Times New Roman" panose="02020603050405020304" pitchFamily="18" charset="0"/>
              </a:rPr>
              <a:t>first of this information, we get:</a:t>
            </a:r>
          </a:p>
        </p:txBody>
      </p:sp>
      <p:grpSp>
        <p:nvGrpSpPr>
          <p:cNvPr id="10" name="Group 9">
            <a:extLst>
              <a:ext uri="{FF2B5EF4-FFF2-40B4-BE49-F238E27FC236}">
                <a16:creationId xmlns:a16="http://schemas.microsoft.com/office/drawing/2014/main" id="{21F33213-1428-AD6C-847F-2DC6DE935B8D}"/>
              </a:ext>
            </a:extLst>
          </p:cNvPr>
          <p:cNvGrpSpPr/>
          <p:nvPr/>
        </p:nvGrpSpPr>
        <p:grpSpPr>
          <a:xfrm>
            <a:off x="0" y="6544092"/>
            <a:ext cx="12192000" cy="313908"/>
            <a:chOff x="0" y="6544092"/>
            <a:chExt cx="12192000" cy="313908"/>
          </a:xfrm>
        </p:grpSpPr>
        <p:sp>
          <p:nvSpPr>
            <p:cNvPr id="13" name="Rectangle 12">
              <a:extLst>
                <a:ext uri="{FF2B5EF4-FFF2-40B4-BE49-F238E27FC236}">
                  <a16:creationId xmlns:a16="http://schemas.microsoft.com/office/drawing/2014/main" id="{0FA746B2-2145-D751-C9A3-3BD90AD67ECE}"/>
                </a:ext>
              </a:extLst>
            </p:cNvPr>
            <p:cNvSpPr/>
            <p:nvPr/>
          </p:nvSpPr>
          <p:spPr>
            <a:xfrm>
              <a:off x="0" y="6544092"/>
              <a:ext cx="12192000" cy="31390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14" name="TextBox 10">
              <a:extLst>
                <a:ext uri="{FF2B5EF4-FFF2-40B4-BE49-F238E27FC236}">
                  <a16:creationId xmlns:a16="http://schemas.microsoft.com/office/drawing/2014/main" id="{A465A8B9-D268-CD12-4B88-2BB844EAD754}"/>
                </a:ext>
              </a:extLst>
            </p:cNvPr>
            <p:cNvSpPr txBox="1"/>
            <p:nvPr/>
          </p:nvSpPr>
          <p:spPr>
            <a:xfrm>
              <a:off x="109932" y="6577518"/>
              <a:ext cx="2794997" cy="247055"/>
            </a:xfrm>
            <a:prstGeom prst="rect">
              <a:avLst/>
            </a:prstGeom>
            <a:noFill/>
          </p:spPr>
          <p:txBody>
            <a:bodyPr lIns="0" tIns="0" rIns="0" bIns="0" rtlCol="0" anchor="ctr">
              <a:spAutoFit/>
            </a:bodyPr>
            <a:lstStyle/>
            <a:p>
              <a:pPr algn="just">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ENGR. VIOLDAN E. BAYOCOT</a:t>
              </a:r>
            </a:p>
          </p:txBody>
        </p:sp>
        <p:sp>
          <p:nvSpPr>
            <p:cNvPr id="15" name="TextBox 14">
              <a:extLst>
                <a:ext uri="{FF2B5EF4-FFF2-40B4-BE49-F238E27FC236}">
                  <a16:creationId xmlns:a16="http://schemas.microsoft.com/office/drawing/2014/main" id="{CD4E0966-068E-FB9C-CD47-59AB36252D5B}"/>
                </a:ext>
              </a:extLst>
            </p:cNvPr>
            <p:cNvSpPr txBox="1"/>
            <p:nvPr/>
          </p:nvSpPr>
          <p:spPr>
            <a:xfrm>
              <a:off x="3158929" y="6577518"/>
              <a:ext cx="5433668" cy="248145"/>
            </a:xfrm>
            <a:prstGeom prst="rect">
              <a:avLst/>
            </a:prstGeom>
            <a:noFill/>
          </p:spPr>
          <p:txBody>
            <a:bodyPr wrap="square" lIns="0" tIns="0" rIns="0" bIns="0" rtlCol="0" anchor="t">
              <a:spAutoFit/>
            </a:bodyPr>
            <a:lstStyle/>
            <a:p>
              <a:pPr algn="ct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[Krista K.] BECOME A PROBABILITY &amp; STATISTICS MASTER</a:t>
              </a:r>
            </a:p>
          </p:txBody>
        </p:sp>
        <p:sp>
          <p:nvSpPr>
            <p:cNvPr id="16" name="TextBox 15">
              <a:extLst>
                <a:ext uri="{FF2B5EF4-FFF2-40B4-BE49-F238E27FC236}">
                  <a16:creationId xmlns:a16="http://schemas.microsoft.com/office/drawing/2014/main" id="{2AC5C9FF-A415-6B30-FDCE-10DC7ECD71E4}"/>
                </a:ext>
              </a:extLst>
            </p:cNvPr>
            <p:cNvSpPr txBox="1"/>
            <p:nvPr/>
          </p:nvSpPr>
          <p:spPr>
            <a:xfrm>
              <a:off x="8387007" y="6577518"/>
              <a:ext cx="3701763" cy="248145"/>
            </a:xfrm>
            <a:prstGeom prst="rect">
              <a:avLst/>
            </a:prstGeom>
            <a:noFill/>
          </p:spPr>
          <p:txBody>
            <a:bodyPr wrap="square" lIns="0" tIns="0" rIns="0" bIns="0" rtlCol="0" anchor="t">
              <a:spAutoFit/>
            </a:bodyPr>
            <a:lstStyle/>
            <a:p>
              <a:pPr algn="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QUANTITATIVE METHODS</a:t>
              </a:r>
            </a:p>
          </p:txBody>
        </p:sp>
      </p:grpSp>
    </p:spTree>
    <p:extLst>
      <p:ext uri="{BB962C8B-B14F-4D97-AF65-F5344CB8AC3E}">
        <p14:creationId xmlns:p14="http://schemas.microsoft.com/office/powerpoint/2010/main" val="15701148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par>
                          <p:cTn id="13" fill="hold">
                            <p:stCondLst>
                              <p:cond delay="500"/>
                            </p:stCondLst>
                            <p:childTnLst>
                              <p:par>
                                <p:cTn id="14" presetID="22" presetClass="entr" presetSubtype="1" fill="hold" nodeType="after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up)">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748A4-EC1F-0955-331D-1CD0497A630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0CC084A-C20F-2FBB-F6BF-66DD03AB45E1}"/>
              </a:ext>
            </a:extLst>
          </p:cNvPr>
          <p:cNvSpPr/>
          <p:nvPr/>
        </p:nvSpPr>
        <p:spPr>
          <a:xfrm>
            <a:off x="0" y="0"/>
            <a:ext cx="12192000" cy="548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sz="3000"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FB98DA5-0DD2-F88B-241A-606644E8DBBF}"/>
              </a:ext>
            </a:extLst>
          </p:cNvPr>
          <p:cNvSpPr txBox="1">
            <a:spLocks/>
          </p:cNvSpPr>
          <p:nvPr/>
        </p:nvSpPr>
        <p:spPr>
          <a:xfrm>
            <a:off x="0" y="0"/>
            <a:ext cx="12191998" cy="548641"/>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PH" sz="3000" b="1" dirty="0">
                <a:solidFill>
                  <a:schemeClr val="bg1"/>
                </a:solidFill>
                <a:latin typeface="Times New Roman" panose="02020603050405020304" pitchFamily="18" charset="0"/>
                <a:cs typeface="Times New Roman" panose="02020603050405020304" pitchFamily="18" charset="0"/>
              </a:rPr>
              <a:t>WINTER GAMES DATASET - EXAMPLE</a:t>
            </a:r>
            <a:endParaRPr lang="en-PH" sz="3000" b="1" dirty="0">
              <a:solidFill>
                <a:schemeClr val="bg1"/>
              </a:solidFill>
              <a:latin typeface="Courier New" panose="02070309020205020404" pitchFamily="49" charset="0"/>
              <a:cs typeface="Courier New" panose="02070309020205020404" pitchFamily="49" charset="0"/>
            </a:endParaRPr>
          </a:p>
        </p:txBody>
      </p:sp>
      <p:graphicFrame>
        <p:nvGraphicFramePr>
          <p:cNvPr id="5" name="Table 4">
            <a:extLst>
              <a:ext uri="{FF2B5EF4-FFF2-40B4-BE49-F238E27FC236}">
                <a16:creationId xmlns:a16="http://schemas.microsoft.com/office/drawing/2014/main" id="{7E4F7B8E-8FF9-C4CD-0A06-139651F293E2}"/>
              </a:ext>
            </a:extLst>
          </p:cNvPr>
          <p:cNvGraphicFramePr>
            <a:graphicFrameLocks noGrp="1"/>
          </p:cNvGraphicFramePr>
          <p:nvPr>
            <p:extLst>
              <p:ext uri="{D42A27DB-BD31-4B8C-83A1-F6EECF244321}">
                <p14:modId xmlns:p14="http://schemas.microsoft.com/office/powerpoint/2010/main" val="883356467"/>
              </p:ext>
            </p:extLst>
          </p:nvPr>
        </p:nvGraphicFramePr>
        <p:xfrm>
          <a:off x="4763015" y="1745405"/>
          <a:ext cx="4525765" cy="3601920"/>
        </p:xfrm>
        <a:graphic>
          <a:graphicData uri="http://schemas.openxmlformats.org/drawingml/2006/table">
            <a:tbl>
              <a:tblPr firstRow="1" bandRow="1">
                <a:tableStyleId>{073A0DAA-6AF3-43AB-8588-CEC1D06C72B9}</a:tableStyleId>
              </a:tblPr>
              <a:tblGrid>
                <a:gridCol w="674368">
                  <a:extLst>
                    <a:ext uri="{9D8B030D-6E8A-4147-A177-3AD203B41FA5}">
                      <a16:colId xmlns:a16="http://schemas.microsoft.com/office/drawing/2014/main" val="2686799140"/>
                    </a:ext>
                  </a:extLst>
                </a:gridCol>
                <a:gridCol w="674368">
                  <a:extLst>
                    <a:ext uri="{9D8B030D-6E8A-4147-A177-3AD203B41FA5}">
                      <a16:colId xmlns:a16="http://schemas.microsoft.com/office/drawing/2014/main" val="683507027"/>
                    </a:ext>
                  </a:extLst>
                </a:gridCol>
                <a:gridCol w="2045587">
                  <a:extLst>
                    <a:ext uri="{9D8B030D-6E8A-4147-A177-3AD203B41FA5}">
                      <a16:colId xmlns:a16="http://schemas.microsoft.com/office/drawing/2014/main" val="2101790897"/>
                    </a:ext>
                  </a:extLst>
                </a:gridCol>
                <a:gridCol w="1131442">
                  <a:extLst>
                    <a:ext uri="{9D8B030D-6E8A-4147-A177-3AD203B41FA5}">
                      <a16:colId xmlns:a16="http://schemas.microsoft.com/office/drawing/2014/main" val="3959219217"/>
                    </a:ext>
                  </a:extLst>
                </a:gridCol>
              </a:tblGrid>
              <a:tr h="263965">
                <a:tc>
                  <a:txBody>
                    <a:bodyPr/>
                    <a:lstStyle/>
                    <a:p>
                      <a:pPr algn="ctr" fontAlgn="b">
                        <a:buNone/>
                      </a:pPr>
                      <a:r>
                        <a:rPr lang="en-US" sz="1400" b="1" u="none" strike="noStrike" dirty="0">
                          <a:solidFill>
                            <a:schemeClr val="bg1"/>
                          </a:solidFill>
                          <a:effectLst/>
                          <a:latin typeface="Times New Roman" panose="02020603050405020304" pitchFamily="18" charset="0"/>
                          <a:cs typeface="Times New Roman" panose="02020603050405020304" pitchFamily="18" charset="0"/>
                        </a:rPr>
                        <a:t>Games</a:t>
                      </a:r>
                      <a:endParaRPr lang="en-US" sz="14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400" b="1" u="none" strike="noStrike" dirty="0">
                          <a:solidFill>
                            <a:schemeClr val="bg1"/>
                          </a:solidFill>
                          <a:effectLst/>
                          <a:latin typeface="Times New Roman" panose="02020603050405020304" pitchFamily="18" charset="0"/>
                          <a:cs typeface="Times New Roman" panose="02020603050405020304" pitchFamily="18" charset="0"/>
                        </a:rPr>
                        <a:t>Year</a:t>
                      </a:r>
                      <a:endParaRPr lang="en-US" sz="14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400" b="1" u="none" strike="noStrike" dirty="0">
                          <a:solidFill>
                            <a:schemeClr val="bg1"/>
                          </a:solidFill>
                          <a:effectLst/>
                          <a:latin typeface="Times New Roman" panose="02020603050405020304" pitchFamily="18" charset="0"/>
                          <a:cs typeface="Times New Roman" panose="02020603050405020304" pitchFamily="18" charset="0"/>
                        </a:rPr>
                        <a:t>City, Country</a:t>
                      </a:r>
                      <a:endParaRPr lang="en-US" sz="14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400" b="1" u="none" strike="noStrike" dirty="0">
                          <a:solidFill>
                            <a:schemeClr val="bg1"/>
                          </a:solidFill>
                          <a:effectLst/>
                          <a:latin typeface="Times New Roman" panose="02020603050405020304" pitchFamily="18" charset="0"/>
                          <a:cs typeface="Times New Roman" panose="02020603050405020304" pitchFamily="18" charset="0"/>
                        </a:rPr>
                        <a:t>Continent</a:t>
                      </a:r>
                      <a:endParaRPr lang="en-US" sz="14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365091595"/>
                  </a:ext>
                </a:extLst>
              </a:tr>
              <a:tr h="263965">
                <a:tc>
                  <a:txBody>
                    <a:bodyPr/>
                    <a:lstStyle/>
                    <a:p>
                      <a:pPr algn="ctr" fontAlgn="ctr">
                        <a:buNone/>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XII</a:t>
                      </a:r>
                    </a:p>
                  </a:txBody>
                  <a:tcPr marL="7620" marR="7620" marT="7620" marB="0" anchor="ctr"/>
                </a:tc>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1976</a:t>
                      </a:r>
                    </a:p>
                  </a:txBody>
                  <a:tcPr marL="7620" marR="7620" marT="7620" marB="0" anchor="ctr"/>
                </a:tc>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Innsbruck, Austria</a:t>
                      </a:r>
                    </a:p>
                  </a:txBody>
                  <a:tcPr marL="7620" marR="7620" marT="7620" marB="0" anchor="ctr"/>
                </a:tc>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Europe</a:t>
                      </a:r>
                    </a:p>
                  </a:txBody>
                  <a:tcPr marL="7620" marR="7620" marT="7620" marB="0" anchor="ctr"/>
                </a:tc>
                <a:extLst>
                  <a:ext uri="{0D108BD9-81ED-4DB2-BD59-A6C34878D82A}">
                    <a16:rowId xmlns:a16="http://schemas.microsoft.com/office/drawing/2014/main" val="1280199405"/>
                  </a:ext>
                </a:extLst>
              </a:tr>
              <a:tr h="263965">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XIII</a:t>
                      </a:r>
                    </a:p>
                  </a:txBody>
                  <a:tcPr marL="7620" marR="7620" marT="7620" marB="0" anchor="ctr"/>
                </a:tc>
                <a:tc>
                  <a:txBody>
                    <a:bodyPr/>
                    <a:lstStyle/>
                    <a:p>
                      <a:pPr algn="ctr" fontAlgn="ctr">
                        <a:buNone/>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1980</a:t>
                      </a:r>
                    </a:p>
                  </a:txBody>
                  <a:tcPr marL="7620" marR="7620" marT="7620" marB="0" anchor="ctr"/>
                </a:tc>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Lake Placid, United States</a:t>
                      </a:r>
                    </a:p>
                  </a:txBody>
                  <a:tcPr marL="7620" marR="7620" marT="7620" marB="0" anchor="ctr"/>
                </a:tc>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North America</a:t>
                      </a:r>
                    </a:p>
                  </a:txBody>
                  <a:tcPr marL="7620" marR="7620" marT="7620" marB="0" anchor="ctr"/>
                </a:tc>
                <a:extLst>
                  <a:ext uri="{0D108BD9-81ED-4DB2-BD59-A6C34878D82A}">
                    <a16:rowId xmlns:a16="http://schemas.microsoft.com/office/drawing/2014/main" val="2391389394"/>
                  </a:ext>
                </a:extLst>
              </a:tr>
              <a:tr h="263965">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XIV</a:t>
                      </a:r>
                    </a:p>
                  </a:txBody>
                  <a:tcPr marL="7620" marR="7620" marT="7620" marB="0" anchor="ctr"/>
                </a:tc>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1984</a:t>
                      </a:r>
                    </a:p>
                  </a:txBody>
                  <a:tcPr marL="7620" marR="7620" marT="7620" marB="0" anchor="ctr"/>
                </a:tc>
                <a:tc>
                  <a:txBody>
                    <a:bodyPr/>
                    <a:lstStyle/>
                    <a:p>
                      <a:pPr algn="ctr" fontAlgn="ctr">
                        <a:buNone/>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Sarajevo, Yugoslavia</a:t>
                      </a:r>
                    </a:p>
                  </a:txBody>
                  <a:tcPr marL="7620" marR="7620" marT="7620" marB="0" anchor="ctr"/>
                </a:tc>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Europe</a:t>
                      </a:r>
                    </a:p>
                  </a:txBody>
                  <a:tcPr marL="7620" marR="7620" marT="7620" marB="0" anchor="ctr"/>
                </a:tc>
                <a:extLst>
                  <a:ext uri="{0D108BD9-81ED-4DB2-BD59-A6C34878D82A}">
                    <a16:rowId xmlns:a16="http://schemas.microsoft.com/office/drawing/2014/main" val="1014809043"/>
                  </a:ext>
                </a:extLst>
              </a:tr>
              <a:tr h="263965">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XV</a:t>
                      </a:r>
                    </a:p>
                  </a:txBody>
                  <a:tcPr marL="7620" marR="7620" marT="7620" marB="0" anchor="ctr"/>
                </a:tc>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1988</a:t>
                      </a:r>
                    </a:p>
                  </a:txBody>
                  <a:tcPr marL="7620" marR="7620" marT="7620" marB="0" anchor="ctr"/>
                </a:tc>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Calgary, Canada</a:t>
                      </a:r>
                    </a:p>
                  </a:txBody>
                  <a:tcPr marL="7620" marR="7620" marT="7620" marB="0" anchor="ctr"/>
                </a:tc>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North America</a:t>
                      </a:r>
                    </a:p>
                  </a:txBody>
                  <a:tcPr marL="7620" marR="7620" marT="7620" marB="0" anchor="ctr"/>
                </a:tc>
                <a:extLst>
                  <a:ext uri="{0D108BD9-81ED-4DB2-BD59-A6C34878D82A}">
                    <a16:rowId xmlns:a16="http://schemas.microsoft.com/office/drawing/2014/main" val="3835869228"/>
                  </a:ext>
                </a:extLst>
              </a:tr>
              <a:tr h="263965">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XVI</a:t>
                      </a:r>
                    </a:p>
                  </a:txBody>
                  <a:tcPr marL="7620" marR="7620" marT="7620" marB="0" anchor="ctr"/>
                </a:tc>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1992</a:t>
                      </a:r>
                    </a:p>
                  </a:txBody>
                  <a:tcPr marL="7620" marR="7620" marT="7620" marB="0" anchor="ctr"/>
                </a:tc>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Albertville, France</a:t>
                      </a:r>
                    </a:p>
                  </a:txBody>
                  <a:tcPr marL="7620" marR="7620" marT="7620" marB="0" anchor="ctr"/>
                </a:tc>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Europe</a:t>
                      </a:r>
                    </a:p>
                  </a:txBody>
                  <a:tcPr marL="7620" marR="7620" marT="7620" marB="0" anchor="ctr"/>
                </a:tc>
                <a:extLst>
                  <a:ext uri="{0D108BD9-81ED-4DB2-BD59-A6C34878D82A}">
                    <a16:rowId xmlns:a16="http://schemas.microsoft.com/office/drawing/2014/main" val="1687663148"/>
                  </a:ext>
                </a:extLst>
              </a:tr>
              <a:tr h="263965">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XVII</a:t>
                      </a:r>
                    </a:p>
                  </a:txBody>
                  <a:tcPr marL="7620" marR="7620" marT="7620" marB="0" anchor="ctr"/>
                </a:tc>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1994</a:t>
                      </a:r>
                    </a:p>
                  </a:txBody>
                  <a:tcPr marL="7620" marR="7620" marT="7620" marB="0" anchor="ctr"/>
                </a:tc>
                <a:tc>
                  <a:txBody>
                    <a:bodyPr/>
                    <a:lstStyle/>
                    <a:p>
                      <a:pPr algn="ctr" fontAlgn="ctr">
                        <a:buNone/>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Lillehammer, Norway</a:t>
                      </a:r>
                    </a:p>
                  </a:txBody>
                  <a:tcPr marL="7620" marR="7620" marT="7620" marB="0" anchor="ctr"/>
                </a:tc>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Europe</a:t>
                      </a:r>
                    </a:p>
                  </a:txBody>
                  <a:tcPr marL="7620" marR="7620" marT="7620" marB="0" anchor="ctr"/>
                </a:tc>
                <a:extLst>
                  <a:ext uri="{0D108BD9-81ED-4DB2-BD59-A6C34878D82A}">
                    <a16:rowId xmlns:a16="http://schemas.microsoft.com/office/drawing/2014/main" val="1687604853"/>
                  </a:ext>
                </a:extLst>
              </a:tr>
              <a:tr h="263965">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XVIII</a:t>
                      </a:r>
                    </a:p>
                  </a:txBody>
                  <a:tcPr marL="7620" marR="7620" marT="7620" marB="0" anchor="ctr"/>
                </a:tc>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1998</a:t>
                      </a:r>
                    </a:p>
                  </a:txBody>
                  <a:tcPr marL="7620" marR="7620" marT="7620" marB="0" anchor="ctr"/>
                </a:tc>
                <a:tc>
                  <a:txBody>
                    <a:bodyPr/>
                    <a:lstStyle/>
                    <a:p>
                      <a:pPr algn="ctr" fontAlgn="ctr">
                        <a:buNone/>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Nagano, Japan</a:t>
                      </a:r>
                    </a:p>
                  </a:txBody>
                  <a:tcPr marL="7620" marR="7620" marT="7620" marB="0" anchor="ctr"/>
                </a:tc>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Asia</a:t>
                      </a:r>
                    </a:p>
                  </a:txBody>
                  <a:tcPr marL="7620" marR="7620" marT="7620" marB="0" anchor="ctr"/>
                </a:tc>
                <a:extLst>
                  <a:ext uri="{0D108BD9-81ED-4DB2-BD59-A6C34878D82A}">
                    <a16:rowId xmlns:a16="http://schemas.microsoft.com/office/drawing/2014/main" val="688440376"/>
                  </a:ext>
                </a:extLst>
              </a:tr>
              <a:tr h="263965">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XIX</a:t>
                      </a:r>
                    </a:p>
                  </a:txBody>
                  <a:tcPr marL="7620" marR="7620" marT="7620" marB="0" anchor="ctr"/>
                </a:tc>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2002</a:t>
                      </a:r>
                    </a:p>
                  </a:txBody>
                  <a:tcPr marL="7620" marR="7620" marT="7620" marB="0" anchor="ctr"/>
                </a:tc>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Salt Lake City, United States</a:t>
                      </a:r>
                    </a:p>
                  </a:txBody>
                  <a:tcPr marL="7620" marR="7620" marT="7620" marB="0" anchor="ctr"/>
                </a:tc>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North America</a:t>
                      </a:r>
                    </a:p>
                  </a:txBody>
                  <a:tcPr marL="7620" marR="7620" marT="7620" marB="0" anchor="ctr"/>
                </a:tc>
                <a:extLst>
                  <a:ext uri="{0D108BD9-81ED-4DB2-BD59-A6C34878D82A}">
                    <a16:rowId xmlns:a16="http://schemas.microsoft.com/office/drawing/2014/main" val="2204043722"/>
                  </a:ext>
                </a:extLst>
              </a:tr>
              <a:tr h="263965">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XX</a:t>
                      </a:r>
                    </a:p>
                  </a:txBody>
                  <a:tcPr marL="7620" marR="7620" marT="7620" marB="0" anchor="ctr"/>
                </a:tc>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2006</a:t>
                      </a:r>
                    </a:p>
                  </a:txBody>
                  <a:tcPr marL="7620" marR="7620" marT="7620" marB="0" anchor="ctr"/>
                </a:tc>
                <a:tc>
                  <a:txBody>
                    <a:bodyPr/>
                    <a:lstStyle/>
                    <a:p>
                      <a:pPr algn="ctr" fontAlgn="ctr">
                        <a:buNone/>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Turin, Italy</a:t>
                      </a:r>
                    </a:p>
                  </a:txBody>
                  <a:tcPr marL="7620" marR="7620" marT="7620" marB="0" anchor="ctr"/>
                </a:tc>
                <a:tc>
                  <a:txBody>
                    <a:bodyPr/>
                    <a:lstStyle/>
                    <a:p>
                      <a:pPr algn="ctr" fontAlgn="ctr">
                        <a:buNone/>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Europe</a:t>
                      </a:r>
                    </a:p>
                  </a:txBody>
                  <a:tcPr marL="7620" marR="7620" marT="7620" marB="0" anchor="ctr"/>
                </a:tc>
                <a:extLst>
                  <a:ext uri="{0D108BD9-81ED-4DB2-BD59-A6C34878D82A}">
                    <a16:rowId xmlns:a16="http://schemas.microsoft.com/office/drawing/2014/main" val="1305401900"/>
                  </a:ext>
                </a:extLst>
              </a:tr>
              <a:tr h="263965">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XXI</a:t>
                      </a:r>
                    </a:p>
                  </a:txBody>
                  <a:tcPr marL="7620" marR="7620" marT="7620" marB="0" anchor="ctr"/>
                </a:tc>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2010</a:t>
                      </a:r>
                    </a:p>
                  </a:txBody>
                  <a:tcPr marL="7620" marR="7620" marT="7620" marB="0" anchor="ctr"/>
                </a:tc>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Vancouver, Canada</a:t>
                      </a:r>
                    </a:p>
                  </a:txBody>
                  <a:tcPr marL="7620" marR="7620" marT="7620" marB="0" anchor="ctr"/>
                </a:tc>
                <a:tc>
                  <a:txBody>
                    <a:bodyPr/>
                    <a:lstStyle/>
                    <a:p>
                      <a:pPr algn="ctr" fontAlgn="ctr">
                        <a:buNone/>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North America</a:t>
                      </a:r>
                    </a:p>
                  </a:txBody>
                  <a:tcPr marL="7620" marR="7620" marT="7620" marB="0" anchor="ctr"/>
                </a:tc>
                <a:extLst>
                  <a:ext uri="{0D108BD9-81ED-4DB2-BD59-A6C34878D82A}">
                    <a16:rowId xmlns:a16="http://schemas.microsoft.com/office/drawing/2014/main" val="98371614"/>
                  </a:ext>
                </a:extLst>
              </a:tr>
              <a:tr h="263965">
                <a:tc>
                  <a:txBody>
                    <a:bodyPr/>
                    <a:lstStyle/>
                    <a:p>
                      <a:pPr algn="ctr" fontAlgn="ctr">
                        <a:buNone/>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XXII</a:t>
                      </a:r>
                    </a:p>
                  </a:txBody>
                  <a:tcPr marL="7620" marR="7620" marT="7620" marB="0" anchor="ctr"/>
                </a:tc>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2014</a:t>
                      </a:r>
                    </a:p>
                  </a:txBody>
                  <a:tcPr marL="7620" marR="7620" marT="7620" marB="0" anchor="ctr"/>
                </a:tc>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Sochi, Russia</a:t>
                      </a:r>
                    </a:p>
                  </a:txBody>
                  <a:tcPr marL="7620" marR="7620" marT="7620" marB="0" anchor="ctr"/>
                </a:tc>
                <a:tc>
                  <a:txBody>
                    <a:bodyPr/>
                    <a:lstStyle/>
                    <a:p>
                      <a:pPr algn="ctr" fontAlgn="ctr">
                        <a:buNone/>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Europe</a:t>
                      </a:r>
                    </a:p>
                  </a:txBody>
                  <a:tcPr marL="7620" marR="7620" marT="7620" marB="0" anchor="ctr"/>
                </a:tc>
                <a:extLst>
                  <a:ext uri="{0D108BD9-81ED-4DB2-BD59-A6C34878D82A}">
                    <a16:rowId xmlns:a16="http://schemas.microsoft.com/office/drawing/2014/main" val="352835000"/>
                  </a:ext>
                </a:extLst>
              </a:tr>
              <a:tr h="263965">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XXIII</a:t>
                      </a:r>
                    </a:p>
                  </a:txBody>
                  <a:tcPr marL="7620" marR="7620" marT="7620" marB="0" anchor="ctr"/>
                </a:tc>
                <a:tc>
                  <a:txBody>
                    <a:bodyPr/>
                    <a:lstStyle/>
                    <a:p>
                      <a:pPr algn="ctr" fontAlgn="ctr">
                        <a:buNone/>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2018</a:t>
                      </a:r>
                    </a:p>
                  </a:txBody>
                  <a:tcPr marL="7620" marR="7620" marT="7620" marB="0" anchor="ctr"/>
                </a:tc>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Pyeongchang, South Korea</a:t>
                      </a:r>
                    </a:p>
                  </a:txBody>
                  <a:tcPr marL="7620" marR="7620" marT="7620" marB="0" anchor="ctr"/>
                </a:tc>
                <a:tc>
                  <a:txBody>
                    <a:bodyPr/>
                    <a:lstStyle/>
                    <a:p>
                      <a:pPr algn="ctr" fontAlgn="ctr">
                        <a:buNone/>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Asia</a:t>
                      </a:r>
                    </a:p>
                  </a:txBody>
                  <a:tcPr marL="7620" marR="7620" marT="7620" marB="0" anchor="ctr"/>
                </a:tc>
                <a:extLst>
                  <a:ext uri="{0D108BD9-81ED-4DB2-BD59-A6C34878D82A}">
                    <a16:rowId xmlns:a16="http://schemas.microsoft.com/office/drawing/2014/main" val="36270867"/>
                  </a:ext>
                </a:extLst>
              </a:tr>
            </a:tbl>
          </a:graphicData>
        </a:graphic>
      </p:graphicFrame>
      <p:graphicFrame>
        <p:nvGraphicFramePr>
          <p:cNvPr id="6" name="Table 5">
            <a:extLst>
              <a:ext uri="{FF2B5EF4-FFF2-40B4-BE49-F238E27FC236}">
                <a16:creationId xmlns:a16="http://schemas.microsoft.com/office/drawing/2014/main" id="{DBED4677-07B0-F8AD-E4A4-89A9AFA15C03}"/>
              </a:ext>
            </a:extLst>
          </p:cNvPr>
          <p:cNvGraphicFramePr>
            <a:graphicFrameLocks noGrp="1"/>
          </p:cNvGraphicFramePr>
          <p:nvPr>
            <p:extLst>
              <p:ext uri="{D42A27DB-BD31-4B8C-83A1-F6EECF244321}">
                <p14:modId xmlns:p14="http://schemas.microsoft.com/office/powerpoint/2010/main" val="1797139677"/>
              </p:ext>
            </p:extLst>
          </p:nvPr>
        </p:nvGraphicFramePr>
        <p:xfrm>
          <a:off x="335795" y="1830593"/>
          <a:ext cx="4191001" cy="3431544"/>
        </p:xfrm>
        <a:graphic>
          <a:graphicData uri="http://schemas.openxmlformats.org/drawingml/2006/table">
            <a:tbl>
              <a:tblPr firstRow="1" bandRow="1">
                <a:tableStyleId>{073A0DAA-6AF3-43AB-8588-CEC1D06C72B9}</a:tableStyleId>
              </a:tblPr>
              <a:tblGrid>
                <a:gridCol w="624486">
                  <a:extLst>
                    <a:ext uri="{9D8B030D-6E8A-4147-A177-3AD203B41FA5}">
                      <a16:colId xmlns:a16="http://schemas.microsoft.com/office/drawing/2014/main" val="2686799140"/>
                    </a:ext>
                  </a:extLst>
                </a:gridCol>
                <a:gridCol w="624486">
                  <a:extLst>
                    <a:ext uri="{9D8B030D-6E8A-4147-A177-3AD203B41FA5}">
                      <a16:colId xmlns:a16="http://schemas.microsoft.com/office/drawing/2014/main" val="683507027"/>
                    </a:ext>
                  </a:extLst>
                </a:gridCol>
                <a:gridCol w="1894278">
                  <a:extLst>
                    <a:ext uri="{9D8B030D-6E8A-4147-A177-3AD203B41FA5}">
                      <a16:colId xmlns:a16="http://schemas.microsoft.com/office/drawing/2014/main" val="2101790897"/>
                    </a:ext>
                  </a:extLst>
                </a:gridCol>
                <a:gridCol w="1047751">
                  <a:extLst>
                    <a:ext uri="{9D8B030D-6E8A-4147-A177-3AD203B41FA5}">
                      <a16:colId xmlns:a16="http://schemas.microsoft.com/office/drawing/2014/main" val="3959219217"/>
                    </a:ext>
                  </a:extLst>
                </a:gridCol>
              </a:tblGrid>
              <a:tr h="206944">
                <a:tc>
                  <a:txBody>
                    <a:bodyPr/>
                    <a:lstStyle/>
                    <a:p>
                      <a:pPr algn="ctr" fontAlgn="b">
                        <a:buNone/>
                      </a:pPr>
                      <a:r>
                        <a:rPr lang="en-US" sz="1400" b="1" u="none" strike="noStrike" dirty="0">
                          <a:solidFill>
                            <a:schemeClr val="bg1"/>
                          </a:solidFill>
                          <a:effectLst/>
                          <a:latin typeface="Times New Roman" panose="02020603050405020304" pitchFamily="18" charset="0"/>
                          <a:cs typeface="Times New Roman" panose="02020603050405020304" pitchFamily="18" charset="0"/>
                        </a:rPr>
                        <a:t>Games</a:t>
                      </a:r>
                      <a:endParaRPr lang="en-US" sz="14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400" b="1" u="none" strike="noStrike" dirty="0">
                          <a:solidFill>
                            <a:schemeClr val="bg1"/>
                          </a:solidFill>
                          <a:effectLst/>
                          <a:latin typeface="Times New Roman" panose="02020603050405020304" pitchFamily="18" charset="0"/>
                          <a:cs typeface="Times New Roman" panose="02020603050405020304" pitchFamily="18" charset="0"/>
                        </a:rPr>
                        <a:t>Year</a:t>
                      </a:r>
                      <a:endParaRPr lang="en-US" sz="14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400" b="1" u="none" strike="noStrike" dirty="0">
                          <a:solidFill>
                            <a:schemeClr val="bg1"/>
                          </a:solidFill>
                          <a:effectLst/>
                          <a:latin typeface="Times New Roman" panose="02020603050405020304" pitchFamily="18" charset="0"/>
                          <a:cs typeface="Times New Roman" panose="02020603050405020304" pitchFamily="18" charset="0"/>
                        </a:rPr>
                        <a:t>City, Country</a:t>
                      </a:r>
                      <a:endParaRPr lang="en-US" sz="14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US" sz="1400" b="1" u="none" strike="noStrike" dirty="0">
                          <a:solidFill>
                            <a:schemeClr val="bg1"/>
                          </a:solidFill>
                          <a:effectLst/>
                          <a:latin typeface="Times New Roman" panose="02020603050405020304" pitchFamily="18" charset="0"/>
                          <a:cs typeface="Times New Roman" panose="02020603050405020304" pitchFamily="18" charset="0"/>
                        </a:rPr>
                        <a:t>Continent</a:t>
                      </a:r>
                      <a:endParaRPr lang="en-US" sz="14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365091595"/>
                  </a:ext>
                </a:extLst>
              </a:tr>
              <a:tr h="238443">
                <a:tc>
                  <a:txBody>
                    <a:bodyPr/>
                    <a:lstStyle/>
                    <a:p>
                      <a:pPr algn="ctr" fontAlgn="ctr">
                        <a:buNone/>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I</a:t>
                      </a:r>
                    </a:p>
                  </a:txBody>
                  <a:tcPr marL="7620" marR="7620" marT="7620" marB="0" anchor="ctr"/>
                </a:tc>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1924</a:t>
                      </a:r>
                    </a:p>
                  </a:txBody>
                  <a:tcPr marL="7620" marR="7620" marT="7620" marB="0" anchor="ctr"/>
                </a:tc>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Chamonix, France</a:t>
                      </a:r>
                    </a:p>
                  </a:txBody>
                  <a:tcPr marL="7620" marR="7620" marT="7620" marB="0" anchor="ctr"/>
                </a:tc>
                <a:tc>
                  <a:txBody>
                    <a:bodyPr/>
                    <a:lstStyle/>
                    <a:p>
                      <a:pPr algn="ctr" fontAlgn="ctr">
                        <a:buNone/>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Europe</a:t>
                      </a:r>
                    </a:p>
                  </a:txBody>
                  <a:tcPr marL="7620" marR="7620" marT="7620" marB="0" anchor="ctr"/>
                </a:tc>
                <a:extLst>
                  <a:ext uri="{0D108BD9-81ED-4DB2-BD59-A6C34878D82A}">
                    <a16:rowId xmlns:a16="http://schemas.microsoft.com/office/drawing/2014/main" val="262370353"/>
                  </a:ext>
                </a:extLst>
              </a:tr>
              <a:tr h="238443">
                <a:tc>
                  <a:txBody>
                    <a:bodyPr/>
                    <a:lstStyle/>
                    <a:p>
                      <a:pPr algn="ctr" fontAlgn="ctr">
                        <a:buNone/>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II</a:t>
                      </a:r>
                    </a:p>
                  </a:txBody>
                  <a:tcPr marL="7620" marR="7620" marT="7620" marB="0" anchor="ctr"/>
                </a:tc>
                <a:tc>
                  <a:txBody>
                    <a:bodyPr/>
                    <a:lstStyle/>
                    <a:p>
                      <a:pPr algn="ctr" fontAlgn="ctr">
                        <a:buNone/>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1928</a:t>
                      </a:r>
                    </a:p>
                  </a:txBody>
                  <a:tcPr marL="7620" marR="7620" marT="7620" marB="0" anchor="ctr"/>
                </a:tc>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St. Moritz, Switzerland</a:t>
                      </a:r>
                    </a:p>
                  </a:txBody>
                  <a:tcPr marL="7620" marR="7620" marT="7620" marB="0" anchor="ctr"/>
                </a:tc>
                <a:tc>
                  <a:txBody>
                    <a:bodyPr/>
                    <a:lstStyle/>
                    <a:p>
                      <a:pPr algn="ctr" fontAlgn="ctr">
                        <a:buNone/>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Europe</a:t>
                      </a:r>
                    </a:p>
                  </a:txBody>
                  <a:tcPr marL="7620" marR="7620" marT="7620" marB="0" anchor="ctr"/>
                </a:tc>
                <a:extLst>
                  <a:ext uri="{0D108BD9-81ED-4DB2-BD59-A6C34878D82A}">
                    <a16:rowId xmlns:a16="http://schemas.microsoft.com/office/drawing/2014/main" val="4058687104"/>
                  </a:ext>
                </a:extLst>
              </a:tr>
              <a:tr h="238443">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III</a:t>
                      </a:r>
                    </a:p>
                  </a:txBody>
                  <a:tcPr marL="7620" marR="7620" marT="7620" marB="0" anchor="ctr"/>
                </a:tc>
                <a:tc>
                  <a:txBody>
                    <a:bodyPr/>
                    <a:lstStyle/>
                    <a:p>
                      <a:pPr algn="ctr" fontAlgn="ctr">
                        <a:buNone/>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1932</a:t>
                      </a:r>
                    </a:p>
                  </a:txBody>
                  <a:tcPr marL="7620" marR="7620" marT="7620" marB="0" anchor="ctr"/>
                </a:tc>
                <a:tc>
                  <a:txBody>
                    <a:bodyPr/>
                    <a:lstStyle/>
                    <a:p>
                      <a:pPr algn="ctr" fontAlgn="ctr">
                        <a:buNone/>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Lake Placid, United States</a:t>
                      </a:r>
                    </a:p>
                  </a:txBody>
                  <a:tcPr marL="7620" marR="7620" marT="7620" marB="0" anchor="ctr"/>
                </a:tc>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North America</a:t>
                      </a:r>
                    </a:p>
                  </a:txBody>
                  <a:tcPr marL="7620" marR="7620" marT="7620" marB="0" anchor="ctr"/>
                </a:tc>
                <a:extLst>
                  <a:ext uri="{0D108BD9-81ED-4DB2-BD59-A6C34878D82A}">
                    <a16:rowId xmlns:a16="http://schemas.microsoft.com/office/drawing/2014/main" val="1288988412"/>
                  </a:ext>
                </a:extLst>
              </a:tr>
              <a:tr h="407617">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IV</a:t>
                      </a:r>
                    </a:p>
                  </a:txBody>
                  <a:tcPr marL="7620" marR="7620" marT="7620" marB="0" anchor="ctr"/>
                </a:tc>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1936</a:t>
                      </a:r>
                    </a:p>
                  </a:txBody>
                  <a:tcPr marL="7620" marR="7620" marT="7620" marB="0" anchor="ctr"/>
                </a:tc>
                <a:tc>
                  <a:txBody>
                    <a:bodyPr/>
                    <a:lstStyle/>
                    <a:p>
                      <a:pPr algn="ctr" fontAlgn="ctr">
                        <a:buNone/>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Garmisch-Partenkirchen, Germany</a:t>
                      </a:r>
                    </a:p>
                  </a:txBody>
                  <a:tcPr marL="7620" marR="7620" marT="7620" marB="0" anchor="ctr"/>
                </a:tc>
                <a:tc>
                  <a:txBody>
                    <a:bodyPr/>
                    <a:lstStyle/>
                    <a:p>
                      <a:pPr algn="ctr" fontAlgn="ctr">
                        <a:buNone/>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Europe</a:t>
                      </a:r>
                    </a:p>
                  </a:txBody>
                  <a:tcPr marL="7620" marR="7620" marT="7620" marB="0" anchor="ctr"/>
                </a:tc>
                <a:extLst>
                  <a:ext uri="{0D108BD9-81ED-4DB2-BD59-A6C34878D82A}">
                    <a16:rowId xmlns:a16="http://schemas.microsoft.com/office/drawing/2014/main" val="1477487543"/>
                  </a:ext>
                </a:extLst>
              </a:tr>
              <a:tr h="238443">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V</a:t>
                      </a:r>
                    </a:p>
                  </a:txBody>
                  <a:tcPr marL="7620" marR="7620" marT="7620" marB="0" anchor="ctr"/>
                </a:tc>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1948</a:t>
                      </a:r>
                    </a:p>
                  </a:txBody>
                  <a:tcPr marL="7620" marR="7620" marT="7620" marB="0" anchor="ctr"/>
                </a:tc>
                <a:tc>
                  <a:txBody>
                    <a:bodyPr/>
                    <a:lstStyle/>
                    <a:p>
                      <a:pPr algn="ctr" fontAlgn="ctr">
                        <a:buNone/>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St. Moritz, Switzerland</a:t>
                      </a:r>
                    </a:p>
                  </a:txBody>
                  <a:tcPr marL="7620" marR="7620" marT="7620" marB="0" anchor="ctr"/>
                </a:tc>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Europe</a:t>
                      </a:r>
                    </a:p>
                  </a:txBody>
                  <a:tcPr marL="7620" marR="7620" marT="7620" marB="0" anchor="ctr"/>
                </a:tc>
                <a:extLst>
                  <a:ext uri="{0D108BD9-81ED-4DB2-BD59-A6C34878D82A}">
                    <a16:rowId xmlns:a16="http://schemas.microsoft.com/office/drawing/2014/main" val="423082493"/>
                  </a:ext>
                </a:extLst>
              </a:tr>
              <a:tr h="238443">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VI</a:t>
                      </a:r>
                    </a:p>
                  </a:txBody>
                  <a:tcPr marL="7620" marR="7620" marT="7620" marB="0" anchor="ctr"/>
                </a:tc>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1952</a:t>
                      </a:r>
                    </a:p>
                  </a:txBody>
                  <a:tcPr marL="7620" marR="7620" marT="7620" marB="0" anchor="ctr"/>
                </a:tc>
                <a:tc>
                  <a:txBody>
                    <a:bodyPr/>
                    <a:lstStyle/>
                    <a:p>
                      <a:pPr algn="ctr" fontAlgn="ctr">
                        <a:buNone/>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Oslo, Norway</a:t>
                      </a:r>
                    </a:p>
                  </a:txBody>
                  <a:tcPr marL="7620" marR="7620" marT="7620" marB="0" anchor="ctr"/>
                </a:tc>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Europe</a:t>
                      </a:r>
                    </a:p>
                  </a:txBody>
                  <a:tcPr marL="7620" marR="7620" marT="7620" marB="0" anchor="ctr"/>
                </a:tc>
                <a:extLst>
                  <a:ext uri="{0D108BD9-81ED-4DB2-BD59-A6C34878D82A}">
                    <a16:rowId xmlns:a16="http://schemas.microsoft.com/office/drawing/2014/main" val="3220277975"/>
                  </a:ext>
                </a:extLst>
              </a:tr>
              <a:tr h="238443">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VII</a:t>
                      </a:r>
                    </a:p>
                  </a:txBody>
                  <a:tcPr marL="7620" marR="7620" marT="7620" marB="0" anchor="ctr"/>
                </a:tc>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1956</a:t>
                      </a:r>
                    </a:p>
                  </a:txBody>
                  <a:tcPr marL="7620" marR="7620" marT="7620" marB="0" anchor="ctr"/>
                </a:tc>
                <a:tc>
                  <a:txBody>
                    <a:bodyPr/>
                    <a:lstStyle/>
                    <a:p>
                      <a:pPr algn="ctr" fontAlgn="ctr">
                        <a:buNone/>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Cortina </a:t>
                      </a:r>
                      <a:r>
                        <a:rPr lang="en-US" sz="1400" b="0" i="0" u="none" strike="noStrike" dirty="0" err="1">
                          <a:solidFill>
                            <a:srgbClr val="000000"/>
                          </a:solidFill>
                          <a:effectLst/>
                          <a:latin typeface="Times New Roman" panose="02020603050405020304" pitchFamily="18" charset="0"/>
                          <a:cs typeface="Times New Roman" panose="02020603050405020304" pitchFamily="18" charset="0"/>
                        </a:rPr>
                        <a:t>d'Ampezzo</a:t>
                      </a:r>
                      <a:r>
                        <a:rPr lang="en-US" sz="1400" b="0" i="0" u="none" strike="noStrike" dirty="0">
                          <a:solidFill>
                            <a:srgbClr val="000000"/>
                          </a:solidFill>
                          <a:effectLst/>
                          <a:latin typeface="Times New Roman" panose="02020603050405020304" pitchFamily="18" charset="0"/>
                          <a:cs typeface="Times New Roman" panose="02020603050405020304" pitchFamily="18" charset="0"/>
                        </a:rPr>
                        <a:t>, Italy</a:t>
                      </a:r>
                    </a:p>
                  </a:txBody>
                  <a:tcPr marL="7620" marR="7620" marT="7620" marB="0" anchor="ctr"/>
                </a:tc>
                <a:tc>
                  <a:txBody>
                    <a:bodyPr/>
                    <a:lstStyle/>
                    <a:p>
                      <a:pPr algn="ctr" fontAlgn="ctr">
                        <a:buNone/>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Europe</a:t>
                      </a:r>
                    </a:p>
                  </a:txBody>
                  <a:tcPr marL="7620" marR="7620" marT="7620" marB="0" anchor="ctr"/>
                </a:tc>
                <a:extLst>
                  <a:ext uri="{0D108BD9-81ED-4DB2-BD59-A6C34878D82A}">
                    <a16:rowId xmlns:a16="http://schemas.microsoft.com/office/drawing/2014/main" val="3715296144"/>
                  </a:ext>
                </a:extLst>
              </a:tr>
              <a:tr h="238443">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VIII</a:t>
                      </a:r>
                    </a:p>
                  </a:txBody>
                  <a:tcPr marL="7620" marR="7620" marT="7620" marB="0" anchor="ctr"/>
                </a:tc>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1960</a:t>
                      </a:r>
                    </a:p>
                  </a:txBody>
                  <a:tcPr marL="7620" marR="7620" marT="7620" marB="0" anchor="ctr"/>
                </a:tc>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Squaw Valley, United States</a:t>
                      </a:r>
                    </a:p>
                  </a:txBody>
                  <a:tcPr marL="7620" marR="7620" marT="7620" marB="0" anchor="ctr"/>
                </a:tc>
                <a:tc>
                  <a:txBody>
                    <a:bodyPr/>
                    <a:lstStyle/>
                    <a:p>
                      <a:pPr algn="ctr" fontAlgn="ctr">
                        <a:buNone/>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North America</a:t>
                      </a:r>
                    </a:p>
                  </a:txBody>
                  <a:tcPr marL="7620" marR="7620" marT="7620" marB="0" anchor="ctr"/>
                </a:tc>
                <a:extLst>
                  <a:ext uri="{0D108BD9-81ED-4DB2-BD59-A6C34878D82A}">
                    <a16:rowId xmlns:a16="http://schemas.microsoft.com/office/drawing/2014/main" val="3728316628"/>
                  </a:ext>
                </a:extLst>
              </a:tr>
              <a:tr h="238443">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IX</a:t>
                      </a:r>
                    </a:p>
                  </a:txBody>
                  <a:tcPr marL="7620" marR="7620" marT="7620" marB="0" anchor="ctr"/>
                </a:tc>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1964</a:t>
                      </a:r>
                    </a:p>
                  </a:txBody>
                  <a:tcPr marL="7620" marR="7620" marT="7620" marB="0" anchor="ctr"/>
                </a:tc>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Innsbruck, Austria</a:t>
                      </a:r>
                    </a:p>
                  </a:txBody>
                  <a:tcPr marL="7620" marR="7620" marT="7620" marB="0" anchor="ctr"/>
                </a:tc>
                <a:tc>
                  <a:txBody>
                    <a:bodyPr/>
                    <a:lstStyle/>
                    <a:p>
                      <a:pPr algn="ctr" fontAlgn="ctr">
                        <a:buNone/>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Europe</a:t>
                      </a:r>
                    </a:p>
                  </a:txBody>
                  <a:tcPr marL="7620" marR="7620" marT="7620" marB="0" anchor="ctr"/>
                </a:tc>
                <a:extLst>
                  <a:ext uri="{0D108BD9-81ED-4DB2-BD59-A6C34878D82A}">
                    <a16:rowId xmlns:a16="http://schemas.microsoft.com/office/drawing/2014/main" val="3761093690"/>
                  </a:ext>
                </a:extLst>
              </a:tr>
              <a:tr h="238443">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X</a:t>
                      </a:r>
                    </a:p>
                  </a:txBody>
                  <a:tcPr marL="7620" marR="7620" marT="7620" marB="0" anchor="ctr"/>
                </a:tc>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1968</a:t>
                      </a:r>
                    </a:p>
                  </a:txBody>
                  <a:tcPr marL="7620" marR="7620" marT="7620" marB="0" anchor="ctr"/>
                </a:tc>
                <a:tc>
                  <a:txBody>
                    <a:bodyPr/>
                    <a:lstStyle/>
                    <a:p>
                      <a:pPr algn="ctr" fontAlgn="ctr">
                        <a:buNone/>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Grenoble, France</a:t>
                      </a:r>
                    </a:p>
                  </a:txBody>
                  <a:tcPr marL="7620" marR="7620" marT="7620" marB="0" anchor="ctr"/>
                </a:tc>
                <a:tc>
                  <a:txBody>
                    <a:bodyPr/>
                    <a:lstStyle/>
                    <a:p>
                      <a:pPr algn="ctr" fontAlgn="ctr">
                        <a:buNone/>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Europe</a:t>
                      </a:r>
                    </a:p>
                  </a:txBody>
                  <a:tcPr marL="7620" marR="7620" marT="7620" marB="0" anchor="ctr"/>
                </a:tc>
                <a:extLst>
                  <a:ext uri="{0D108BD9-81ED-4DB2-BD59-A6C34878D82A}">
                    <a16:rowId xmlns:a16="http://schemas.microsoft.com/office/drawing/2014/main" val="690443604"/>
                  </a:ext>
                </a:extLst>
              </a:tr>
              <a:tr h="238443">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XI</a:t>
                      </a:r>
                    </a:p>
                  </a:txBody>
                  <a:tcPr marL="7620" marR="7620" marT="7620" marB="0" anchor="ctr"/>
                </a:tc>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1972</a:t>
                      </a:r>
                    </a:p>
                  </a:txBody>
                  <a:tcPr marL="7620" marR="7620" marT="7620" marB="0" anchor="ctr"/>
                </a:tc>
                <a:tc>
                  <a:txBody>
                    <a:bodyPr/>
                    <a:lstStyle/>
                    <a:p>
                      <a:pPr algn="ctr" fontAlgn="ctr">
                        <a:buNone/>
                      </a:pPr>
                      <a:r>
                        <a:rPr lang="en-US" sz="1400" b="0" i="0" u="none" strike="noStrike">
                          <a:solidFill>
                            <a:srgbClr val="000000"/>
                          </a:solidFill>
                          <a:effectLst/>
                          <a:latin typeface="Times New Roman" panose="02020603050405020304" pitchFamily="18" charset="0"/>
                          <a:cs typeface="Times New Roman" panose="02020603050405020304" pitchFamily="18" charset="0"/>
                        </a:rPr>
                        <a:t>Sapporo, Japan</a:t>
                      </a:r>
                    </a:p>
                  </a:txBody>
                  <a:tcPr marL="7620" marR="7620" marT="7620" marB="0" anchor="ctr"/>
                </a:tc>
                <a:tc>
                  <a:txBody>
                    <a:bodyPr/>
                    <a:lstStyle/>
                    <a:p>
                      <a:pPr algn="ctr" fontAlgn="ctr">
                        <a:buNone/>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Asia</a:t>
                      </a:r>
                    </a:p>
                  </a:txBody>
                  <a:tcPr marL="7620" marR="7620" marT="7620" marB="0" anchor="ctr"/>
                </a:tc>
                <a:extLst>
                  <a:ext uri="{0D108BD9-81ED-4DB2-BD59-A6C34878D82A}">
                    <a16:rowId xmlns:a16="http://schemas.microsoft.com/office/drawing/2014/main" val="2644513106"/>
                  </a:ext>
                </a:extLst>
              </a:tr>
            </a:tbl>
          </a:graphicData>
        </a:graphic>
      </p:graphicFrame>
      <p:sp>
        <p:nvSpPr>
          <p:cNvPr id="12" name="Subtitle 2">
            <a:extLst>
              <a:ext uri="{FF2B5EF4-FFF2-40B4-BE49-F238E27FC236}">
                <a16:creationId xmlns:a16="http://schemas.microsoft.com/office/drawing/2014/main" id="{B6254F98-E437-ACF3-0656-F7902E00BD63}"/>
              </a:ext>
            </a:extLst>
          </p:cNvPr>
          <p:cNvSpPr txBox="1">
            <a:spLocks/>
          </p:cNvSpPr>
          <p:nvPr/>
        </p:nvSpPr>
        <p:spPr>
          <a:xfrm>
            <a:off x="9288780" y="2383281"/>
            <a:ext cx="3020133" cy="998216"/>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dirty="0">
                <a:latin typeface="Times New Roman" panose="02020603050405020304" pitchFamily="18" charset="0"/>
                <a:cs typeface="Times New Roman" panose="02020603050405020304" pitchFamily="18" charset="0"/>
              </a:rPr>
              <a:t>If we try to make a </a:t>
            </a:r>
            <a:r>
              <a:rPr lang="en-US" sz="2000" b="1" dirty="0">
                <a:latin typeface="Times New Roman" panose="02020603050405020304" pitchFamily="18" charset="0"/>
                <a:cs typeface="Times New Roman" panose="02020603050405020304" pitchFamily="18" charset="0"/>
              </a:rPr>
              <a:t>frequency table </a:t>
            </a:r>
            <a:r>
              <a:rPr lang="en-US" sz="2000" dirty="0">
                <a:latin typeface="Times New Roman" panose="02020603050405020304" pitchFamily="18" charset="0"/>
                <a:cs typeface="Times New Roman" panose="02020603050405020304" pitchFamily="18" charset="0"/>
              </a:rPr>
              <a:t>first of this information, we get:</a:t>
            </a:r>
          </a:p>
        </p:txBody>
      </p:sp>
      <p:graphicFrame>
        <p:nvGraphicFramePr>
          <p:cNvPr id="13" name="Table 12">
            <a:extLst>
              <a:ext uri="{FF2B5EF4-FFF2-40B4-BE49-F238E27FC236}">
                <a16:creationId xmlns:a16="http://schemas.microsoft.com/office/drawing/2014/main" id="{8A19B054-2C62-9C37-8868-347B7D79674B}"/>
              </a:ext>
            </a:extLst>
          </p:cNvPr>
          <p:cNvGraphicFramePr>
            <a:graphicFrameLocks noGrp="1"/>
          </p:cNvGraphicFramePr>
          <p:nvPr>
            <p:extLst>
              <p:ext uri="{D42A27DB-BD31-4B8C-83A1-F6EECF244321}">
                <p14:modId xmlns:p14="http://schemas.microsoft.com/office/powerpoint/2010/main" val="3129468976"/>
              </p:ext>
            </p:extLst>
          </p:nvPr>
        </p:nvGraphicFramePr>
        <p:xfrm>
          <a:off x="9601236" y="3540090"/>
          <a:ext cx="2395220" cy="1801192"/>
        </p:xfrm>
        <a:graphic>
          <a:graphicData uri="http://schemas.openxmlformats.org/drawingml/2006/table">
            <a:tbl>
              <a:tblPr firstRow="1" bandRow="1">
                <a:tableStyleId>{073A0DAA-6AF3-43AB-8588-CEC1D06C72B9}</a:tableStyleId>
              </a:tblPr>
              <a:tblGrid>
                <a:gridCol w="1582044">
                  <a:extLst>
                    <a:ext uri="{9D8B030D-6E8A-4147-A177-3AD203B41FA5}">
                      <a16:colId xmlns:a16="http://schemas.microsoft.com/office/drawing/2014/main" val="947388362"/>
                    </a:ext>
                  </a:extLst>
                </a:gridCol>
                <a:gridCol w="813176">
                  <a:extLst>
                    <a:ext uri="{9D8B030D-6E8A-4147-A177-3AD203B41FA5}">
                      <a16:colId xmlns:a16="http://schemas.microsoft.com/office/drawing/2014/main" val="1987784887"/>
                    </a:ext>
                  </a:extLst>
                </a:gridCol>
              </a:tblGrid>
              <a:tr h="450298">
                <a:tc>
                  <a:txBody>
                    <a:bodyPr/>
                    <a:lstStyle/>
                    <a:p>
                      <a:pPr algn="ctr"/>
                      <a:r>
                        <a:rPr lang="en-US" dirty="0">
                          <a:latin typeface="Times New Roman" panose="02020603050405020304" pitchFamily="18" charset="0"/>
                          <a:cs typeface="Times New Roman" panose="02020603050405020304" pitchFamily="18" charset="0"/>
                        </a:rPr>
                        <a:t>Continent</a:t>
                      </a:r>
                    </a:p>
                  </a:txBody>
                  <a:tcPr/>
                </a:tc>
                <a:tc>
                  <a:txBody>
                    <a:bodyPr/>
                    <a:lstStyle/>
                    <a:p>
                      <a:pPr algn="ctr"/>
                      <a:r>
                        <a:rPr lang="en-US" dirty="0">
                          <a:latin typeface="Times New Roman" panose="02020603050405020304" pitchFamily="18" charset="0"/>
                          <a:cs typeface="Times New Roman" panose="02020603050405020304" pitchFamily="18" charset="0"/>
                        </a:rPr>
                        <a:t>Count</a:t>
                      </a:r>
                    </a:p>
                  </a:txBody>
                  <a:tcPr/>
                </a:tc>
                <a:extLst>
                  <a:ext uri="{0D108BD9-81ED-4DB2-BD59-A6C34878D82A}">
                    <a16:rowId xmlns:a16="http://schemas.microsoft.com/office/drawing/2014/main" val="2015719926"/>
                  </a:ext>
                </a:extLst>
              </a:tr>
              <a:tr h="450298">
                <a:tc>
                  <a:txBody>
                    <a:bodyPr/>
                    <a:lstStyle/>
                    <a:p>
                      <a:pPr algn="ctr"/>
                      <a:r>
                        <a:rPr lang="en-US" dirty="0">
                          <a:latin typeface="Times New Roman" panose="02020603050405020304" pitchFamily="18" charset="0"/>
                          <a:cs typeface="Times New Roman" panose="02020603050405020304" pitchFamily="18" charset="0"/>
                        </a:rPr>
                        <a:t>Europe</a:t>
                      </a:r>
                    </a:p>
                  </a:txBody>
                  <a:tcPr/>
                </a:tc>
                <a:tc>
                  <a:txBody>
                    <a:bodyPr/>
                    <a:lstStyle/>
                    <a:p>
                      <a:pPr algn="ctr"/>
                      <a:r>
                        <a:rPr lang="en-US" dirty="0">
                          <a:latin typeface="Times New Roman" panose="02020603050405020304" pitchFamily="18" charset="0"/>
                          <a:cs typeface="Times New Roman" panose="02020603050405020304" pitchFamily="18" charset="0"/>
                        </a:rPr>
                        <a:t>14</a:t>
                      </a:r>
                    </a:p>
                  </a:txBody>
                  <a:tcPr/>
                </a:tc>
                <a:extLst>
                  <a:ext uri="{0D108BD9-81ED-4DB2-BD59-A6C34878D82A}">
                    <a16:rowId xmlns:a16="http://schemas.microsoft.com/office/drawing/2014/main" val="2711746947"/>
                  </a:ext>
                </a:extLst>
              </a:tr>
              <a:tr h="450298">
                <a:tc>
                  <a:txBody>
                    <a:bodyPr/>
                    <a:lstStyle/>
                    <a:p>
                      <a:pPr algn="ctr"/>
                      <a:r>
                        <a:rPr lang="en-US" dirty="0">
                          <a:latin typeface="Times New Roman" panose="02020603050405020304" pitchFamily="18" charset="0"/>
                          <a:cs typeface="Times New Roman" panose="02020603050405020304" pitchFamily="18" charset="0"/>
                        </a:rPr>
                        <a:t>North America</a:t>
                      </a:r>
                    </a:p>
                  </a:txBody>
                  <a:tcPr/>
                </a:tc>
                <a:tc>
                  <a:txBody>
                    <a:bodyPr/>
                    <a:lstStyle/>
                    <a:p>
                      <a:pPr algn="ctr"/>
                      <a:r>
                        <a:rPr lang="en-US" dirty="0">
                          <a:latin typeface="Times New Roman" panose="02020603050405020304" pitchFamily="18" charset="0"/>
                          <a:cs typeface="Times New Roman" panose="02020603050405020304" pitchFamily="18" charset="0"/>
                        </a:rPr>
                        <a:t>6</a:t>
                      </a:r>
                    </a:p>
                  </a:txBody>
                  <a:tcPr/>
                </a:tc>
                <a:extLst>
                  <a:ext uri="{0D108BD9-81ED-4DB2-BD59-A6C34878D82A}">
                    <a16:rowId xmlns:a16="http://schemas.microsoft.com/office/drawing/2014/main" val="845512285"/>
                  </a:ext>
                </a:extLst>
              </a:tr>
              <a:tr h="450298">
                <a:tc>
                  <a:txBody>
                    <a:bodyPr/>
                    <a:lstStyle/>
                    <a:p>
                      <a:pPr algn="ctr"/>
                      <a:r>
                        <a:rPr lang="en-US" dirty="0">
                          <a:latin typeface="Times New Roman" panose="02020603050405020304" pitchFamily="18" charset="0"/>
                          <a:cs typeface="Times New Roman" panose="02020603050405020304" pitchFamily="18" charset="0"/>
                        </a:rPr>
                        <a:t>Asia</a:t>
                      </a:r>
                    </a:p>
                  </a:txBody>
                  <a:tcPr/>
                </a:tc>
                <a:tc>
                  <a:txBody>
                    <a:bodyPr/>
                    <a:lstStyle/>
                    <a:p>
                      <a:pPr algn="ctr"/>
                      <a:r>
                        <a:rPr lang="en-US" dirty="0">
                          <a:latin typeface="Times New Roman" panose="02020603050405020304" pitchFamily="18" charset="0"/>
                          <a:cs typeface="Times New Roman" panose="02020603050405020304" pitchFamily="18" charset="0"/>
                        </a:rPr>
                        <a:t>3</a:t>
                      </a:r>
                    </a:p>
                  </a:txBody>
                  <a:tcPr/>
                </a:tc>
                <a:extLst>
                  <a:ext uri="{0D108BD9-81ED-4DB2-BD59-A6C34878D82A}">
                    <a16:rowId xmlns:a16="http://schemas.microsoft.com/office/drawing/2014/main" val="4004793975"/>
                  </a:ext>
                </a:extLst>
              </a:tr>
            </a:tbl>
          </a:graphicData>
        </a:graphic>
      </p:graphicFrame>
      <p:sp>
        <p:nvSpPr>
          <p:cNvPr id="14" name="Subtitle 2">
            <a:extLst>
              <a:ext uri="{FF2B5EF4-FFF2-40B4-BE49-F238E27FC236}">
                <a16:creationId xmlns:a16="http://schemas.microsoft.com/office/drawing/2014/main" id="{FB961D66-A048-5238-7648-522FD447792E}"/>
              </a:ext>
            </a:extLst>
          </p:cNvPr>
          <p:cNvSpPr txBox="1">
            <a:spLocks/>
          </p:cNvSpPr>
          <p:nvPr/>
        </p:nvSpPr>
        <p:spPr>
          <a:xfrm>
            <a:off x="2971799" y="5785733"/>
            <a:ext cx="6248400" cy="313908"/>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dirty="0">
                <a:latin typeface="Times New Roman" panose="02020603050405020304" pitchFamily="18" charset="0"/>
                <a:cs typeface="Times New Roman" panose="02020603050405020304" pitchFamily="18" charset="0"/>
              </a:rPr>
              <a:t>Then we can make the </a:t>
            </a:r>
            <a:r>
              <a:rPr lang="en-US" sz="2000" b="1" dirty="0">
                <a:latin typeface="Times New Roman" panose="02020603050405020304" pitchFamily="18" charset="0"/>
                <a:cs typeface="Times New Roman" panose="02020603050405020304" pitchFamily="18" charset="0"/>
              </a:rPr>
              <a:t>bar graph </a:t>
            </a:r>
            <a:r>
              <a:rPr lang="en-US" sz="2000" dirty="0">
                <a:latin typeface="Times New Roman" panose="02020603050405020304" pitchFamily="18" charset="0"/>
                <a:cs typeface="Times New Roman" panose="02020603050405020304" pitchFamily="18" charset="0"/>
              </a:rPr>
              <a:t>and the </a:t>
            </a:r>
            <a:r>
              <a:rPr lang="en-US" sz="2000" b="1" dirty="0">
                <a:latin typeface="Times New Roman" panose="02020603050405020304" pitchFamily="18" charset="0"/>
                <a:cs typeface="Times New Roman" panose="02020603050405020304" pitchFamily="18" charset="0"/>
              </a:rPr>
              <a:t>pie chart</a:t>
            </a:r>
            <a:r>
              <a:rPr lang="en-US" sz="2000" dirty="0">
                <a:latin typeface="Times New Roman" panose="02020603050405020304" pitchFamily="18" charset="0"/>
                <a:cs typeface="Times New Roman" panose="02020603050405020304" pitchFamily="18" charset="0"/>
              </a:rPr>
              <a:t>.</a:t>
            </a:r>
          </a:p>
        </p:txBody>
      </p:sp>
      <p:grpSp>
        <p:nvGrpSpPr>
          <p:cNvPr id="4" name="Group 3">
            <a:extLst>
              <a:ext uri="{FF2B5EF4-FFF2-40B4-BE49-F238E27FC236}">
                <a16:creationId xmlns:a16="http://schemas.microsoft.com/office/drawing/2014/main" id="{F481D9C2-2974-8BF6-02F8-3F4F6677FA8F}"/>
              </a:ext>
            </a:extLst>
          </p:cNvPr>
          <p:cNvGrpSpPr/>
          <p:nvPr/>
        </p:nvGrpSpPr>
        <p:grpSpPr>
          <a:xfrm>
            <a:off x="0" y="6544092"/>
            <a:ext cx="12192000" cy="313908"/>
            <a:chOff x="0" y="6544092"/>
            <a:chExt cx="12192000" cy="313908"/>
          </a:xfrm>
        </p:grpSpPr>
        <p:sp>
          <p:nvSpPr>
            <p:cNvPr id="7" name="Rectangle 6">
              <a:extLst>
                <a:ext uri="{FF2B5EF4-FFF2-40B4-BE49-F238E27FC236}">
                  <a16:creationId xmlns:a16="http://schemas.microsoft.com/office/drawing/2014/main" id="{A7A45EFF-FF79-7714-AE14-BE2BAC2F4B92}"/>
                </a:ext>
              </a:extLst>
            </p:cNvPr>
            <p:cNvSpPr/>
            <p:nvPr/>
          </p:nvSpPr>
          <p:spPr>
            <a:xfrm>
              <a:off x="0" y="6544092"/>
              <a:ext cx="12192000" cy="31390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8" name="TextBox 10">
              <a:extLst>
                <a:ext uri="{FF2B5EF4-FFF2-40B4-BE49-F238E27FC236}">
                  <a16:creationId xmlns:a16="http://schemas.microsoft.com/office/drawing/2014/main" id="{8C274205-BA40-D378-D6E5-EA34EFCACF70}"/>
                </a:ext>
              </a:extLst>
            </p:cNvPr>
            <p:cNvSpPr txBox="1"/>
            <p:nvPr/>
          </p:nvSpPr>
          <p:spPr>
            <a:xfrm>
              <a:off x="109932" y="6577518"/>
              <a:ext cx="2794997" cy="247055"/>
            </a:xfrm>
            <a:prstGeom prst="rect">
              <a:avLst/>
            </a:prstGeom>
            <a:noFill/>
          </p:spPr>
          <p:txBody>
            <a:bodyPr lIns="0" tIns="0" rIns="0" bIns="0" rtlCol="0" anchor="ctr">
              <a:spAutoFit/>
            </a:bodyPr>
            <a:lstStyle/>
            <a:p>
              <a:pPr algn="just">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ENGR. VIOLDAN E. BAYOCOT</a:t>
              </a:r>
            </a:p>
          </p:txBody>
        </p:sp>
        <p:sp>
          <p:nvSpPr>
            <p:cNvPr id="9" name="TextBox 8">
              <a:extLst>
                <a:ext uri="{FF2B5EF4-FFF2-40B4-BE49-F238E27FC236}">
                  <a16:creationId xmlns:a16="http://schemas.microsoft.com/office/drawing/2014/main" id="{06A84461-E1F4-C40E-5EA2-EDDF231EF224}"/>
                </a:ext>
              </a:extLst>
            </p:cNvPr>
            <p:cNvSpPr txBox="1"/>
            <p:nvPr/>
          </p:nvSpPr>
          <p:spPr>
            <a:xfrm>
              <a:off x="3158929" y="6577518"/>
              <a:ext cx="5433668" cy="248145"/>
            </a:xfrm>
            <a:prstGeom prst="rect">
              <a:avLst/>
            </a:prstGeom>
            <a:noFill/>
          </p:spPr>
          <p:txBody>
            <a:bodyPr wrap="square" lIns="0" tIns="0" rIns="0" bIns="0" rtlCol="0" anchor="t">
              <a:spAutoFit/>
            </a:bodyPr>
            <a:lstStyle/>
            <a:p>
              <a:pPr algn="ct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[Krista K.] BECOME A PROBABILITY &amp; STATISTICS MASTER</a:t>
              </a:r>
            </a:p>
          </p:txBody>
        </p:sp>
        <p:sp>
          <p:nvSpPr>
            <p:cNvPr id="10" name="TextBox 9">
              <a:extLst>
                <a:ext uri="{FF2B5EF4-FFF2-40B4-BE49-F238E27FC236}">
                  <a16:creationId xmlns:a16="http://schemas.microsoft.com/office/drawing/2014/main" id="{C065DDA9-0915-C889-FD98-BD8D04B4CF1A}"/>
                </a:ext>
              </a:extLst>
            </p:cNvPr>
            <p:cNvSpPr txBox="1"/>
            <p:nvPr/>
          </p:nvSpPr>
          <p:spPr>
            <a:xfrm>
              <a:off x="8387007" y="6577518"/>
              <a:ext cx="3701763" cy="248145"/>
            </a:xfrm>
            <a:prstGeom prst="rect">
              <a:avLst/>
            </a:prstGeom>
            <a:noFill/>
          </p:spPr>
          <p:txBody>
            <a:bodyPr wrap="square" lIns="0" tIns="0" rIns="0" bIns="0" rtlCol="0" anchor="t">
              <a:spAutoFit/>
            </a:bodyPr>
            <a:lstStyle/>
            <a:p>
              <a:pPr algn="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QUANTITATIVE METHODS</a:t>
              </a:r>
            </a:p>
          </p:txBody>
        </p:sp>
      </p:grpSp>
    </p:spTree>
    <p:extLst>
      <p:ext uri="{BB962C8B-B14F-4D97-AF65-F5344CB8AC3E}">
        <p14:creationId xmlns:p14="http://schemas.microsoft.com/office/powerpoint/2010/main" val="38580843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DEA9-846E-B50B-B7B7-0AE653AE484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B5F9154-E864-489A-14B9-8499503D1CEC}"/>
              </a:ext>
            </a:extLst>
          </p:cNvPr>
          <p:cNvSpPr/>
          <p:nvPr/>
        </p:nvSpPr>
        <p:spPr>
          <a:xfrm>
            <a:off x="0" y="0"/>
            <a:ext cx="12192000" cy="548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sz="3000"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CF383F7-DCF6-0225-9A69-D17431C9CC80}"/>
              </a:ext>
            </a:extLst>
          </p:cNvPr>
          <p:cNvSpPr txBox="1">
            <a:spLocks/>
          </p:cNvSpPr>
          <p:nvPr/>
        </p:nvSpPr>
        <p:spPr>
          <a:xfrm>
            <a:off x="0" y="0"/>
            <a:ext cx="12191998" cy="548641"/>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PH" sz="3000" b="1" dirty="0">
                <a:solidFill>
                  <a:schemeClr val="bg1"/>
                </a:solidFill>
                <a:latin typeface="Times New Roman" panose="02020603050405020304" pitchFamily="18" charset="0"/>
                <a:cs typeface="Times New Roman" panose="02020603050405020304" pitchFamily="18" charset="0"/>
              </a:rPr>
              <a:t>WINTER GAMES DATASET - EXAMPLE</a:t>
            </a:r>
            <a:endParaRPr lang="en-PH" sz="3000" b="1" dirty="0">
              <a:solidFill>
                <a:schemeClr val="bg1"/>
              </a:solidFill>
              <a:latin typeface="Courier New" panose="02070309020205020404" pitchFamily="49" charset="0"/>
              <a:cs typeface="Courier New" panose="02070309020205020404" pitchFamily="49" charset="0"/>
            </a:endParaRPr>
          </a:p>
        </p:txBody>
      </p:sp>
      <p:graphicFrame>
        <p:nvGraphicFramePr>
          <p:cNvPr id="13" name="Table 12">
            <a:extLst>
              <a:ext uri="{FF2B5EF4-FFF2-40B4-BE49-F238E27FC236}">
                <a16:creationId xmlns:a16="http://schemas.microsoft.com/office/drawing/2014/main" id="{5C80230E-F67E-B672-32B9-E69DB0CE8D9A}"/>
              </a:ext>
            </a:extLst>
          </p:cNvPr>
          <p:cNvGraphicFramePr>
            <a:graphicFrameLocks noGrp="1"/>
          </p:cNvGraphicFramePr>
          <p:nvPr>
            <p:extLst>
              <p:ext uri="{D42A27DB-BD31-4B8C-83A1-F6EECF244321}">
                <p14:modId xmlns:p14="http://schemas.microsoft.com/office/powerpoint/2010/main" val="3479350488"/>
              </p:ext>
            </p:extLst>
          </p:nvPr>
        </p:nvGraphicFramePr>
        <p:xfrm>
          <a:off x="5132923" y="758359"/>
          <a:ext cx="1926152" cy="1219200"/>
        </p:xfrm>
        <a:graphic>
          <a:graphicData uri="http://schemas.openxmlformats.org/drawingml/2006/table">
            <a:tbl>
              <a:tblPr firstRow="1" bandRow="1">
                <a:tableStyleId>{073A0DAA-6AF3-43AB-8588-CEC1D06C72B9}</a:tableStyleId>
              </a:tblPr>
              <a:tblGrid>
                <a:gridCol w="1263212">
                  <a:extLst>
                    <a:ext uri="{9D8B030D-6E8A-4147-A177-3AD203B41FA5}">
                      <a16:colId xmlns:a16="http://schemas.microsoft.com/office/drawing/2014/main" val="947388362"/>
                    </a:ext>
                  </a:extLst>
                </a:gridCol>
                <a:gridCol w="662940">
                  <a:extLst>
                    <a:ext uri="{9D8B030D-6E8A-4147-A177-3AD203B41FA5}">
                      <a16:colId xmlns:a16="http://schemas.microsoft.com/office/drawing/2014/main" val="1987784887"/>
                    </a:ext>
                  </a:extLst>
                </a:gridCol>
              </a:tblGrid>
              <a:tr h="275123">
                <a:tc>
                  <a:txBody>
                    <a:bodyPr/>
                    <a:lstStyle/>
                    <a:p>
                      <a:pPr algn="ctr"/>
                      <a:r>
                        <a:rPr lang="en-US" sz="1400" dirty="0">
                          <a:latin typeface="Times New Roman" panose="02020603050405020304" pitchFamily="18" charset="0"/>
                          <a:cs typeface="Times New Roman" panose="02020603050405020304" pitchFamily="18" charset="0"/>
                        </a:rPr>
                        <a:t>Continent</a:t>
                      </a:r>
                    </a:p>
                  </a:txBody>
                  <a:tcPr/>
                </a:tc>
                <a:tc>
                  <a:txBody>
                    <a:bodyPr/>
                    <a:lstStyle/>
                    <a:p>
                      <a:pPr algn="ctr"/>
                      <a:r>
                        <a:rPr lang="en-US" sz="1400" dirty="0">
                          <a:latin typeface="Times New Roman" panose="02020603050405020304" pitchFamily="18" charset="0"/>
                          <a:cs typeface="Times New Roman" panose="02020603050405020304" pitchFamily="18" charset="0"/>
                        </a:rPr>
                        <a:t>Count</a:t>
                      </a:r>
                    </a:p>
                  </a:txBody>
                  <a:tcPr/>
                </a:tc>
                <a:extLst>
                  <a:ext uri="{0D108BD9-81ED-4DB2-BD59-A6C34878D82A}">
                    <a16:rowId xmlns:a16="http://schemas.microsoft.com/office/drawing/2014/main" val="2015719926"/>
                  </a:ext>
                </a:extLst>
              </a:tr>
              <a:tr h="275123">
                <a:tc>
                  <a:txBody>
                    <a:bodyPr/>
                    <a:lstStyle/>
                    <a:p>
                      <a:pPr algn="ctr"/>
                      <a:r>
                        <a:rPr lang="en-US" sz="1400" dirty="0">
                          <a:latin typeface="Times New Roman" panose="02020603050405020304" pitchFamily="18" charset="0"/>
                          <a:cs typeface="Times New Roman" panose="02020603050405020304" pitchFamily="18" charset="0"/>
                        </a:rPr>
                        <a:t>Europe</a:t>
                      </a:r>
                    </a:p>
                  </a:txBody>
                  <a:tcPr/>
                </a:tc>
                <a:tc>
                  <a:txBody>
                    <a:bodyPr/>
                    <a:lstStyle/>
                    <a:p>
                      <a:pPr algn="ctr"/>
                      <a:r>
                        <a:rPr lang="en-US" sz="1400" dirty="0">
                          <a:latin typeface="Times New Roman" panose="02020603050405020304" pitchFamily="18" charset="0"/>
                          <a:cs typeface="Times New Roman" panose="02020603050405020304" pitchFamily="18" charset="0"/>
                        </a:rPr>
                        <a:t>14</a:t>
                      </a:r>
                    </a:p>
                  </a:txBody>
                  <a:tcPr/>
                </a:tc>
                <a:extLst>
                  <a:ext uri="{0D108BD9-81ED-4DB2-BD59-A6C34878D82A}">
                    <a16:rowId xmlns:a16="http://schemas.microsoft.com/office/drawing/2014/main" val="2711746947"/>
                  </a:ext>
                </a:extLst>
              </a:tr>
              <a:tr h="275123">
                <a:tc>
                  <a:txBody>
                    <a:bodyPr/>
                    <a:lstStyle/>
                    <a:p>
                      <a:pPr algn="ctr"/>
                      <a:r>
                        <a:rPr lang="en-US" sz="1400" dirty="0">
                          <a:latin typeface="Times New Roman" panose="02020603050405020304" pitchFamily="18" charset="0"/>
                          <a:cs typeface="Times New Roman" panose="02020603050405020304" pitchFamily="18" charset="0"/>
                        </a:rPr>
                        <a:t>North America</a:t>
                      </a:r>
                    </a:p>
                  </a:txBody>
                  <a:tcPr/>
                </a:tc>
                <a:tc>
                  <a:txBody>
                    <a:bodyPr/>
                    <a:lstStyle/>
                    <a:p>
                      <a:pPr algn="ctr"/>
                      <a:r>
                        <a:rPr lang="en-US" sz="1400" dirty="0">
                          <a:latin typeface="Times New Roman" panose="02020603050405020304" pitchFamily="18" charset="0"/>
                          <a:cs typeface="Times New Roman" panose="02020603050405020304" pitchFamily="18" charset="0"/>
                        </a:rPr>
                        <a:t>6</a:t>
                      </a:r>
                    </a:p>
                  </a:txBody>
                  <a:tcPr/>
                </a:tc>
                <a:extLst>
                  <a:ext uri="{0D108BD9-81ED-4DB2-BD59-A6C34878D82A}">
                    <a16:rowId xmlns:a16="http://schemas.microsoft.com/office/drawing/2014/main" val="845512285"/>
                  </a:ext>
                </a:extLst>
              </a:tr>
              <a:tr h="275123">
                <a:tc>
                  <a:txBody>
                    <a:bodyPr/>
                    <a:lstStyle/>
                    <a:p>
                      <a:pPr algn="ctr"/>
                      <a:r>
                        <a:rPr lang="en-US" sz="1400" dirty="0">
                          <a:latin typeface="Times New Roman" panose="02020603050405020304" pitchFamily="18" charset="0"/>
                          <a:cs typeface="Times New Roman" panose="02020603050405020304" pitchFamily="18" charset="0"/>
                        </a:rPr>
                        <a:t>Asia</a:t>
                      </a:r>
                    </a:p>
                  </a:txBody>
                  <a:tcPr/>
                </a:tc>
                <a:tc>
                  <a:txBody>
                    <a:bodyPr/>
                    <a:lstStyle/>
                    <a:p>
                      <a:pPr algn="ctr"/>
                      <a:r>
                        <a:rPr lang="en-US" sz="1400" dirty="0">
                          <a:latin typeface="Times New Roman" panose="02020603050405020304" pitchFamily="18" charset="0"/>
                          <a:cs typeface="Times New Roman" panose="02020603050405020304" pitchFamily="18" charset="0"/>
                        </a:rPr>
                        <a:t>3</a:t>
                      </a:r>
                    </a:p>
                  </a:txBody>
                  <a:tcPr/>
                </a:tc>
                <a:extLst>
                  <a:ext uri="{0D108BD9-81ED-4DB2-BD59-A6C34878D82A}">
                    <a16:rowId xmlns:a16="http://schemas.microsoft.com/office/drawing/2014/main" val="4004793975"/>
                  </a:ext>
                </a:extLst>
              </a:tr>
            </a:tbl>
          </a:graphicData>
        </a:graphic>
      </p:graphicFrame>
      <p:sp>
        <p:nvSpPr>
          <p:cNvPr id="14" name="Subtitle 2">
            <a:extLst>
              <a:ext uri="{FF2B5EF4-FFF2-40B4-BE49-F238E27FC236}">
                <a16:creationId xmlns:a16="http://schemas.microsoft.com/office/drawing/2014/main" id="{C252085A-0E61-3E4B-6974-39FF5713390A}"/>
              </a:ext>
            </a:extLst>
          </p:cNvPr>
          <p:cNvSpPr txBox="1">
            <a:spLocks/>
          </p:cNvSpPr>
          <p:nvPr/>
        </p:nvSpPr>
        <p:spPr>
          <a:xfrm>
            <a:off x="2971799" y="2030323"/>
            <a:ext cx="6248400" cy="313908"/>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800" dirty="0">
                <a:latin typeface="Times New Roman" panose="02020603050405020304" pitchFamily="18" charset="0"/>
                <a:cs typeface="Times New Roman" panose="02020603050405020304" pitchFamily="18" charset="0"/>
              </a:rPr>
              <a:t>Then we can make the </a:t>
            </a:r>
            <a:r>
              <a:rPr lang="en-US" sz="1800" b="1" dirty="0">
                <a:latin typeface="Times New Roman" panose="02020603050405020304" pitchFamily="18" charset="0"/>
                <a:cs typeface="Times New Roman" panose="02020603050405020304" pitchFamily="18" charset="0"/>
              </a:rPr>
              <a:t>bar graph </a:t>
            </a:r>
            <a:r>
              <a:rPr lang="en-US" sz="1800" dirty="0">
                <a:latin typeface="Times New Roman" panose="02020603050405020304" pitchFamily="18" charset="0"/>
                <a:cs typeface="Times New Roman" panose="02020603050405020304" pitchFamily="18" charset="0"/>
              </a:rPr>
              <a:t>and the </a:t>
            </a:r>
            <a:r>
              <a:rPr lang="en-US" sz="1800" b="1" dirty="0">
                <a:latin typeface="Times New Roman" panose="02020603050405020304" pitchFamily="18" charset="0"/>
                <a:cs typeface="Times New Roman" panose="02020603050405020304" pitchFamily="18" charset="0"/>
              </a:rPr>
              <a:t>pie chart</a:t>
            </a:r>
            <a:r>
              <a:rPr lang="en-US" sz="1800" dirty="0">
                <a:latin typeface="Times New Roman" panose="02020603050405020304" pitchFamily="18" charset="0"/>
                <a:cs typeface="Times New Roman" panose="02020603050405020304" pitchFamily="18" charset="0"/>
              </a:rPr>
              <a:t>.</a:t>
            </a:r>
          </a:p>
        </p:txBody>
      </p:sp>
      <p:grpSp>
        <p:nvGrpSpPr>
          <p:cNvPr id="4" name="Group 3">
            <a:extLst>
              <a:ext uri="{FF2B5EF4-FFF2-40B4-BE49-F238E27FC236}">
                <a16:creationId xmlns:a16="http://schemas.microsoft.com/office/drawing/2014/main" id="{680F0813-AA43-C4B2-F7BA-F577E7229A81}"/>
              </a:ext>
            </a:extLst>
          </p:cNvPr>
          <p:cNvGrpSpPr/>
          <p:nvPr/>
        </p:nvGrpSpPr>
        <p:grpSpPr>
          <a:xfrm>
            <a:off x="0" y="6544092"/>
            <a:ext cx="12192000" cy="313908"/>
            <a:chOff x="0" y="6544092"/>
            <a:chExt cx="12192000" cy="313908"/>
          </a:xfrm>
        </p:grpSpPr>
        <p:sp>
          <p:nvSpPr>
            <p:cNvPr id="5" name="Rectangle 4">
              <a:extLst>
                <a:ext uri="{FF2B5EF4-FFF2-40B4-BE49-F238E27FC236}">
                  <a16:creationId xmlns:a16="http://schemas.microsoft.com/office/drawing/2014/main" id="{16E46107-6A4C-586A-9538-942FF53685A2}"/>
                </a:ext>
              </a:extLst>
            </p:cNvPr>
            <p:cNvSpPr/>
            <p:nvPr/>
          </p:nvSpPr>
          <p:spPr>
            <a:xfrm>
              <a:off x="0" y="6544092"/>
              <a:ext cx="12192000" cy="31390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6" name="TextBox 10">
              <a:extLst>
                <a:ext uri="{FF2B5EF4-FFF2-40B4-BE49-F238E27FC236}">
                  <a16:creationId xmlns:a16="http://schemas.microsoft.com/office/drawing/2014/main" id="{7C39278E-67AF-1A85-C912-4E5FF020493A}"/>
                </a:ext>
              </a:extLst>
            </p:cNvPr>
            <p:cNvSpPr txBox="1"/>
            <p:nvPr/>
          </p:nvSpPr>
          <p:spPr>
            <a:xfrm>
              <a:off x="109932" y="6577518"/>
              <a:ext cx="2794997" cy="247055"/>
            </a:xfrm>
            <a:prstGeom prst="rect">
              <a:avLst/>
            </a:prstGeom>
            <a:noFill/>
          </p:spPr>
          <p:txBody>
            <a:bodyPr lIns="0" tIns="0" rIns="0" bIns="0" rtlCol="0" anchor="ctr">
              <a:spAutoFit/>
            </a:bodyPr>
            <a:lstStyle/>
            <a:p>
              <a:pPr algn="just">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ENGR. VIOLDAN E. BAYOCOT</a:t>
              </a:r>
            </a:p>
          </p:txBody>
        </p:sp>
        <p:sp>
          <p:nvSpPr>
            <p:cNvPr id="7" name="TextBox 6">
              <a:extLst>
                <a:ext uri="{FF2B5EF4-FFF2-40B4-BE49-F238E27FC236}">
                  <a16:creationId xmlns:a16="http://schemas.microsoft.com/office/drawing/2014/main" id="{AAE72761-2BD0-BBE8-BABA-CED12E9D7260}"/>
                </a:ext>
              </a:extLst>
            </p:cNvPr>
            <p:cNvSpPr txBox="1"/>
            <p:nvPr/>
          </p:nvSpPr>
          <p:spPr>
            <a:xfrm>
              <a:off x="3158929" y="6577518"/>
              <a:ext cx="5433668" cy="248145"/>
            </a:xfrm>
            <a:prstGeom prst="rect">
              <a:avLst/>
            </a:prstGeom>
            <a:noFill/>
          </p:spPr>
          <p:txBody>
            <a:bodyPr wrap="square" lIns="0" tIns="0" rIns="0" bIns="0" rtlCol="0" anchor="t">
              <a:spAutoFit/>
            </a:bodyPr>
            <a:lstStyle/>
            <a:p>
              <a:pPr algn="ct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[Krista K.] BECOME A PROBABILITY &amp; STATISTICS MASTER</a:t>
              </a:r>
            </a:p>
          </p:txBody>
        </p:sp>
        <p:sp>
          <p:nvSpPr>
            <p:cNvPr id="8" name="TextBox 7">
              <a:extLst>
                <a:ext uri="{FF2B5EF4-FFF2-40B4-BE49-F238E27FC236}">
                  <a16:creationId xmlns:a16="http://schemas.microsoft.com/office/drawing/2014/main" id="{23602AE6-F342-8719-4D21-E18423D0F27A}"/>
                </a:ext>
              </a:extLst>
            </p:cNvPr>
            <p:cNvSpPr txBox="1"/>
            <p:nvPr/>
          </p:nvSpPr>
          <p:spPr>
            <a:xfrm>
              <a:off x="8387007" y="6577518"/>
              <a:ext cx="3701763" cy="248145"/>
            </a:xfrm>
            <a:prstGeom prst="rect">
              <a:avLst/>
            </a:prstGeom>
            <a:noFill/>
          </p:spPr>
          <p:txBody>
            <a:bodyPr wrap="square" lIns="0" tIns="0" rIns="0" bIns="0" rtlCol="0" anchor="t">
              <a:spAutoFit/>
            </a:bodyPr>
            <a:lstStyle/>
            <a:p>
              <a:pPr algn="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QUANTITATIVE METHODS</a:t>
              </a:r>
            </a:p>
          </p:txBody>
        </p:sp>
      </p:grpSp>
      <p:pic>
        <p:nvPicPr>
          <p:cNvPr id="10" name="Picture 9">
            <a:extLst>
              <a:ext uri="{FF2B5EF4-FFF2-40B4-BE49-F238E27FC236}">
                <a16:creationId xmlns:a16="http://schemas.microsoft.com/office/drawing/2014/main" id="{8B92C04F-4E69-E4A8-FE6D-1F992B8F8047}"/>
              </a:ext>
            </a:extLst>
          </p:cNvPr>
          <p:cNvPicPr>
            <a:picLocks noChangeAspect="1"/>
          </p:cNvPicPr>
          <p:nvPr/>
        </p:nvPicPr>
        <p:blipFill>
          <a:blip r:embed="rId3"/>
          <a:stretch>
            <a:fillRect/>
          </a:stretch>
        </p:blipFill>
        <p:spPr>
          <a:xfrm>
            <a:off x="6296535" y="2485287"/>
            <a:ext cx="5406749" cy="3843987"/>
          </a:xfrm>
          <a:prstGeom prst="rect">
            <a:avLst/>
          </a:prstGeom>
        </p:spPr>
      </p:pic>
      <p:pic>
        <p:nvPicPr>
          <p:cNvPr id="12" name="Picture 11">
            <a:extLst>
              <a:ext uri="{FF2B5EF4-FFF2-40B4-BE49-F238E27FC236}">
                <a16:creationId xmlns:a16="http://schemas.microsoft.com/office/drawing/2014/main" id="{41BA1FF9-4EC9-88F8-33C6-0DC85F329562}"/>
              </a:ext>
            </a:extLst>
          </p:cNvPr>
          <p:cNvPicPr>
            <a:picLocks noChangeAspect="1"/>
          </p:cNvPicPr>
          <p:nvPr/>
        </p:nvPicPr>
        <p:blipFill>
          <a:blip r:embed="rId4"/>
          <a:stretch>
            <a:fillRect/>
          </a:stretch>
        </p:blipFill>
        <p:spPr>
          <a:xfrm>
            <a:off x="350395" y="2677321"/>
            <a:ext cx="5745605" cy="3459918"/>
          </a:xfrm>
          <a:prstGeom prst="rect">
            <a:avLst/>
          </a:prstGeom>
        </p:spPr>
      </p:pic>
    </p:spTree>
    <p:extLst>
      <p:ext uri="{BB962C8B-B14F-4D97-AF65-F5344CB8AC3E}">
        <p14:creationId xmlns:p14="http://schemas.microsoft.com/office/powerpoint/2010/main" val="5497362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0C57D-D93D-2E1A-7BB1-29D737D0423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80E056C-54D6-E90F-6591-15173A8C0DF6}"/>
              </a:ext>
            </a:extLst>
          </p:cNvPr>
          <p:cNvSpPr/>
          <p:nvPr/>
        </p:nvSpPr>
        <p:spPr>
          <a:xfrm>
            <a:off x="0" y="0"/>
            <a:ext cx="12192000" cy="548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sz="3000"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808213C-8B68-E7B1-AA18-1D24C3D8EC0E}"/>
              </a:ext>
            </a:extLst>
          </p:cNvPr>
          <p:cNvSpPr txBox="1">
            <a:spLocks/>
          </p:cNvSpPr>
          <p:nvPr/>
        </p:nvSpPr>
        <p:spPr>
          <a:xfrm>
            <a:off x="0" y="0"/>
            <a:ext cx="12191998" cy="548641"/>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PH" sz="3000" b="1" dirty="0">
                <a:solidFill>
                  <a:schemeClr val="bg1"/>
                </a:solidFill>
                <a:latin typeface="Times New Roman" panose="02020603050405020304" pitchFamily="18" charset="0"/>
                <a:cs typeface="Times New Roman" panose="02020603050405020304" pitchFamily="18" charset="0"/>
              </a:rPr>
              <a:t>BAR GRAPH SIDE BY SIDE</a:t>
            </a:r>
            <a:endParaRPr lang="en-PH" sz="3000" b="1" dirty="0">
              <a:solidFill>
                <a:schemeClr val="bg1"/>
              </a:solidFill>
              <a:latin typeface="Courier New" panose="02070309020205020404" pitchFamily="49" charset="0"/>
              <a:cs typeface="Courier New" panose="02070309020205020404" pitchFamily="49" charset="0"/>
            </a:endParaRPr>
          </a:p>
        </p:txBody>
      </p:sp>
      <p:sp>
        <p:nvSpPr>
          <p:cNvPr id="14" name="Subtitle 2">
            <a:extLst>
              <a:ext uri="{FF2B5EF4-FFF2-40B4-BE49-F238E27FC236}">
                <a16:creationId xmlns:a16="http://schemas.microsoft.com/office/drawing/2014/main" id="{52F103C0-8991-FD46-A9E4-306D37C0CD40}"/>
              </a:ext>
            </a:extLst>
          </p:cNvPr>
          <p:cNvSpPr txBox="1">
            <a:spLocks/>
          </p:cNvSpPr>
          <p:nvPr/>
        </p:nvSpPr>
        <p:spPr>
          <a:xfrm>
            <a:off x="596262" y="658101"/>
            <a:ext cx="10999471" cy="796697"/>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dirty="0">
                <a:latin typeface="Times New Roman" panose="02020603050405020304" pitchFamily="18" charset="0"/>
                <a:cs typeface="Times New Roman" panose="02020603050405020304" pitchFamily="18" charset="0"/>
              </a:rPr>
              <a:t>Bar graphs are also great for showing multiple variables for the same individuals, side by side. </a:t>
            </a:r>
          </a:p>
          <a:p>
            <a:r>
              <a:rPr lang="en-US" sz="2000" dirty="0">
                <a:latin typeface="Times New Roman" panose="02020603050405020304" pitchFamily="18" charset="0"/>
                <a:cs typeface="Times New Roman" panose="02020603050405020304" pitchFamily="18" charset="0"/>
              </a:rPr>
              <a:t>Now that we’ve created bar graphs for host continents for </a:t>
            </a:r>
            <a:r>
              <a:rPr lang="en-US" sz="2000" b="1" dirty="0">
                <a:latin typeface="Times New Roman" panose="02020603050405020304" pitchFamily="18" charset="0"/>
                <a:cs typeface="Times New Roman" panose="02020603050405020304" pitchFamily="18" charset="0"/>
              </a:rPr>
              <a:t>both the summer and winter Olympic games</a:t>
            </a:r>
          </a:p>
        </p:txBody>
      </p:sp>
      <p:sp>
        <p:nvSpPr>
          <p:cNvPr id="6" name="Subtitle 2">
            <a:extLst>
              <a:ext uri="{FF2B5EF4-FFF2-40B4-BE49-F238E27FC236}">
                <a16:creationId xmlns:a16="http://schemas.microsoft.com/office/drawing/2014/main" id="{55A0A3DB-1432-F868-93B3-2803CD96B25D}"/>
              </a:ext>
            </a:extLst>
          </p:cNvPr>
          <p:cNvSpPr txBox="1">
            <a:spLocks/>
          </p:cNvSpPr>
          <p:nvPr/>
        </p:nvSpPr>
        <p:spPr>
          <a:xfrm>
            <a:off x="159326" y="2019142"/>
            <a:ext cx="4542214" cy="1724037"/>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sz="2000" dirty="0">
                <a:latin typeface="Times New Roman" panose="02020603050405020304" pitchFamily="18" charset="0"/>
                <a:cs typeface="Times New Roman" panose="02020603050405020304" pitchFamily="18" charset="0"/>
              </a:rPr>
              <a:t>This kind of side-by-side bar graph allows us to quickly see what we already knew from the previous bar graphs, like the fact that </a:t>
            </a:r>
            <a:r>
              <a:rPr lang="en-US" sz="2000" b="1" dirty="0">
                <a:latin typeface="Times New Roman" panose="02020603050405020304" pitchFamily="18" charset="0"/>
                <a:cs typeface="Times New Roman" panose="02020603050405020304" pitchFamily="18" charset="0"/>
              </a:rPr>
              <a:t>Europe </a:t>
            </a:r>
            <a:r>
              <a:rPr lang="en-US" sz="2000" dirty="0">
                <a:latin typeface="Times New Roman" panose="02020603050405020304" pitchFamily="18" charset="0"/>
                <a:cs typeface="Times New Roman" panose="02020603050405020304" pitchFamily="18" charset="0"/>
              </a:rPr>
              <a:t>has hosted more summer games and more winter games than any other continent.</a:t>
            </a:r>
          </a:p>
        </p:txBody>
      </p:sp>
      <p:sp>
        <p:nvSpPr>
          <p:cNvPr id="12" name="Subtitle 2">
            <a:extLst>
              <a:ext uri="{FF2B5EF4-FFF2-40B4-BE49-F238E27FC236}">
                <a16:creationId xmlns:a16="http://schemas.microsoft.com/office/drawing/2014/main" id="{B246538D-2AC9-2713-7CF6-5B751CC075D3}"/>
              </a:ext>
            </a:extLst>
          </p:cNvPr>
          <p:cNvSpPr txBox="1">
            <a:spLocks/>
          </p:cNvSpPr>
          <p:nvPr/>
        </p:nvSpPr>
        <p:spPr>
          <a:xfrm>
            <a:off x="159326" y="4307522"/>
            <a:ext cx="4542214" cy="1791310"/>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sz="2000" dirty="0">
                <a:latin typeface="Times New Roman" panose="02020603050405020304" pitchFamily="18" charset="0"/>
                <a:cs typeface="Times New Roman" panose="02020603050405020304" pitchFamily="18" charset="0"/>
              </a:rPr>
              <a:t>But we get more information from this, too, like the fact that </a:t>
            </a:r>
            <a:r>
              <a:rPr lang="en-US" sz="2000" b="1" i="1" dirty="0">
                <a:latin typeface="Times New Roman" panose="02020603050405020304" pitchFamily="18" charset="0"/>
                <a:cs typeface="Times New Roman" panose="02020603050405020304" pitchFamily="18" charset="0"/>
              </a:rPr>
              <a:t>Europe</a:t>
            </a:r>
            <a:r>
              <a:rPr lang="en-US" sz="2000" i="1" dirty="0">
                <a:latin typeface="Times New Roman" panose="02020603050405020304" pitchFamily="18" charset="0"/>
                <a:cs typeface="Times New Roman" panose="02020603050405020304" pitchFamily="18" charset="0"/>
              </a:rPr>
              <a:t> has hosted more summer games than it has winter games</a:t>
            </a:r>
            <a:r>
              <a:rPr lang="en-US" sz="2000" dirty="0">
                <a:latin typeface="Times New Roman" panose="02020603050405020304" pitchFamily="18" charset="0"/>
                <a:cs typeface="Times New Roman" panose="02020603050405020304" pitchFamily="18" charset="0"/>
              </a:rPr>
              <a:t>, or that </a:t>
            </a:r>
            <a:r>
              <a:rPr lang="en-US" sz="2000" b="1" i="1" dirty="0">
                <a:latin typeface="Times New Roman" panose="02020603050405020304" pitchFamily="18" charset="0"/>
                <a:cs typeface="Times New Roman" panose="02020603050405020304" pitchFamily="18" charset="0"/>
              </a:rPr>
              <a:t>North America </a:t>
            </a:r>
            <a:r>
              <a:rPr lang="en-US" sz="2000" i="1" dirty="0">
                <a:latin typeface="Times New Roman" panose="02020603050405020304" pitchFamily="18" charset="0"/>
                <a:cs typeface="Times New Roman" panose="02020603050405020304" pitchFamily="18" charset="0"/>
              </a:rPr>
              <a:t>has hosted an equal number of summer and winter games</a:t>
            </a:r>
            <a:r>
              <a:rPr lang="en-US" sz="2000" dirty="0">
                <a:latin typeface="Times New Roman" panose="02020603050405020304" pitchFamily="18" charset="0"/>
                <a:cs typeface="Times New Roman" panose="02020603050405020304" pitchFamily="18" charset="0"/>
              </a:rPr>
              <a:t>.</a:t>
            </a:r>
          </a:p>
        </p:txBody>
      </p:sp>
      <p:grpSp>
        <p:nvGrpSpPr>
          <p:cNvPr id="4" name="Group 3">
            <a:extLst>
              <a:ext uri="{FF2B5EF4-FFF2-40B4-BE49-F238E27FC236}">
                <a16:creationId xmlns:a16="http://schemas.microsoft.com/office/drawing/2014/main" id="{213CFC57-9439-214C-602D-BD612A170B21}"/>
              </a:ext>
            </a:extLst>
          </p:cNvPr>
          <p:cNvGrpSpPr/>
          <p:nvPr/>
        </p:nvGrpSpPr>
        <p:grpSpPr>
          <a:xfrm>
            <a:off x="0" y="6544092"/>
            <a:ext cx="12192000" cy="313908"/>
            <a:chOff x="0" y="6544092"/>
            <a:chExt cx="12192000" cy="313908"/>
          </a:xfrm>
        </p:grpSpPr>
        <p:sp>
          <p:nvSpPr>
            <p:cNvPr id="7" name="Rectangle 6">
              <a:extLst>
                <a:ext uri="{FF2B5EF4-FFF2-40B4-BE49-F238E27FC236}">
                  <a16:creationId xmlns:a16="http://schemas.microsoft.com/office/drawing/2014/main" id="{BCF67BD2-3EC0-3563-CB9D-A9A1A2722D6B}"/>
                </a:ext>
              </a:extLst>
            </p:cNvPr>
            <p:cNvSpPr/>
            <p:nvPr/>
          </p:nvSpPr>
          <p:spPr>
            <a:xfrm>
              <a:off x="0" y="6544092"/>
              <a:ext cx="12192000" cy="31390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8" name="TextBox 10">
              <a:extLst>
                <a:ext uri="{FF2B5EF4-FFF2-40B4-BE49-F238E27FC236}">
                  <a16:creationId xmlns:a16="http://schemas.microsoft.com/office/drawing/2014/main" id="{720FFAC4-52A3-C1E2-841F-511E980E1154}"/>
                </a:ext>
              </a:extLst>
            </p:cNvPr>
            <p:cNvSpPr txBox="1"/>
            <p:nvPr/>
          </p:nvSpPr>
          <p:spPr>
            <a:xfrm>
              <a:off x="109932" y="6577518"/>
              <a:ext cx="2794997" cy="247055"/>
            </a:xfrm>
            <a:prstGeom prst="rect">
              <a:avLst/>
            </a:prstGeom>
            <a:noFill/>
          </p:spPr>
          <p:txBody>
            <a:bodyPr lIns="0" tIns="0" rIns="0" bIns="0" rtlCol="0" anchor="ctr">
              <a:spAutoFit/>
            </a:bodyPr>
            <a:lstStyle/>
            <a:p>
              <a:pPr algn="just">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ENGR. VIOLDAN E. BAYOCOT</a:t>
              </a:r>
            </a:p>
          </p:txBody>
        </p:sp>
        <p:sp>
          <p:nvSpPr>
            <p:cNvPr id="9" name="TextBox 8">
              <a:extLst>
                <a:ext uri="{FF2B5EF4-FFF2-40B4-BE49-F238E27FC236}">
                  <a16:creationId xmlns:a16="http://schemas.microsoft.com/office/drawing/2014/main" id="{471AC750-61D0-438C-01B8-A6BD958808F2}"/>
                </a:ext>
              </a:extLst>
            </p:cNvPr>
            <p:cNvSpPr txBox="1"/>
            <p:nvPr/>
          </p:nvSpPr>
          <p:spPr>
            <a:xfrm>
              <a:off x="3158929" y="6577518"/>
              <a:ext cx="5433668" cy="248145"/>
            </a:xfrm>
            <a:prstGeom prst="rect">
              <a:avLst/>
            </a:prstGeom>
            <a:noFill/>
          </p:spPr>
          <p:txBody>
            <a:bodyPr wrap="square" lIns="0" tIns="0" rIns="0" bIns="0" rtlCol="0" anchor="t">
              <a:spAutoFit/>
            </a:bodyPr>
            <a:lstStyle/>
            <a:p>
              <a:pPr algn="ct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[Krista K.] BECOME A PROBABILITY &amp; STATISTICS MASTER</a:t>
              </a:r>
            </a:p>
          </p:txBody>
        </p:sp>
        <p:sp>
          <p:nvSpPr>
            <p:cNvPr id="10" name="TextBox 9">
              <a:extLst>
                <a:ext uri="{FF2B5EF4-FFF2-40B4-BE49-F238E27FC236}">
                  <a16:creationId xmlns:a16="http://schemas.microsoft.com/office/drawing/2014/main" id="{CEB9208A-406D-7B14-0AF6-2FD31F592AD7}"/>
                </a:ext>
              </a:extLst>
            </p:cNvPr>
            <p:cNvSpPr txBox="1"/>
            <p:nvPr/>
          </p:nvSpPr>
          <p:spPr>
            <a:xfrm>
              <a:off x="8387007" y="6577518"/>
              <a:ext cx="3701763" cy="248145"/>
            </a:xfrm>
            <a:prstGeom prst="rect">
              <a:avLst/>
            </a:prstGeom>
            <a:noFill/>
          </p:spPr>
          <p:txBody>
            <a:bodyPr wrap="square" lIns="0" tIns="0" rIns="0" bIns="0" rtlCol="0" anchor="t">
              <a:spAutoFit/>
            </a:bodyPr>
            <a:lstStyle/>
            <a:p>
              <a:pPr algn="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QUANTITATIVE METHODS</a:t>
              </a:r>
            </a:p>
          </p:txBody>
        </p:sp>
      </p:grpSp>
      <p:pic>
        <p:nvPicPr>
          <p:cNvPr id="13" name="Picture 12">
            <a:extLst>
              <a:ext uri="{FF2B5EF4-FFF2-40B4-BE49-F238E27FC236}">
                <a16:creationId xmlns:a16="http://schemas.microsoft.com/office/drawing/2014/main" id="{1E4B7699-5AC8-6018-0279-9B40CF32D798}"/>
              </a:ext>
            </a:extLst>
          </p:cNvPr>
          <p:cNvPicPr>
            <a:picLocks noChangeAspect="1"/>
          </p:cNvPicPr>
          <p:nvPr/>
        </p:nvPicPr>
        <p:blipFill>
          <a:blip r:embed="rId3"/>
          <a:stretch>
            <a:fillRect/>
          </a:stretch>
        </p:blipFill>
        <p:spPr>
          <a:xfrm>
            <a:off x="2742126" y="1974633"/>
            <a:ext cx="6707745" cy="3537092"/>
          </a:xfrm>
          <a:prstGeom prst="rect">
            <a:avLst/>
          </a:prstGeom>
        </p:spPr>
      </p:pic>
    </p:spTree>
    <p:extLst>
      <p:ext uri="{BB962C8B-B14F-4D97-AF65-F5344CB8AC3E}">
        <p14:creationId xmlns:p14="http://schemas.microsoft.com/office/powerpoint/2010/main" val="18891825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500"/>
                                        <p:tgtEl>
                                          <p:spTgt spid="14">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animEffect transition="in" filter="fade">
                                      <p:cBhvr>
                                        <p:cTn id="11" dur="500"/>
                                        <p:tgtEl>
                                          <p:spTgt spid="14">
                                            <p:txEl>
                                              <p:pRg st="1" end="1"/>
                                            </p:txEl>
                                          </p:spTgt>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down)">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path" presetSubtype="0" accel="50000" decel="50000" fill="hold" nodeType="clickEffect">
                                  <p:stCondLst>
                                    <p:cond delay="0"/>
                                  </p:stCondLst>
                                  <p:childTnLst>
                                    <p:animMotion origin="layout" path="M 0 -3.33333E-6 L 0.17813 -3.33333E-6 " pathEditMode="relative" rAng="0" ptsTypes="AA">
                                      <p:cBhvr>
                                        <p:cTn id="19" dur="2000" fill="hold"/>
                                        <p:tgtEl>
                                          <p:spTgt spid="13"/>
                                        </p:tgtEl>
                                        <p:attrNameLst>
                                          <p:attrName>ppt_x</p:attrName>
                                          <p:attrName>ppt_y</p:attrName>
                                        </p:attrNameLst>
                                      </p:cBhvr>
                                      <p:rCtr x="8906" y="0"/>
                                    </p:animMotion>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E251B-C8B0-9DCF-4AFA-C230EBE9762F}"/>
            </a:ext>
          </a:extLst>
        </p:cNvPr>
        <p:cNvGrpSpPr/>
        <p:nvPr/>
      </p:nvGrpSpPr>
      <p:grpSpPr>
        <a:xfrm>
          <a:off x="0" y="0"/>
          <a:ext cx="0" cy="0"/>
          <a:chOff x="0" y="0"/>
          <a:chExt cx="0" cy="0"/>
        </a:xfrm>
      </p:grpSpPr>
      <p:pic>
        <p:nvPicPr>
          <p:cNvPr id="30" name="Picture 29">
            <a:extLst>
              <a:ext uri="{FF2B5EF4-FFF2-40B4-BE49-F238E27FC236}">
                <a16:creationId xmlns:a16="http://schemas.microsoft.com/office/drawing/2014/main" id="{56693BFA-417B-5D74-28AB-F1F75CC59147}"/>
              </a:ext>
            </a:extLst>
          </p:cNvPr>
          <p:cNvPicPr>
            <a:picLocks noChangeAspect="1"/>
          </p:cNvPicPr>
          <p:nvPr/>
        </p:nvPicPr>
        <p:blipFill rotWithShape="1">
          <a:blip r:embed="rId4">
            <a:extLst>
              <a:ext uri="{28A0092B-C50C-407E-A947-70E740481C1C}">
                <a14:useLocalDpi xmlns:a14="http://schemas.microsoft.com/office/drawing/2010/main" val="0"/>
              </a:ext>
            </a:extLst>
          </a:blip>
          <a:srcRect l="43383" r="15817"/>
          <a:stretch/>
        </p:blipFill>
        <p:spPr>
          <a:xfrm>
            <a:off x="8462421" y="-2"/>
            <a:ext cx="4209729" cy="6858000"/>
          </a:xfrm>
          <a:prstGeom prst="rect">
            <a:avLst/>
          </a:prstGeom>
        </p:spPr>
      </p:pic>
      <p:sp>
        <p:nvSpPr>
          <p:cNvPr id="4" name="AutoShape 4">
            <a:extLst>
              <a:ext uri="{FF2B5EF4-FFF2-40B4-BE49-F238E27FC236}">
                <a16:creationId xmlns:a16="http://schemas.microsoft.com/office/drawing/2014/main" id="{6AA7CEC0-B6B7-1030-F366-9E99291E272A}"/>
              </a:ext>
            </a:extLst>
          </p:cNvPr>
          <p:cNvSpPr/>
          <p:nvPr/>
        </p:nvSpPr>
        <p:spPr>
          <a:xfrm>
            <a:off x="8462421" y="0"/>
            <a:ext cx="0" cy="6666105"/>
          </a:xfrm>
          <a:prstGeom prst="line">
            <a:avLst/>
          </a:prstGeom>
          <a:ln w="390525" cap="flat">
            <a:solidFill>
              <a:srgbClr val="212020"/>
            </a:solidFill>
            <a:prstDash val="sysDot"/>
            <a:headEnd type="none" w="sm" len="sm"/>
            <a:tailEnd type="none" w="sm" len="sm"/>
          </a:ln>
        </p:spPr>
      </p:sp>
      <p:sp>
        <p:nvSpPr>
          <p:cNvPr id="5" name="AutoShape 5">
            <a:extLst>
              <a:ext uri="{FF2B5EF4-FFF2-40B4-BE49-F238E27FC236}">
                <a16:creationId xmlns:a16="http://schemas.microsoft.com/office/drawing/2014/main" id="{CE6AB078-CAA4-9A00-90F6-C2633F7EF24E}"/>
              </a:ext>
            </a:extLst>
          </p:cNvPr>
          <p:cNvSpPr/>
          <p:nvPr/>
        </p:nvSpPr>
        <p:spPr>
          <a:xfrm>
            <a:off x="8592596" y="191895"/>
            <a:ext cx="0" cy="6666105"/>
          </a:xfrm>
          <a:prstGeom prst="line">
            <a:avLst/>
          </a:prstGeom>
          <a:ln w="390525" cap="flat">
            <a:solidFill>
              <a:srgbClr val="212020"/>
            </a:solidFill>
            <a:prstDash val="sysDot"/>
            <a:headEnd type="none" w="sm" len="sm"/>
            <a:tailEnd type="none" w="sm" len="sm"/>
          </a:ln>
        </p:spPr>
      </p:sp>
      <p:sp>
        <p:nvSpPr>
          <p:cNvPr id="6" name="AutoShape 6">
            <a:extLst>
              <a:ext uri="{FF2B5EF4-FFF2-40B4-BE49-F238E27FC236}">
                <a16:creationId xmlns:a16="http://schemas.microsoft.com/office/drawing/2014/main" id="{FAE2BD0E-7D79-5A0E-3332-A01FF32E06AB}"/>
              </a:ext>
            </a:extLst>
          </p:cNvPr>
          <p:cNvSpPr/>
          <p:nvPr/>
        </p:nvSpPr>
        <p:spPr>
          <a:xfrm>
            <a:off x="8338596" y="191895"/>
            <a:ext cx="0" cy="6666105"/>
          </a:xfrm>
          <a:prstGeom prst="line">
            <a:avLst/>
          </a:prstGeom>
          <a:ln w="390525" cap="flat">
            <a:solidFill>
              <a:srgbClr val="212020"/>
            </a:solidFill>
            <a:prstDash val="sysDot"/>
            <a:headEnd type="none" w="sm" len="sm"/>
            <a:tailEnd type="none" w="sm" len="sm"/>
          </a:ln>
        </p:spPr>
      </p:sp>
      <p:sp>
        <p:nvSpPr>
          <p:cNvPr id="7" name="AutoShape 7">
            <a:extLst>
              <a:ext uri="{FF2B5EF4-FFF2-40B4-BE49-F238E27FC236}">
                <a16:creationId xmlns:a16="http://schemas.microsoft.com/office/drawing/2014/main" id="{05C0EA86-D6A9-73A4-2FC4-40022B504F6C}"/>
              </a:ext>
            </a:extLst>
          </p:cNvPr>
          <p:cNvSpPr/>
          <p:nvPr/>
        </p:nvSpPr>
        <p:spPr>
          <a:xfrm>
            <a:off x="329727" y="1076011"/>
            <a:ext cx="7667735" cy="0"/>
          </a:xfrm>
          <a:prstGeom prst="line">
            <a:avLst/>
          </a:prstGeom>
          <a:ln>
            <a:headEnd type="none" w="sm" len="sm"/>
            <a:tailEnd type="none" w="sm" len="sm"/>
          </a:ln>
        </p:spPr>
        <p:style>
          <a:lnRef idx="3">
            <a:schemeClr val="dk1"/>
          </a:lnRef>
          <a:fillRef idx="0">
            <a:schemeClr val="dk1"/>
          </a:fillRef>
          <a:effectRef idx="2">
            <a:schemeClr val="dk1"/>
          </a:effectRef>
          <a:fontRef idx="minor">
            <a:schemeClr val="tx1"/>
          </a:fontRef>
        </p:style>
      </p:sp>
      <p:grpSp>
        <p:nvGrpSpPr>
          <p:cNvPr id="8" name="Group 8">
            <a:extLst>
              <a:ext uri="{FF2B5EF4-FFF2-40B4-BE49-F238E27FC236}">
                <a16:creationId xmlns:a16="http://schemas.microsoft.com/office/drawing/2014/main" id="{33283364-915D-524F-6526-7111B562DF18}"/>
              </a:ext>
            </a:extLst>
          </p:cNvPr>
          <p:cNvGrpSpPr/>
          <p:nvPr/>
        </p:nvGrpSpPr>
        <p:grpSpPr>
          <a:xfrm>
            <a:off x="419417" y="380188"/>
            <a:ext cx="511045" cy="511045"/>
            <a:chOff x="0" y="0"/>
            <a:chExt cx="812800" cy="812800"/>
          </a:xfrm>
        </p:grpSpPr>
        <p:sp>
          <p:nvSpPr>
            <p:cNvPr id="9" name="Freeform 9">
              <a:extLst>
                <a:ext uri="{FF2B5EF4-FFF2-40B4-BE49-F238E27FC236}">
                  <a16:creationId xmlns:a16="http://schemas.microsoft.com/office/drawing/2014/main" id="{8151256B-827F-B1EC-913E-0AA8358BDDD5}"/>
                </a:ext>
              </a:extLst>
            </p:cNvPr>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5"/>
              <a:stretch>
                <a:fillRect t="-2173" b="-2173"/>
              </a:stretch>
            </a:blipFill>
          </p:spPr>
        </p:sp>
      </p:grpSp>
      <p:sp>
        <p:nvSpPr>
          <p:cNvPr id="11" name="TextBox 11">
            <a:extLst>
              <a:ext uri="{FF2B5EF4-FFF2-40B4-BE49-F238E27FC236}">
                <a16:creationId xmlns:a16="http://schemas.microsoft.com/office/drawing/2014/main" id="{F3C018AE-B3FD-56CA-936C-F245CB38AA46}"/>
              </a:ext>
            </a:extLst>
          </p:cNvPr>
          <p:cNvSpPr txBox="1"/>
          <p:nvPr/>
        </p:nvSpPr>
        <p:spPr>
          <a:xfrm>
            <a:off x="1019362" y="367741"/>
            <a:ext cx="6987150" cy="512961"/>
          </a:xfrm>
          <a:prstGeom prst="rect">
            <a:avLst/>
          </a:prstGeom>
        </p:spPr>
        <p:txBody>
          <a:bodyPr wrap="square" lIns="0" tIns="0" rIns="0" bIns="0" rtlCol="0" anchor="t">
            <a:spAutoFit/>
          </a:bodyPr>
          <a:lstStyle/>
          <a:p>
            <a:pPr>
              <a:lnSpc>
                <a:spcPts val="1960"/>
              </a:lnSpc>
            </a:pPr>
            <a:r>
              <a:rPr lang="en-US" b="1" dirty="0">
                <a:latin typeface="Times New Roman" panose="02020603050405020304" pitchFamily="18" charset="0"/>
                <a:ea typeface="Gotham Bold"/>
                <a:cs typeface="Times New Roman" panose="02020603050405020304" pitchFamily="18" charset="0"/>
                <a:sym typeface="Gotham Bold"/>
              </a:rPr>
              <a:t>| University of San Jose - </a:t>
            </a:r>
            <a:r>
              <a:rPr lang="en-US" b="1" dirty="0" err="1">
                <a:latin typeface="Times New Roman" panose="02020603050405020304" pitchFamily="18" charset="0"/>
                <a:ea typeface="Gotham Bold"/>
                <a:cs typeface="Times New Roman" panose="02020603050405020304" pitchFamily="18" charset="0"/>
                <a:sym typeface="Gotham Bold"/>
              </a:rPr>
              <a:t>Recoletos</a:t>
            </a:r>
            <a:r>
              <a:rPr lang="en-US" b="1" dirty="0">
                <a:latin typeface="Times New Roman" panose="02020603050405020304" pitchFamily="18" charset="0"/>
                <a:ea typeface="Gotham Bold"/>
                <a:cs typeface="Times New Roman" panose="02020603050405020304" pitchFamily="18" charset="0"/>
                <a:sym typeface="Gotham Bold"/>
              </a:rPr>
              <a:t> | School of Computer Studies </a:t>
            </a:r>
          </a:p>
          <a:p>
            <a:pPr>
              <a:lnSpc>
                <a:spcPts val="1960"/>
              </a:lnSpc>
            </a:pPr>
            <a:r>
              <a:rPr lang="en-US" b="1" dirty="0">
                <a:latin typeface="Times New Roman" panose="02020603050405020304" pitchFamily="18" charset="0"/>
                <a:ea typeface="Gotham Bold"/>
                <a:cs typeface="Times New Roman" panose="02020603050405020304" pitchFamily="18" charset="0"/>
                <a:sym typeface="Gotham Bold"/>
              </a:rPr>
              <a:t>| Quantitative Methods | Engr. </a:t>
            </a:r>
            <a:r>
              <a:rPr lang="en-US" b="1" dirty="0" err="1">
                <a:latin typeface="Times New Roman" panose="02020603050405020304" pitchFamily="18" charset="0"/>
                <a:ea typeface="Gotham Bold"/>
                <a:cs typeface="Times New Roman" panose="02020603050405020304" pitchFamily="18" charset="0"/>
                <a:sym typeface="Gotham Bold"/>
              </a:rPr>
              <a:t>Violdan</a:t>
            </a:r>
            <a:r>
              <a:rPr lang="en-US" b="1" dirty="0">
                <a:latin typeface="Times New Roman" panose="02020603050405020304" pitchFamily="18" charset="0"/>
                <a:ea typeface="Gotham Bold"/>
                <a:cs typeface="Times New Roman" panose="02020603050405020304" pitchFamily="18" charset="0"/>
                <a:sym typeface="Gotham Bold"/>
              </a:rPr>
              <a:t> E. </a:t>
            </a:r>
            <a:r>
              <a:rPr lang="en-US" b="1" dirty="0" err="1">
                <a:latin typeface="Times New Roman" panose="02020603050405020304" pitchFamily="18" charset="0"/>
                <a:ea typeface="Gotham Bold"/>
                <a:cs typeface="Times New Roman" panose="02020603050405020304" pitchFamily="18" charset="0"/>
                <a:sym typeface="Gotham Bold"/>
              </a:rPr>
              <a:t>Bayocot</a:t>
            </a:r>
            <a:endParaRPr lang="en-US" b="1" dirty="0">
              <a:latin typeface="Times New Roman" panose="02020603050405020304" pitchFamily="18" charset="0"/>
              <a:ea typeface="Gotham Bold"/>
              <a:cs typeface="Times New Roman" panose="02020603050405020304" pitchFamily="18" charset="0"/>
              <a:sym typeface="Gotham Bold"/>
            </a:endParaRPr>
          </a:p>
        </p:txBody>
      </p:sp>
      <p:grpSp>
        <p:nvGrpSpPr>
          <p:cNvPr id="12" name="Group 11">
            <a:extLst>
              <a:ext uri="{FF2B5EF4-FFF2-40B4-BE49-F238E27FC236}">
                <a16:creationId xmlns:a16="http://schemas.microsoft.com/office/drawing/2014/main" id="{5C0C1EAB-6141-D56F-5FEA-D5A3D8B394CD}"/>
              </a:ext>
            </a:extLst>
          </p:cNvPr>
          <p:cNvGrpSpPr/>
          <p:nvPr/>
        </p:nvGrpSpPr>
        <p:grpSpPr>
          <a:xfrm>
            <a:off x="221008" y="2436010"/>
            <a:ext cx="7896580" cy="2378526"/>
            <a:chOff x="109932" y="2228795"/>
            <a:chExt cx="7896580" cy="2378526"/>
          </a:xfrm>
        </p:grpSpPr>
        <p:sp>
          <p:nvSpPr>
            <p:cNvPr id="13" name="TextBox 10">
              <a:extLst>
                <a:ext uri="{FF2B5EF4-FFF2-40B4-BE49-F238E27FC236}">
                  <a16:creationId xmlns:a16="http://schemas.microsoft.com/office/drawing/2014/main" id="{04E7CA54-BC1B-2F88-04BA-4F5CB8A33ED1}"/>
                </a:ext>
              </a:extLst>
            </p:cNvPr>
            <p:cNvSpPr txBox="1"/>
            <p:nvPr/>
          </p:nvSpPr>
          <p:spPr>
            <a:xfrm>
              <a:off x="109932" y="2575996"/>
              <a:ext cx="7896580" cy="2031325"/>
            </a:xfrm>
            <a:prstGeom prst="rect">
              <a:avLst/>
            </a:prstGeom>
          </p:spPr>
          <p:txBody>
            <a:bodyPr lIns="0" tIns="0" rIns="0" bIns="0" rtlCol="0" anchor="t">
              <a:spAutoFit/>
            </a:bodyPr>
            <a:lstStyle/>
            <a:p>
              <a:pPr algn="ctr"/>
              <a:r>
                <a:rPr lang="en-PH" sz="6600" b="1" dirty="0">
                  <a:latin typeface="Times New Roman" panose="02020603050405020304" pitchFamily="18" charset="0"/>
                  <a:cs typeface="Times New Roman" panose="02020603050405020304" pitchFamily="18" charset="0"/>
                </a:rPr>
                <a:t>VISUALIZING DATA</a:t>
              </a:r>
              <a:endParaRPr lang="en-US" sz="6600" b="1" dirty="0">
                <a:latin typeface="Times New Roman" panose="02020603050405020304" pitchFamily="18" charset="0"/>
                <a:ea typeface="Archivo Black"/>
                <a:cs typeface="Times New Roman" panose="02020603050405020304" pitchFamily="18" charset="0"/>
                <a:sym typeface="Archivo Black"/>
              </a:endParaRPr>
            </a:p>
          </p:txBody>
        </p:sp>
        <p:sp>
          <p:nvSpPr>
            <p:cNvPr id="16" name="Rectangle 3">
              <a:extLst>
                <a:ext uri="{FF2B5EF4-FFF2-40B4-BE49-F238E27FC236}">
                  <a16:creationId xmlns:a16="http://schemas.microsoft.com/office/drawing/2014/main" id="{C62A70B6-6D98-B655-BAE2-C54F5DF25ACF}"/>
                </a:ext>
              </a:extLst>
            </p:cNvPr>
            <p:cNvSpPr txBox="1">
              <a:spLocks noChangeArrowheads="1"/>
            </p:cNvSpPr>
            <p:nvPr>
              <p:custDataLst>
                <p:tags r:id="rId2"/>
              </p:custDataLst>
            </p:nvPr>
          </p:nvSpPr>
          <p:spPr>
            <a:xfrm>
              <a:off x="1565603" y="2228795"/>
              <a:ext cx="4985238" cy="452472"/>
            </a:xfrm>
            <a:prstGeom prst="rect">
              <a:avLst/>
            </a:prstGeom>
          </p:spPr>
          <p:txBody>
            <a:bodyPr vert="horz" lIns="91440" tIns="45720" rIns="91440" bIns="45720" rtlCol="0" anchor="ct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latin typeface="Times New Roman" panose="02020603050405020304" pitchFamily="18" charset="0"/>
                  <a:cs typeface="Times New Roman" panose="02020603050405020304" pitchFamily="18" charset="0"/>
                </a:rPr>
                <a:t>MODULE 01</a:t>
              </a:r>
            </a:p>
          </p:txBody>
        </p:sp>
      </p:grpSp>
      <p:grpSp>
        <p:nvGrpSpPr>
          <p:cNvPr id="29" name="Group 28">
            <a:extLst>
              <a:ext uri="{FF2B5EF4-FFF2-40B4-BE49-F238E27FC236}">
                <a16:creationId xmlns:a16="http://schemas.microsoft.com/office/drawing/2014/main" id="{55A200A0-35C1-A816-5709-8206D2DA51C2}"/>
              </a:ext>
            </a:extLst>
          </p:cNvPr>
          <p:cNvGrpSpPr/>
          <p:nvPr/>
        </p:nvGrpSpPr>
        <p:grpSpPr>
          <a:xfrm>
            <a:off x="8965032" y="1894438"/>
            <a:ext cx="3081528" cy="3081528"/>
            <a:chOff x="8965032" y="1894438"/>
            <a:chExt cx="3081528" cy="3081528"/>
          </a:xfrm>
        </p:grpSpPr>
        <p:pic>
          <p:nvPicPr>
            <p:cNvPr id="21" name="Picture 20">
              <a:extLst>
                <a:ext uri="{FF2B5EF4-FFF2-40B4-BE49-F238E27FC236}">
                  <a16:creationId xmlns:a16="http://schemas.microsoft.com/office/drawing/2014/main" id="{8E4C6464-A2D4-7BA7-6C99-C09CDF90FEC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216469" y="2164924"/>
              <a:ext cx="2597703" cy="2597703"/>
            </a:xfrm>
            <a:prstGeom prst="rect">
              <a:avLst/>
            </a:prstGeom>
          </p:spPr>
        </p:pic>
        <p:grpSp>
          <p:nvGrpSpPr>
            <p:cNvPr id="22" name="Group 7">
              <a:extLst>
                <a:ext uri="{FF2B5EF4-FFF2-40B4-BE49-F238E27FC236}">
                  <a16:creationId xmlns:a16="http://schemas.microsoft.com/office/drawing/2014/main" id="{C3C6B1C3-3D88-7473-C760-8BFADCC0643F}"/>
                </a:ext>
              </a:extLst>
            </p:cNvPr>
            <p:cNvGrpSpPr>
              <a:grpSpLocks noChangeAspect="1"/>
            </p:cNvGrpSpPr>
            <p:nvPr/>
          </p:nvGrpSpPr>
          <p:grpSpPr>
            <a:xfrm>
              <a:off x="8965032" y="1894438"/>
              <a:ext cx="3081528" cy="3081528"/>
              <a:chOff x="-3810" y="-17780"/>
              <a:chExt cx="7620000" cy="7620000"/>
            </a:xfrm>
          </p:grpSpPr>
          <p:sp>
            <p:nvSpPr>
              <p:cNvPr id="23" name="Freeform 9">
                <a:extLst>
                  <a:ext uri="{FF2B5EF4-FFF2-40B4-BE49-F238E27FC236}">
                    <a16:creationId xmlns:a16="http://schemas.microsoft.com/office/drawing/2014/main" id="{60D0C76F-2DEA-79BE-ADB8-99531D53F480}"/>
                  </a:ext>
                </a:extLst>
              </p:cNvPr>
              <p:cNvSpPr/>
              <p:nvPr/>
            </p:nvSpPr>
            <p:spPr>
              <a:xfrm>
                <a:off x="-3810" y="-17780"/>
                <a:ext cx="7620000" cy="7620000"/>
              </a:xfrm>
              <a:custGeom>
                <a:avLst/>
                <a:gdLst/>
                <a:ahLst/>
                <a:cxnLst/>
                <a:rect l="l" t="t" r="r" b="b"/>
                <a:pathLst>
                  <a:path w="7620000" h="7620000">
                    <a:moveTo>
                      <a:pt x="3810000" y="0"/>
                    </a:moveTo>
                    <a:cubicBezTo>
                      <a:pt x="1709420" y="0"/>
                      <a:pt x="0" y="1709420"/>
                      <a:pt x="0" y="3810000"/>
                    </a:cubicBezTo>
                    <a:cubicBezTo>
                      <a:pt x="0" y="5910580"/>
                      <a:pt x="1709420" y="7620000"/>
                      <a:pt x="3810000" y="7620000"/>
                    </a:cubicBezTo>
                    <a:cubicBezTo>
                      <a:pt x="5910580" y="7620000"/>
                      <a:pt x="7620000" y="5910580"/>
                      <a:pt x="7620000" y="3810000"/>
                    </a:cubicBezTo>
                    <a:cubicBezTo>
                      <a:pt x="7620000" y="1709420"/>
                      <a:pt x="5910580" y="0"/>
                      <a:pt x="3810000" y="0"/>
                    </a:cubicBezTo>
                    <a:close/>
                    <a:moveTo>
                      <a:pt x="3810000" y="7193280"/>
                    </a:moveTo>
                    <a:cubicBezTo>
                      <a:pt x="1941830" y="7193280"/>
                      <a:pt x="426720" y="5678170"/>
                      <a:pt x="426720" y="3810000"/>
                    </a:cubicBezTo>
                    <a:cubicBezTo>
                      <a:pt x="426720" y="1941830"/>
                      <a:pt x="1941830" y="426720"/>
                      <a:pt x="3810000" y="426720"/>
                    </a:cubicBezTo>
                    <a:cubicBezTo>
                      <a:pt x="5678170" y="426720"/>
                      <a:pt x="7193280" y="1941830"/>
                      <a:pt x="7193280" y="3810000"/>
                    </a:cubicBezTo>
                    <a:cubicBezTo>
                      <a:pt x="7193280" y="5678170"/>
                      <a:pt x="5678170" y="7193280"/>
                      <a:pt x="3810000" y="7193280"/>
                    </a:cubicBezTo>
                    <a:close/>
                  </a:path>
                </a:pathLst>
              </a:custGeom>
              <a:solidFill>
                <a:schemeClr val="bg1"/>
              </a:solidFill>
            </p:spPr>
          </p:sp>
          <p:sp>
            <p:nvSpPr>
              <p:cNvPr id="24" name="Freeform 10">
                <a:extLst>
                  <a:ext uri="{FF2B5EF4-FFF2-40B4-BE49-F238E27FC236}">
                    <a16:creationId xmlns:a16="http://schemas.microsoft.com/office/drawing/2014/main" id="{80EFE43B-7EE0-3C58-3D65-DFBBAE42844F}"/>
                  </a:ext>
                </a:extLst>
              </p:cNvPr>
              <p:cNvSpPr/>
              <p:nvPr/>
            </p:nvSpPr>
            <p:spPr>
              <a:xfrm>
                <a:off x="422910" y="408940"/>
                <a:ext cx="6766559" cy="6766560"/>
              </a:xfrm>
              <a:custGeom>
                <a:avLst/>
                <a:gdLst/>
                <a:ahLst/>
                <a:cxnLst/>
                <a:rect l="l" t="t" r="r" b="b"/>
                <a:pathLst>
                  <a:path w="6766559" h="6766560">
                    <a:moveTo>
                      <a:pt x="3383280" y="0"/>
                    </a:moveTo>
                    <a:cubicBezTo>
                      <a:pt x="1515110" y="0"/>
                      <a:pt x="0" y="1515110"/>
                      <a:pt x="0" y="3383280"/>
                    </a:cubicBezTo>
                    <a:cubicBezTo>
                      <a:pt x="0" y="5251450"/>
                      <a:pt x="1515110" y="6766560"/>
                      <a:pt x="3383280" y="6766560"/>
                    </a:cubicBezTo>
                    <a:cubicBezTo>
                      <a:pt x="5251450" y="6766560"/>
                      <a:pt x="6766560" y="5251450"/>
                      <a:pt x="6766560" y="3383280"/>
                    </a:cubicBezTo>
                    <a:cubicBezTo>
                      <a:pt x="6766560" y="1515110"/>
                      <a:pt x="5251450" y="0"/>
                      <a:pt x="3383280" y="0"/>
                    </a:cubicBezTo>
                    <a:close/>
                    <a:moveTo>
                      <a:pt x="3383280" y="6398260"/>
                    </a:moveTo>
                    <a:cubicBezTo>
                      <a:pt x="1720850" y="6398260"/>
                      <a:pt x="368300" y="5045710"/>
                      <a:pt x="368300" y="3383280"/>
                    </a:cubicBezTo>
                    <a:cubicBezTo>
                      <a:pt x="368300" y="1720850"/>
                      <a:pt x="1720850" y="368300"/>
                      <a:pt x="3383280" y="368300"/>
                    </a:cubicBezTo>
                    <a:cubicBezTo>
                      <a:pt x="5045710" y="368300"/>
                      <a:pt x="6398260" y="1720850"/>
                      <a:pt x="6398260" y="3383280"/>
                    </a:cubicBezTo>
                    <a:cubicBezTo>
                      <a:pt x="6398260" y="5045710"/>
                      <a:pt x="5045710" y="6398260"/>
                      <a:pt x="3383280" y="6398260"/>
                    </a:cubicBezTo>
                    <a:close/>
                  </a:path>
                </a:pathLst>
              </a:custGeom>
              <a:solidFill>
                <a:schemeClr val="tx1"/>
              </a:solidFill>
            </p:spPr>
          </p:sp>
        </p:grpSp>
      </p:grpSp>
      <p:sp>
        <p:nvSpPr>
          <p:cNvPr id="31" name="Rectangle 3">
            <a:extLst>
              <a:ext uri="{FF2B5EF4-FFF2-40B4-BE49-F238E27FC236}">
                <a16:creationId xmlns:a16="http://schemas.microsoft.com/office/drawing/2014/main" id="{BA91D315-2CB4-8D61-893E-A38E257B95DF}"/>
              </a:ext>
            </a:extLst>
          </p:cNvPr>
          <p:cNvSpPr txBox="1">
            <a:spLocks noChangeArrowheads="1"/>
          </p:cNvSpPr>
          <p:nvPr>
            <p:custDataLst>
              <p:tags r:id="rId1"/>
            </p:custDataLst>
          </p:nvPr>
        </p:nvSpPr>
        <p:spPr>
          <a:xfrm>
            <a:off x="329728" y="1153968"/>
            <a:ext cx="7676784" cy="339527"/>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b="1" dirty="0">
                <a:latin typeface="Times New Roman" panose="02020603050405020304" pitchFamily="18" charset="0"/>
                <a:cs typeface="Times New Roman" panose="02020603050405020304" pitchFamily="18" charset="0"/>
              </a:rPr>
              <a:t>SUB-MODULE 01.03 – LINE GRAPHS AND OGIVES</a:t>
            </a:r>
          </a:p>
        </p:txBody>
      </p:sp>
      <p:grpSp>
        <p:nvGrpSpPr>
          <p:cNvPr id="10" name="Group 9">
            <a:extLst>
              <a:ext uri="{FF2B5EF4-FFF2-40B4-BE49-F238E27FC236}">
                <a16:creationId xmlns:a16="http://schemas.microsoft.com/office/drawing/2014/main" id="{27765E95-3F28-90F4-2338-1EF2BB510A09}"/>
              </a:ext>
            </a:extLst>
          </p:cNvPr>
          <p:cNvGrpSpPr/>
          <p:nvPr/>
        </p:nvGrpSpPr>
        <p:grpSpPr>
          <a:xfrm>
            <a:off x="0" y="6544092"/>
            <a:ext cx="12192000" cy="313908"/>
            <a:chOff x="0" y="6544092"/>
            <a:chExt cx="12192000" cy="313908"/>
          </a:xfrm>
        </p:grpSpPr>
        <p:sp>
          <p:nvSpPr>
            <p:cNvPr id="18" name="Rectangle 17">
              <a:extLst>
                <a:ext uri="{FF2B5EF4-FFF2-40B4-BE49-F238E27FC236}">
                  <a16:creationId xmlns:a16="http://schemas.microsoft.com/office/drawing/2014/main" id="{FF6C2003-0D6D-6F00-688C-570172D0FBC9}"/>
                </a:ext>
              </a:extLst>
            </p:cNvPr>
            <p:cNvSpPr/>
            <p:nvPr/>
          </p:nvSpPr>
          <p:spPr>
            <a:xfrm>
              <a:off x="0" y="6544092"/>
              <a:ext cx="12192000" cy="31390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19" name="TextBox 10">
              <a:extLst>
                <a:ext uri="{FF2B5EF4-FFF2-40B4-BE49-F238E27FC236}">
                  <a16:creationId xmlns:a16="http://schemas.microsoft.com/office/drawing/2014/main" id="{A202395C-2833-5345-8651-69FE45E5CEF9}"/>
                </a:ext>
              </a:extLst>
            </p:cNvPr>
            <p:cNvSpPr txBox="1"/>
            <p:nvPr/>
          </p:nvSpPr>
          <p:spPr>
            <a:xfrm>
              <a:off x="109932" y="6577518"/>
              <a:ext cx="2794997" cy="247055"/>
            </a:xfrm>
            <a:prstGeom prst="rect">
              <a:avLst/>
            </a:prstGeom>
            <a:noFill/>
          </p:spPr>
          <p:txBody>
            <a:bodyPr lIns="0" tIns="0" rIns="0" bIns="0" rtlCol="0" anchor="ctr">
              <a:spAutoFit/>
            </a:bodyPr>
            <a:lstStyle/>
            <a:p>
              <a:pPr algn="just">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ENGR. VIOLDAN E. BAYOCOT</a:t>
              </a:r>
            </a:p>
          </p:txBody>
        </p:sp>
        <p:sp>
          <p:nvSpPr>
            <p:cNvPr id="20" name="TextBox 19">
              <a:extLst>
                <a:ext uri="{FF2B5EF4-FFF2-40B4-BE49-F238E27FC236}">
                  <a16:creationId xmlns:a16="http://schemas.microsoft.com/office/drawing/2014/main" id="{60EA776C-B636-2C6A-A747-F6F5D20C25C9}"/>
                </a:ext>
              </a:extLst>
            </p:cNvPr>
            <p:cNvSpPr txBox="1"/>
            <p:nvPr/>
          </p:nvSpPr>
          <p:spPr>
            <a:xfrm>
              <a:off x="3158929" y="6577518"/>
              <a:ext cx="5433668" cy="248145"/>
            </a:xfrm>
            <a:prstGeom prst="rect">
              <a:avLst/>
            </a:prstGeom>
            <a:noFill/>
          </p:spPr>
          <p:txBody>
            <a:bodyPr wrap="square" lIns="0" tIns="0" rIns="0" bIns="0" rtlCol="0" anchor="t">
              <a:spAutoFit/>
            </a:bodyPr>
            <a:lstStyle/>
            <a:p>
              <a:pPr algn="ct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[Krista K.] BECOME A PROBABILITY &amp; STATISTICS MASTER</a:t>
              </a:r>
            </a:p>
          </p:txBody>
        </p:sp>
        <p:sp>
          <p:nvSpPr>
            <p:cNvPr id="25" name="TextBox 24">
              <a:extLst>
                <a:ext uri="{FF2B5EF4-FFF2-40B4-BE49-F238E27FC236}">
                  <a16:creationId xmlns:a16="http://schemas.microsoft.com/office/drawing/2014/main" id="{7AB732B0-24A9-5F8F-46DB-60A03CADE7BA}"/>
                </a:ext>
              </a:extLst>
            </p:cNvPr>
            <p:cNvSpPr txBox="1"/>
            <p:nvPr/>
          </p:nvSpPr>
          <p:spPr>
            <a:xfrm>
              <a:off x="8387007" y="6577518"/>
              <a:ext cx="3701763" cy="248145"/>
            </a:xfrm>
            <a:prstGeom prst="rect">
              <a:avLst/>
            </a:prstGeom>
            <a:noFill/>
          </p:spPr>
          <p:txBody>
            <a:bodyPr wrap="square" lIns="0" tIns="0" rIns="0" bIns="0" rtlCol="0" anchor="t">
              <a:spAutoFit/>
            </a:bodyPr>
            <a:lstStyle/>
            <a:p>
              <a:pPr algn="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QUANTITATIVE METHODS</a:t>
              </a:r>
            </a:p>
          </p:txBody>
        </p:sp>
      </p:grpSp>
    </p:spTree>
    <p:extLst>
      <p:ext uri="{BB962C8B-B14F-4D97-AF65-F5344CB8AC3E}">
        <p14:creationId xmlns:p14="http://schemas.microsoft.com/office/powerpoint/2010/main" val="20714228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9EDBC-C337-AFD6-E1AF-0FB447F6D3E1}"/>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6B4412A8-9A60-04EA-340F-97B05D1A1661}"/>
              </a:ext>
            </a:extLst>
          </p:cNvPr>
          <p:cNvSpPr/>
          <p:nvPr/>
        </p:nvSpPr>
        <p:spPr>
          <a:xfrm>
            <a:off x="0" y="0"/>
            <a:ext cx="12192000" cy="548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sz="3000" b="1" dirty="0">
              <a:solidFill>
                <a:schemeClr val="tx1"/>
              </a:solidFill>
              <a:latin typeface="Times New Roman" panose="02020603050405020304" pitchFamily="18" charset="0"/>
              <a:cs typeface="Times New Roman" panose="02020603050405020304" pitchFamily="18" charset="0"/>
            </a:endParaRPr>
          </a:p>
        </p:txBody>
      </p:sp>
      <p:sp>
        <p:nvSpPr>
          <p:cNvPr id="10" name="Content Placeholder 2">
            <a:extLst>
              <a:ext uri="{FF2B5EF4-FFF2-40B4-BE49-F238E27FC236}">
                <a16:creationId xmlns:a16="http://schemas.microsoft.com/office/drawing/2014/main" id="{C53998BB-EC99-B95E-CD8E-BE302D5E5985}"/>
              </a:ext>
            </a:extLst>
          </p:cNvPr>
          <p:cNvSpPr txBox="1">
            <a:spLocks/>
          </p:cNvSpPr>
          <p:nvPr/>
        </p:nvSpPr>
        <p:spPr>
          <a:xfrm>
            <a:off x="0" y="0"/>
            <a:ext cx="12191998" cy="548641"/>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PH" sz="3000" b="1" dirty="0">
                <a:solidFill>
                  <a:schemeClr val="bg1"/>
                </a:solidFill>
                <a:latin typeface="Times New Roman" panose="02020603050405020304" pitchFamily="18" charset="0"/>
                <a:cs typeface="Times New Roman" panose="02020603050405020304" pitchFamily="18" charset="0"/>
              </a:rPr>
              <a:t>LINE GRAPHS</a:t>
            </a:r>
            <a:endParaRPr lang="en-PH" sz="3000" b="1" dirty="0">
              <a:solidFill>
                <a:schemeClr val="bg1"/>
              </a:solidFill>
              <a:latin typeface="Courier New" panose="02070309020205020404" pitchFamily="49" charset="0"/>
              <a:cs typeface="Courier New" panose="02070309020205020404" pitchFamily="49" charset="0"/>
            </a:endParaRPr>
          </a:p>
        </p:txBody>
      </p:sp>
      <p:sp>
        <p:nvSpPr>
          <p:cNvPr id="18" name="Subtitle 2">
            <a:extLst>
              <a:ext uri="{FF2B5EF4-FFF2-40B4-BE49-F238E27FC236}">
                <a16:creationId xmlns:a16="http://schemas.microsoft.com/office/drawing/2014/main" id="{53F062FC-95CC-7833-6D7E-F91DA1BB28D2}"/>
              </a:ext>
            </a:extLst>
          </p:cNvPr>
          <p:cNvSpPr txBox="1">
            <a:spLocks/>
          </p:cNvSpPr>
          <p:nvPr/>
        </p:nvSpPr>
        <p:spPr>
          <a:xfrm>
            <a:off x="682793" y="661576"/>
            <a:ext cx="10826414" cy="364142"/>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b="1" dirty="0">
                <a:latin typeface="Times New Roman" panose="02020603050405020304" pitchFamily="18" charset="0"/>
                <a:cs typeface="Times New Roman" panose="02020603050405020304" pitchFamily="18" charset="0"/>
              </a:rPr>
              <a:t>Line graphs </a:t>
            </a:r>
            <a:r>
              <a:rPr lang="en-US" sz="2000" dirty="0">
                <a:latin typeface="Times New Roman" panose="02020603050405020304" pitchFamily="18" charset="0"/>
                <a:cs typeface="Times New Roman" panose="02020603050405020304" pitchFamily="18" charset="0"/>
              </a:rPr>
              <a:t>are really similar to bar graphs.</a:t>
            </a:r>
          </a:p>
        </p:txBody>
      </p:sp>
      <p:sp>
        <p:nvSpPr>
          <p:cNvPr id="17" name="Subtitle 2">
            <a:extLst>
              <a:ext uri="{FF2B5EF4-FFF2-40B4-BE49-F238E27FC236}">
                <a16:creationId xmlns:a16="http://schemas.microsoft.com/office/drawing/2014/main" id="{63A629C7-CA2B-97B4-A856-A65CEEB27391}"/>
              </a:ext>
            </a:extLst>
          </p:cNvPr>
          <p:cNvSpPr txBox="1">
            <a:spLocks/>
          </p:cNvSpPr>
          <p:nvPr/>
        </p:nvSpPr>
        <p:spPr>
          <a:xfrm>
            <a:off x="682792" y="1138653"/>
            <a:ext cx="10826414" cy="652086"/>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dirty="0">
                <a:latin typeface="Times New Roman" panose="02020603050405020304" pitchFamily="18" charset="0"/>
                <a:cs typeface="Times New Roman" panose="02020603050405020304" pitchFamily="18" charset="0"/>
              </a:rPr>
              <a:t>In fact, to turn a bar graph into a line graph, all we have to do is connect the middle of the top of each bar to the middle of the top of the bar beside it with a straight line, and we’ll form the line graph.</a:t>
            </a:r>
          </a:p>
        </p:txBody>
      </p:sp>
      <p:grpSp>
        <p:nvGrpSpPr>
          <p:cNvPr id="6" name="Group 5">
            <a:extLst>
              <a:ext uri="{FF2B5EF4-FFF2-40B4-BE49-F238E27FC236}">
                <a16:creationId xmlns:a16="http://schemas.microsoft.com/office/drawing/2014/main" id="{8FA38589-3B81-7178-A101-2904D2EDC46D}"/>
              </a:ext>
            </a:extLst>
          </p:cNvPr>
          <p:cNvGrpSpPr/>
          <p:nvPr/>
        </p:nvGrpSpPr>
        <p:grpSpPr>
          <a:xfrm>
            <a:off x="0" y="6544092"/>
            <a:ext cx="12192000" cy="313908"/>
            <a:chOff x="0" y="6544092"/>
            <a:chExt cx="12192000" cy="313908"/>
          </a:xfrm>
        </p:grpSpPr>
        <p:sp>
          <p:nvSpPr>
            <p:cNvPr id="9" name="Rectangle 8">
              <a:extLst>
                <a:ext uri="{FF2B5EF4-FFF2-40B4-BE49-F238E27FC236}">
                  <a16:creationId xmlns:a16="http://schemas.microsoft.com/office/drawing/2014/main" id="{52A22232-F802-AFC3-ABE9-EAAED2A4C3A7}"/>
                </a:ext>
              </a:extLst>
            </p:cNvPr>
            <p:cNvSpPr/>
            <p:nvPr/>
          </p:nvSpPr>
          <p:spPr>
            <a:xfrm>
              <a:off x="0" y="6544092"/>
              <a:ext cx="12192000" cy="31390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11" name="TextBox 10">
              <a:extLst>
                <a:ext uri="{FF2B5EF4-FFF2-40B4-BE49-F238E27FC236}">
                  <a16:creationId xmlns:a16="http://schemas.microsoft.com/office/drawing/2014/main" id="{3911E7A6-5BCA-19DF-F254-85AF357AC510}"/>
                </a:ext>
              </a:extLst>
            </p:cNvPr>
            <p:cNvSpPr txBox="1"/>
            <p:nvPr/>
          </p:nvSpPr>
          <p:spPr>
            <a:xfrm>
              <a:off x="109932" y="6577518"/>
              <a:ext cx="2794997" cy="247055"/>
            </a:xfrm>
            <a:prstGeom prst="rect">
              <a:avLst/>
            </a:prstGeom>
            <a:noFill/>
          </p:spPr>
          <p:txBody>
            <a:bodyPr lIns="0" tIns="0" rIns="0" bIns="0" rtlCol="0" anchor="ctr">
              <a:spAutoFit/>
            </a:bodyPr>
            <a:lstStyle/>
            <a:p>
              <a:pPr algn="just">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ENGR. VIOLDAN E. BAYOCOT</a:t>
              </a:r>
            </a:p>
          </p:txBody>
        </p:sp>
        <p:sp>
          <p:nvSpPr>
            <p:cNvPr id="13" name="TextBox 12">
              <a:extLst>
                <a:ext uri="{FF2B5EF4-FFF2-40B4-BE49-F238E27FC236}">
                  <a16:creationId xmlns:a16="http://schemas.microsoft.com/office/drawing/2014/main" id="{D2868EEE-5DE8-53B5-88C8-F99D5DD9AFF5}"/>
                </a:ext>
              </a:extLst>
            </p:cNvPr>
            <p:cNvSpPr txBox="1"/>
            <p:nvPr/>
          </p:nvSpPr>
          <p:spPr>
            <a:xfrm>
              <a:off x="3158929" y="6577518"/>
              <a:ext cx="5433668" cy="248145"/>
            </a:xfrm>
            <a:prstGeom prst="rect">
              <a:avLst/>
            </a:prstGeom>
            <a:noFill/>
          </p:spPr>
          <p:txBody>
            <a:bodyPr wrap="square" lIns="0" tIns="0" rIns="0" bIns="0" rtlCol="0" anchor="t">
              <a:spAutoFit/>
            </a:bodyPr>
            <a:lstStyle/>
            <a:p>
              <a:pPr algn="ct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[Krista K.] BECOME A PROBABILITY &amp; STATISTICS MASTER</a:t>
              </a:r>
            </a:p>
          </p:txBody>
        </p:sp>
        <p:sp>
          <p:nvSpPr>
            <p:cNvPr id="14" name="TextBox 13">
              <a:extLst>
                <a:ext uri="{FF2B5EF4-FFF2-40B4-BE49-F238E27FC236}">
                  <a16:creationId xmlns:a16="http://schemas.microsoft.com/office/drawing/2014/main" id="{2D24A839-AEBB-FD4F-AB1C-70E6C0F2F193}"/>
                </a:ext>
              </a:extLst>
            </p:cNvPr>
            <p:cNvSpPr txBox="1"/>
            <p:nvPr/>
          </p:nvSpPr>
          <p:spPr>
            <a:xfrm>
              <a:off x="8387007" y="6577518"/>
              <a:ext cx="3701763" cy="248145"/>
            </a:xfrm>
            <a:prstGeom prst="rect">
              <a:avLst/>
            </a:prstGeom>
            <a:noFill/>
          </p:spPr>
          <p:txBody>
            <a:bodyPr wrap="square" lIns="0" tIns="0" rIns="0" bIns="0" rtlCol="0" anchor="t">
              <a:spAutoFit/>
            </a:bodyPr>
            <a:lstStyle/>
            <a:p>
              <a:pPr algn="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QUANTITATIVE METHODS</a:t>
              </a:r>
            </a:p>
          </p:txBody>
        </p:sp>
      </p:grpSp>
      <p:pic>
        <p:nvPicPr>
          <p:cNvPr id="3" name="Picture 2">
            <a:extLst>
              <a:ext uri="{FF2B5EF4-FFF2-40B4-BE49-F238E27FC236}">
                <a16:creationId xmlns:a16="http://schemas.microsoft.com/office/drawing/2014/main" id="{4F742E6D-B015-95FD-8C2F-5C14BD4AD3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54398" y="2033084"/>
            <a:ext cx="6883204" cy="4163340"/>
          </a:xfrm>
          <a:prstGeom prst="rect">
            <a:avLst/>
          </a:prstGeom>
        </p:spPr>
      </p:pic>
      <p:pic>
        <p:nvPicPr>
          <p:cNvPr id="5" name="Picture 4">
            <a:extLst>
              <a:ext uri="{FF2B5EF4-FFF2-40B4-BE49-F238E27FC236}">
                <a16:creationId xmlns:a16="http://schemas.microsoft.com/office/drawing/2014/main" id="{35D4E4E2-9C3A-163B-083A-447ABD9E87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54398" y="2033084"/>
            <a:ext cx="6897127" cy="4163340"/>
          </a:xfrm>
          <a:prstGeom prst="rect">
            <a:avLst/>
          </a:prstGeom>
        </p:spPr>
      </p:pic>
      <p:pic>
        <p:nvPicPr>
          <p:cNvPr id="19" name="Picture 18">
            <a:extLst>
              <a:ext uri="{FF2B5EF4-FFF2-40B4-BE49-F238E27FC236}">
                <a16:creationId xmlns:a16="http://schemas.microsoft.com/office/drawing/2014/main" id="{D512C24D-76EB-D5CB-90D1-426FFD628C4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59039" y="2033084"/>
            <a:ext cx="6892486" cy="4163340"/>
          </a:xfrm>
          <a:prstGeom prst="rect">
            <a:avLst/>
          </a:prstGeom>
        </p:spPr>
      </p:pic>
    </p:spTree>
    <p:extLst>
      <p:ext uri="{BB962C8B-B14F-4D97-AF65-F5344CB8AC3E}">
        <p14:creationId xmlns:p14="http://schemas.microsoft.com/office/powerpoint/2010/main" val="4194364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xEl>
                                              <p:pRg st="0" end="0"/>
                                            </p:txEl>
                                          </p:spTgt>
                                        </p:tgtEl>
                                        <p:attrNameLst>
                                          <p:attrName>style.visibility</p:attrName>
                                        </p:attrNameLst>
                                      </p:cBhvr>
                                      <p:to>
                                        <p:strVal val="visible"/>
                                      </p:to>
                                    </p:set>
                                    <p:animEffect transition="in" filter="fade">
                                      <p:cBhvr>
                                        <p:cTn id="12" dur="500"/>
                                        <p:tgtEl>
                                          <p:spTgt spid="1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down)">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up)">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wipe(up)">
                                      <p:cBhvr>
                                        <p:cTn id="2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A8A8A-A16B-D55F-0ED5-B2B67B19D86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B5C82E3-C7E3-077F-98A5-D09568CBB16B}"/>
              </a:ext>
            </a:extLst>
          </p:cNvPr>
          <p:cNvSpPr/>
          <p:nvPr/>
        </p:nvSpPr>
        <p:spPr>
          <a:xfrm>
            <a:off x="0" y="0"/>
            <a:ext cx="12192000" cy="548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sz="3000" b="1" dirty="0">
              <a:solidFill>
                <a:schemeClr val="tx1"/>
              </a:solidFill>
              <a:latin typeface="Times New Roman" panose="02020603050405020304" pitchFamily="18" charset="0"/>
              <a:cs typeface="Times New Roman" panose="02020603050405020304" pitchFamily="18" charset="0"/>
            </a:endParaRPr>
          </a:p>
        </p:txBody>
      </p:sp>
      <p:sp>
        <p:nvSpPr>
          <p:cNvPr id="7" name="Content Placeholder 2">
            <a:extLst>
              <a:ext uri="{FF2B5EF4-FFF2-40B4-BE49-F238E27FC236}">
                <a16:creationId xmlns:a16="http://schemas.microsoft.com/office/drawing/2014/main" id="{693D65BA-6443-0E61-3A0F-E8EEB4E7B0D0}"/>
              </a:ext>
            </a:extLst>
          </p:cNvPr>
          <p:cNvSpPr txBox="1">
            <a:spLocks/>
          </p:cNvSpPr>
          <p:nvPr/>
        </p:nvSpPr>
        <p:spPr>
          <a:xfrm>
            <a:off x="0" y="0"/>
            <a:ext cx="12191998" cy="548641"/>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PH" sz="3000" b="1" dirty="0">
                <a:solidFill>
                  <a:schemeClr val="bg1"/>
                </a:solidFill>
                <a:latin typeface="Times New Roman" panose="02020603050405020304" pitchFamily="18" charset="0"/>
                <a:cs typeface="Times New Roman" panose="02020603050405020304" pitchFamily="18" charset="0"/>
              </a:rPr>
              <a:t>LINE GRAPHS</a:t>
            </a:r>
            <a:endParaRPr lang="en-PH" sz="3000" b="1" dirty="0">
              <a:solidFill>
                <a:schemeClr val="bg1"/>
              </a:solidFill>
              <a:latin typeface="Courier New" panose="02070309020205020404" pitchFamily="49" charset="0"/>
              <a:cs typeface="Courier New" panose="02070309020205020404" pitchFamily="49" charset="0"/>
            </a:endParaRPr>
          </a:p>
        </p:txBody>
      </p:sp>
      <p:sp>
        <p:nvSpPr>
          <p:cNvPr id="25" name="Subtitle 2">
            <a:extLst>
              <a:ext uri="{FF2B5EF4-FFF2-40B4-BE49-F238E27FC236}">
                <a16:creationId xmlns:a16="http://schemas.microsoft.com/office/drawing/2014/main" id="{403BA6A1-0957-8D96-E223-993883AF2FB9}"/>
              </a:ext>
            </a:extLst>
          </p:cNvPr>
          <p:cNvSpPr txBox="1">
            <a:spLocks/>
          </p:cNvSpPr>
          <p:nvPr/>
        </p:nvSpPr>
        <p:spPr>
          <a:xfrm>
            <a:off x="682793" y="661576"/>
            <a:ext cx="10826414" cy="364142"/>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b="1" dirty="0">
                <a:latin typeface="Times New Roman" panose="02020603050405020304" pitchFamily="18" charset="0"/>
                <a:cs typeface="Times New Roman" panose="02020603050405020304" pitchFamily="18" charset="0"/>
              </a:rPr>
              <a:t>Line graphs </a:t>
            </a:r>
            <a:r>
              <a:rPr lang="en-US" sz="2000" dirty="0">
                <a:latin typeface="Times New Roman" panose="02020603050405020304" pitchFamily="18" charset="0"/>
                <a:cs typeface="Times New Roman" panose="02020603050405020304" pitchFamily="18" charset="0"/>
              </a:rPr>
              <a:t>are really similar to bar graphs.</a:t>
            </a:r>
          </a:p>
        </p:txBody>
      </p:sp>
      <p:sp>
        <p:nvSpPr>
          <p:cNvPr id="26" name="Subtitle 2">
            <a:extLst>
              <a:ext uri="{FF2B5EF4-FFF2-40B4-BE49-F238E27FC236}">
                <a16:creationId xmlns:a16="http://schemas.microsoft.com/office/drawing/2014/main" id="{B781C25E-4048-59AA-7971-F6CA4BF7C7BA}"/>
              </a:ext>
            </a:extLst>
          </p:cNvPr>
          <p:cNvSpPr txBox="1">
            <a:spLocks/>
          </p:cNvSpPr>
          <p:nvPr/>
        </p:nvSpPr>
        <p:spPr>
          <a:xfrm>
            <a:off x="682792" y="1138653"/>
            <a:ext cx="10826414" cy="652086"/>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dirty="0">
                <a:latin typeface="Times New Roman" panose="02020603050405020304" pitchFamily="18" charset="0"/>
                <a:cs typeface="Times New Roman" panose="02020603050405020304" pitchFamily="18" charset="0"/>
              </a:rPr>
              <a:t>In fact, to turn a bar graph into a line graph, all we have to do is connect the middle of the top of each bar to the middle of the top of the bar beside it with a straight line, and we’ll form the line graph.</a:t>
            </a:r>
          </a:p>
        </p:txBody>
      </p:sp>
      <p:sp>
        <p:nvSpPr>
          <p:cNvPr id="27" name="Subtitle 2">
            <a:extLst>
              <a:ext uri="{FF2B5EF4-FFF2-40B4-BE49-F238E27FC236}">
                <a16:creationId xmlns:a16="http://schemas.microsoft.com/office/drawing/2014/main" id="{B0F47170-BAD9-43AB-9607-298FB2D93F3E}"/>
              </a:ext>
            </a:extLst>
          </p:cNvPr>
          <p:cNvSpPr txBox="1">
            <a:spLocks/>
          </p:cNvSpPr>
          <p:nvPr/>
        </p:nvSpPr>
        <p:spPr>
          <a:xfrm>
            <a:off x="5515622" y="2380751"/>
            <a:ext cx="5838841" cy="369557"/>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sz="2000" dirty="0">
                <a:solidFill>
                  <a:srgbClr val="FF0000"/>
                </a:solidFill>
                <a:latin typeface="Times New Roman" panose="02020603050405020304" pitchFamily="18" charset="0"/>
                <a:cs typeface="Times New Roman" panose="02020603050405020304" pitchFamily="18" charset="0"/>
              </a:rPr>
              <a:t>In actuality, a </a:t>
            </a:r>
            <a:r>
              <a:rPr lang="en-US" sz="2000" b="1" dirty="0">
                <a:solidFill>
                  <a:srgbClr val="FF0000"/>
                </a:solidFill>
                <a:latin typeface="Times New Roman" panose="02020603050405020304" pitchFamily="18" charset="0"/>
                <a:cs typeface="Times New Roman" panose="02020603050405020304" pitchFamily="18" charset="0"/>
              </a:rPr>
              <a:t>line graph is a bad choice for this data</a:t>
            </a:r>
            <a:r>
              <a:rPr lang="en-US" sz="2000" dirty="0">
                <a:solidFill>
                  <a:srgbClr val="FF0000"/>
                </a:solidFill>
                <a:latin typeface="Times New Roman" panose="02020603050405020304" pitchFamily="18" charset="0"/>
                <a:cs typeface="Times New Roman" panose="02020603050405020304" pitchFamily="18" charset="0"/>
              </a:rPr>
              <a:t>.</a:t>
            </a:r>
          </a:p>
        </p:txBody>
      </p:sp>
      <p:sp>
        <p:nvSpPr>
          <p:cNvPr id="28" name="Subtitle 2">
            <a:extLst>
              <a:ext uri="{FF2B5EF4-FFF2-40B4-BE49-F238E27FC236}">
                <a16:creationId xmlns:a16="http://schemas.microsoft.com/office/drawing/2014/main" id="{493A30A6-EB7E-988A-5EC2-7CA31B0C52D0}"/>
              </a:ext>
            </a:extLst>
          </p:cNvPr>
          <p:cNvSpPr txBox="1">
            <a:spLocks/>
          </p:cNvSpPr>
          <p:nvPr/>
        </p:nvSpPr>
        <p:spPr>
          <a:xfrm>
            <a:off x="5515622" y="3270987"/>
            <a:ext cx="5993584" cy="1507682"/>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sz="2000" dirty="0">
                <a:latin typeface="Times New Roman" panose="02020603050405020304" pitchFamily="18" charset="0"/>
                <a:cs typeface="Times New Roman" panose="02020603050405020304" pitchFamily="18" charset="0"/>
              </a:rPr>
              <a:t>Line graphs are used to show changes over time or a connection between individuals, but this data is comparing things between different groups. That means the </a:t>
            </a:r>
            <a:r>
              <a:rPr lang="en-US" sz="2000" b="1" dirty="0">
                <a:latin typeface="Times New Roman" panose="02020603050405020304" pitchFamily="18" charset="0"/>
                <a:cs typeface="Times New Roman" panose="02020603050405020304" pitchFamily="18" charset="0"/>
              </a:rPr>
              <a:t>bar graph is a better choice than a line graph for this data in particular</a:t>
            </a:r>
            <a:r>
              <a:rPr lang="en-US" sz="2000" dirty="0">
                <a:latin typeface="Times New Roman" panose="02020603050405020304" pitchFamily="18" charset="0"/>
                <a:cs typeface="Times New Roman" panose="02020603050405020304" pitchFamily="18" charset="0"/>
              </a:rPr>
              <a:t>.</a:t>
            </a:r>
          </a:p>
        </p:txBody>
      </p:sp>
      <p:sp>
        <p:nvSpPr>
          <p:cNvPr id="29" name="Subtitle 2">
            <a:extLst>
              <a:ext uri="{FF2B5EF4-FFF2-40B4-BE49-F238E27FC236}">
                <a16:creationId xmlns:a16="http://schemas.microsoft.com/office/drawing/2014/main" id="{B74599CC-A28E-CBC1-3E93-6D8454056CEC}"/>
              </a:ext>
            </a:extLst>
          </p:cNvPr>
          <p:cNvSpPr txBox="1">
            <a:spLocks/>
          </p:cNvSpPr>
          <p:nvPr/>
        </p:nvSpPr>
        <p:spPr>
          <a:xfrm>
            <a:off x="5515622" y="5050707"/>
            <a:ext cx="5993584" cy="686702"/>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dirty="0">
                <a:latin typeface="Times New Roman" panose="02020603050405020304" pitchFamily="18" charset="0"/>
                <a:cs typeface="Times New Roman" panose="02020603050405020304" pitchFamily="18" charset="0"/>
              </a:rPr>
              <a:t>Let’s look at an example with data that’s much better suited for a line graph</a:t>
            </a:r>
          </a:p>
        </p:txBody>
      </p:sp>
      <p:grpSp>
        <p:nvGrpSpPr>
          <p:cNvPr id="2" name="Group 1">
            <a:extLst>
              <a:ext uri="{FF2B5EF4-FFF2-40B4-BE49-F238E27FC236}">
                <a16:creationId xmlns:a16="http://schemas.microsoft.com/office/drawing/2014/main" id="{C8715C7A-8880-904C-8E3E-14CA000F86CA}"/>
              </a:ext>
            </a:extLst>
          </p:cNvPr>
          <p:cNvGrpSpPr/>
          <p:nvPr/>
        </p:nvGrpSpPr>
        <p:grpSpPr>
          <a:xfrm>
            <a:off x="0" y="6544092"/>
            <a:ext cx="12192000" cy="313908"/>
            <a:chOff x="0" y="6544092"/>
            <a:chExt cx="12192000" cy="313908"/>
          </a:xfrm>
        </p:grpSpPr>
        <p:sp>
          <p:nvSpPr>
            <p:cNvPr id="3" name="Rectangle 2">
              <a:extLst>
                <a:ext uri="{FF2B5EF4-FFF2-40B4-BE49-F238E27FC236}">
                  <a16:creationId xmlns:a16="http://schemas.microsoft.com/office/drawing/2014/main" id="{964C1B35-FFFD-1236-70AB-B1E8914E20EF}"/>
                </a:ext>
              </a:extLst>
            </p:cNvPr>
            <p:cNvSpPr/>
            <p:nvPr/>
          </p:nvSpPr>
          <p:spPr>
            <a:xfrm>
              <a:off x="0" y="6544092"/>
              <a:ext cx="12192000" cy="31390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5" name="TextBox 10">
              <a:extLst>
                <a:ext uri="{FF2B5EF4-FFF2-40B4-BE49-F238E27FC236}">
                  <a16:creationId xmlns:a16="http://schemas.microsoft.com/office/drawing/2014/main" id="{A99C9B52-8CDC-8C2D-BE8D-8BA7CE711585}"/>
                </a:ext>
              </a:extLst>
            </p:cNvPr>
            <p:cNvSpPr txBox="1"/>
            <p:nvPr/>
          </p:nvSpPr>
          <p:spPr>
            <a:xfrm>
              <a:off x="109932" y="6577518"/>
              <a:ext cx="2794997" cy="247055"/>
            </a:xfrm>
            <a:prstGeom prst="rect">
              <a:avLst/>
            </a:prstGeom>
            <a:noFill/>
          </p:spPr>
          <p:txBody>
            <a:bodyPr lIns="0" tIns="0" rIns="0" bIns="0" rtlCol="0" anchor="ctr">
              <a:spAutoFit/>
            </a:bodyPr>
            <a:lstStyle/>
            <a:p>
              <a:pPr algn="just">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ENGR. VIOLDAN E. BAYOCOT</a:t>
              </a:r>
            </a:p>
          </p:txBody>
        </p:sp>
        <p:sp>
          <p:nvSpPr>
            <p:cNvPr id="6" name="TextBox 5">
              <a:extLst>
                <a:ext uri="{FF2B5EF4-FFF2-40B4-BE49-F238E27FC236}">
                  <a16:creationId xmlns:a16="http://schemas.microsoft.com/office/drawing/2014/main" id="{FCC9B73C-1320-27EA-BF2C-B1F927270502}"/>
                </a:ext>
              </a:extLst>
            </p:cNvPr>
            <p:cNvSpPr txBox="1"/>
            <p:nvPr/>
          </p:nvSpPr>
          <p:spPr>
            <a:xfrm>
              <a:off x="3158929" y="6577518"/>
              <a:ext cx="5433668" cy="248145"/>
            </a:xfrm>
            <a:prstGeom prst="rect">
              <a:avLst/>
            </a:prstGeom>
            <a:noFill/>
          </p:spPr>
          <p:txBody>
            <a:bodyPr wrap="square" lIns="0" tIns="0" rIns="0" bIns="0" rtlCol="0" anchor="t">
              <a:spAutoFit/>
            </a:bodyPr>
            <a:lstStyle/>
            <a:p>
              <a:pPr algn="ct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[Krista K.] BECOME A PROBABILITY &amp; STATISTICS MASTER</a:t>
              </a:r>
            </a:p>
          </p:txBody>
        </p:sp>
        <p:sp>
          <p:nvSpPr>
            <p:cNvPr id="8" name="TextBox 7">
              <a:extLst>
                <a:ext uri="{FF2B5EF4-FFF2-40B4-BE49-F238E27FC236}">
                  <a16:creationId xmlns:a16="http://schemas.microsoft.com/office/drawing/2014/main" id="{269694DB-0EE7-2592-F918-593073E36FF8}"/>
                </a:ext>
              </a:extLst>
            </p:cNvPr>
            <p:cNvSpPr txBox="1"/>
            <p:nvPr/>
          </p:nvSpPr>
          <p:spPr>
            <a:xfrm>
              <a:off x="8387007" y="6577518"/>
              <a:ext cx="3701763" cy="248145"/>
            </a:xfrm>
            <a:prstGeom prst="rect">
              <a:avLst/>
            </a:prstGeom>
            <a:noFill/>
          </p:spPr>
          <p:txBody>
            <a:bodyPr wrap="square" lIns="0" tIns="0" rIns="0" bIns="0" rtlCol="0" anchor="t">
              <a:spAutoFit/>
            </a:bodyPr>
            <a:lstStyle/>
            <a:p>
              <a:pPr algn="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QUANTITATIVE METHODS</a:t>
              </a:r>
            </a:p>
          </p:txBody>
        </p:sp>
      </p:grpSp>
      <p:pic>
        <p:nvPicPr>
          <p:cNvPr id="9" name="Picture 8">
            <a:extLst>
              <a:ext uri="{FF2B5EF4-FFF2-40B4-BE49-F238E27FC236}">
                <a16:creationId xmlns:a16="http://schemas.microsoft.com/office/drawing/2014/main" id="{12213823-AFA5-7266-6B09-5ED4CA6247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6094" y="2427283"/>
            <a:ext cx="5289528" cy="3195089"/>
          </a:xfrm>
          <a:prstGeom prst="rect">
            <a:avLst/>
          </a:prstGeom>
        </p:spPr>
      </p:pic>
    </p:spTree>
    <p:extLst>
      <p:ext uri="{BB962C8B-B14F-4D97-AF65-F5344CB8AC3E}">
        <p14:creationId xmlns:p14="http://schemas.microsoft.com/office/powerpoint/2010/main" val="40649638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wipe(up)">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wipe(up)">
                                      <p:cBhvr>
                                        <p:cTn id="1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2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AB64D-0D30-FDAF-1F3B-3F862AE7BED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7C1A118-5BAE-307A-F951-E4BEE1218F29}"/>
              </a:ext>
            </a:extLst>
          </p:cNvPr>
          <p:cNvSpPr/>
          <p:nvPr/>
        </p:nvSpPr>
        <p:spPr>
          <a:xfrm>
            <a:off x="0" y="0"/>
            <a:ext cx="12192000" cy="548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sz="3000" b="1" dirty="0">
              <a:solidFill>
                <a:schemeClr val="tx1"/>
              </a:solidFill>
              <a:latin typeface="Times New Roman" panose="02020603050405020304" pitchFamily="18" charset="0"/>
              <a:cs typeface="Times New Roman" panose="02020603050405020304" pitchFamily="18" charset="0"/>
            </a:endParaRPr>
          </a:p>
        </p:txBody>
      </p:sp>
      <p:sp>
        <p:nvSpPr>
          <p:cNvPr id="7" name="Content Placeholder 2">
            <a:extLst>
              <a:ext uri="{FF2B5EF4-FFF2-40B4-BE49-F238E27FC236}">
                <a16:creationId xmlns:a16="http://schemas.microsoft.com/office/drawing/2014/main" id="{B711F8A9-5CAF-B20C-9EC6-F3288F7FA01A}"/>
              </a:ext>
            </a:extLst>
          </p:cNvPr>
          <p:cNvSpPr txBox="1">
            <a:spLocks/>
          </p:cNvSpPr>
          <p:nvPr/>
        </p:nvSpPr>
        <p:spPr>
          <a:xfrm>
            <a:off x="0" y="0"/>
            <a:ext cx="12191998" cy="548641"/>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PH" sz="3000" b="1" dirty="0">
                <a:solidFill>
                  <a:schemeClr val="bg1"/>
                </a:solidFill>
                <a:latin typeface="Times New Roman" panose="02020603050405020304" pitchFamily="18" charset="0"/>
                <a:cs typeface="Times New Roman" panose="02020603050405020304" pitchFamily="18" charset="0"/>
              </a:rPr>
              <a:t>LINE GRAPHS</a:t>
            </a:r>
            <a:endParaRPr lang="en-PH" sz="3000" b="1" dirty="0">
              <a:solidFill>
                <a:schemeClr val="bg1"/>
              </a:solidFill>
              <a:latin typeface="Courier New" panose="02070309020205020404" pitchFamily="49" charset="0"/>
              <a:cs typeface="Courier New" panose="02070309020205020404" pitchFamily="49" charset="0"/>
            </a:endParaRPr>
          </a:p>
        </p:txBody>
      </p:sp>
      <p:sp>
        <p:nvSpPr>
          <p:cNvPr id="29" name="Subtitle 2">
            <a:extLst>
              <a:ext uri="{FF2B5EF4-FFF2-40B4-BE49-F238E27FC236}">
                <a16:creationId xmlns:a16="http://schemas.microsoft.com/office/drawing/2014/main" id="{C4EEB36B-DF9D-CE87-A97A-8FC63538B4F1}"/>
              </a:ext>
            </a:extLst>
          </p:cNvPr>
          <p:cNvSpPr txBox="1">
            <a:spLocks/>
          </p:cNvSpPr>
          <p:nvPr/>
        </p:nvSpPr>
        <p:spPr>
          <a:xfrm>
            <a:off x="1753686" y="687512"/>
            <a:ext cx="8684626" cy="313908"/>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dirty="0">
                <a:latin typeface="Times New Roman" panose="02020603050405020304" pitchFamily="18" charset="0"/>
                <a:cs typeface="Times New Roman" panose="02020603050405020304" pitchFamily="18" charset="0"/>
              </a:rPr>
              <a:t>Let’s look at an example with data that’s much better suited for a line graph</a:t>
            </a:r>
          </a:p>
        </p:txBody>
      </p:sp>
      <p:graphicFrame>
        <p:nvGraphicFramePr>
          <p:cNvPr id="2" name="Table 1">
            <a:extLst>
              <a:ext uri="{FF2B5EF4-FFF2-40B4-BE49-F238E27FC236}">
                <a16:creationId xmlns:a16="http://schemas.microsoft.com/office/drawing/2014/main" id="{CD10DC90-9E98-6671-43FE-3B69DB39863E}"/>
              </a:ext>
            </a:extLst>
          </p:cNvPr>
          <p:cNvGraphicFramePr>
            <a:graphicFrameLocks noGrp="1"/>
          </p:cNvGraphicFramePr>
          <p:nvPr>
            <p:extLst>
              <p:ext uri="{D42A27DB-BD31-4B8C-83A1-F6EECF244321}">
                <p14:modId xmlns:p14="http://schemas.microsoft.com/office/powerpoint/2010/main" val="4060437984"/>
              </p:ext>
            </p:extLst>
          </p:nvPr>
        </p:nvGraphicFramePr>
        <p:xfrm>
          <a:off x="4825998" y="1588685"/>
          <a:ext cx="2540001" cy="4820920"/>
        </p:xfrm>
        <a:graphic>
          <a:graphicData uri="http://schemas.openxmlformats.org/drawingml/2006/table">
            <a:tbl>
              <a:tblPr firstRow="1" bandRow="1">
                <a:tableStyleId>{073A0DAA-6AF3-43AB-8588-CEC1D06C72B9}</a:tableStyleId>
              </a:tblPr>
              <a:tblGrid>
                <a:gridCol w="1031149">
                  <a:extLst>
                    <a:ext uri="{9D8B030D-6E8A-4147-A177-3AD203B41FA5}">
                      <a16:colId xmlns:a16="http://schemas.microsoft.com/office/drawing/2014/main" val="375650498"/>
                    </a:ext>
                  </a:extLst>
                </a:gridCol>
                <a:gridCol w="1508852">
                  <a:extLst>
                    <a:ext uri="{9D8B030D-6E8A-4147-A177-3AD203B41FA5}">
                      <a16:colId xmlns:a16="http://schemas.microsoft.com/office/drawing/2014/main" val="3484571016"/>
                    </a:ext>
                  </a:extLst>
                </a:gridCol>
              </a:tblGrid>
              <a:tr h="370840">
                <a:tc>
                  <a:txBody>
                    <a:bodyPr/>
                    <a:lstStyle/>
                    <a:p>
                      <a:pPr algn="ctr"/>
                      <a:r>
                        <a:rPr lang="en-US" dirty="0">
                          <a:latin typeface="Times New Roman" panose="02020603050405020304" pitchFamily="18" charset="0"/>
                          <a:cs typeface="Times New Roman" panose="02020603050405020304" pitchFamily="18" charset="0"/>
                        </a:rPr>
                        <a:t>Month</a:t>
                      </a:r>
                    </a:p>
                  </a:txBody>
                  <a:tcPr/>
                </a:tc>
                <a:tc>
                  <a:txBody>
                    <a:bodyPr/>
                    <a:lstStyle/>
                    <a:p>
                      <a:pPr algn="ctr"/>
                      <a:r>
                        <a:rPr lang="en-US" dirty="0">
                          <a:latin typeface="Times New Roman" panose="02020603050405020304" pitchFamily="18" charset="0"/>
                          <a:cs typeface="Times New Roman" panose="02020603050405020304" pitchFamily="18" charset="0"/>
                        </a:rPr>
                        <a:t>Average high</a:t>
                      </a:r>
                    </a:p>
                  </a:txBody>
                  <a:tcPr/>
                </a:tc>
                <a:extLst>
                  <a:ext uri="{0D108BD9-81ED-4DB2-BD59-A6C34878D82A}">
                    <a16:rowId xmlns:a16="http://schemas.microsoft.com/office/drawing/2014/main" val="269984840"/>
                  </a:ext>
                </a:extLst>
              </a:tr>
              <a:tr h="370840">
                <a:tc>
                  <a:txBody>
                    <a:bodyPr/>
                    <a:lstStyle/>
                    <a:p>
                      <a:pPr algn="ctr"/>
                      <a:r>
                        <a:rPr lang="en-US" dirty="0">
                          <a:latin typeface="Times New Roman" panose="02020603050405020304" pitchFamily="18" charset="0"/>
                          <a:cs typeface="Times New Roman" panose="02020603050405020304" pitchFamily="18" charset="0"/>
                        </a:rPr>
                        <a:t>JAN</a:t>
                      </a:r>
                    </a:p>
                  </a:txBody>
                  <a:tcPr/>
                </a:tc>
                <a:tc>
                  <a:txBody>
                    <a:bodyPr/>
                    <a:lstStyle/>
                    <a:p>
                      <a:pPr algn="ctr"/>
                      <a:r>
                        <a:rPr lang="en-US" dirty="0">
                          <a:latin typeface="Times New Roman" panose="02020603050405020304" pitchFamily="18" charset="0"/>
                          <a:cs typeface="Times New Roman" panose="02020603050405020304" pitchFamily="18" charset="0"/>
                        </a:rPr>
                        <a:t>69</a:t>
                      </a:r>
                    </a:p>
                  </a:txBody>
                  <a:tcPr/>
                </a:tc>
                <a:extLst>
                  <a:ext uri="{0D108BD9-81ED-4DB2-BD59-A6C34878D82A}">
                    <a16:rowId xmlns:a16="http://schemas.microsoft.com/office/drawing/2014/main" val="216532214"/>
                  </a:ext>
                </a:extLst>
              </a:tr>
              <a:tr h="370840">
                <a:tc>
                  <a:txBody>
                    <a:bodyPr/>
                    <a:lstStyle/>
                    <a:p>
                      <a:pPr algn="ctr"/>
                      <a:r>
                        <a:rPr lang="en-US" dirty="0">
                          <a:latin typeface="Times New Roman" panose="02020603050405020304" pitchFamily="18" charset="0"/>
                          <a:cs typeface="Times New Roman" panose="02020603050405020304" pitchFamily="18" charset="0"/>
                        </a:rPr>
                        <a:t>FEB</a:t>
                      </a:r>
                    </a:p>
                  </a:txBody>
                  <a:tcPr/>
                </a:tc>
                <a:tc>
                  <a:txBody>
                    <a:bodyPr/>
                    <a:lstStyle/>
                    <a:p>
                      <a:pPr algn="ctr"/>
                      <a:r>
                        <a:rPr lang="en-US" dirty="0">
                          <a:latin typeface="Times New Roman" panose="02020603050405020304" pitchFamily="18" charset="0"/>
                          <a:cs typeface="Times New Roman" panose="02020603050405020304" pitchFamily="18" charset="0"/>
                        </a:rPr>
                        <a:t>73</a:t>
                      </a:r>
                    </a:p>
                  </a:txBody>
                  <a:tcPr/>
                </a:tc>
                <a:extLst>
                  <a:ext uri="{0D108BD9-81ED-4DB2-BD59-A6C34878D82A}">
                    <a16:rowId xmlns:a16="http://schemas.microsoft.com/office/drawing/2014/main" val="869741259"/>
                  </a:ext>
                </a:extLst>
              </a:tr>
              <a:tr h="370840">
                <a:tc>
                  <a:txBody>
                    <a:bodyPr/>
                    <a:lstStyle/>
                    <a:p>
                      <a:pPr algn="ctr"/>
                      <a:r>
                        <a:rPr lang="en-US" dirty="0">
                          <a:latin typeface="Times New Roman" panose="02020603050405020304" pitchFamily="18" charset="0"/>
                          <a:cs typeface="Times New Roman" panose="02020603050405020304" pitchFamily="18" charset="0"/>
                        </a:rPr>
                        <a:t>MAR</a:t>
                      </a:r>
                    </a:p>
                  </a:txBody>
                  <a:tcPr/>
                </a:tc>
                <a:tc>
                  <a:txBody>
                    <a:bodyPr/>
                    <a:lstStyle/>
                    <a:p>
                      <a:pPr algn="ctr"/>
                      <a:r>
                        <a:rPr lang="en-US" dirty="0">
                          <a:latin typeface="Times New Roman" panose="02020603050405020304" pitchFamily="18" charset="0"/>
                          <a:cs typeface="Times New Roman" panose="02020603050405020304" pitchFamily="18" charset="0"/>
                        </a:rPr>
                        <a:t>78</a:t>
                      </a:r>
                    </a:p>
                  </a:txBody>
                  <a:tcPr/>
                </a:tc>
                <a:extLst>
                  <a:ext uri="{0D108BD9-81ED-4DB2-BD59-A6C34878D82A}">
                    <a16:rowId xmlns:a16="http://schemas.microsoft.com/office/drawing/2014/main" val="1484968247"/>
                  </a:ext>
                </a:extLst>
              </a:tr>
              <a:tr h="370840">
                <a:tc>
                  <a:txBody>
                    <a:bodyPr/>
                    <a:lstStyle/>
                    <a:p>
                      <a:pPr algn="ctr"/>
                      <a:r>
                        <a:rPr lang="en-US" dirty="0">
                          <a:latin typeface="Times New Roman" panose="02020603050405020304" pitchFamily="18" charset="0"/>
                          <a:cs typeface="Times New Roman" panose="02020603050405020304" pitchFamily="18" charset="0"/>
                        </a:rPr>
                        <a:t>APR</a:t>
                      </a:r>
                    </a:p>
                  </a:txBody>
                  <a:tcPr/>
                </a:tc>
                <a:tc>
                  <a:txBody>
                    <a:bodyPr/>
                    <a:lstStyle/>
                    <a:p>
                      <a:pPr algn="ctr"/>
                      <a:r>
                        <a:rPr lang="en-US" dirty="0">
                          <a:latin typeface="Times New Roman" panose="02020603050405020304" pitchFamily="18" charset="0"/>
                          <a:cs typeface="Times New Roman" panose="02020603050405020304" pitchFamily="18" charset="0"/>
                        </a:rPr>
                        <a:t>86</a:t>
                      </a:r>
                    </a:p>
                  </a:txBody>
                  <a:tcPr/>
                </a:tc>
                <a:extLst>
                  <a:ext uri="{0D108BD9-81ED-4DB2-BD59-A6C34878D82A}">
                    <a16:rowId xmlns:a16="http://schemas.microsoft.com/office/drawing/2014/main" val="2114948751"/>
                  </a:ext>
                </a:extLst>
              </a:tr>
              <a:tr h="370840">
                <a:tc>
                  <a:txBody>
                    <a:bodyPr/>
                    <a:lstStyle/>
                    <a:p>
                      <a:pPr algn="ctr"/>
                      <a:r>
                        <a:rPr lang="en-US" dirty="0">
                          <a:latin typeface="Times New Roman" panose="02020603050405020304" pitchFamily="18" charset="0"/>
                          <a:cs typeface="Times New Roman" panose="02020603050405020304" pitchFamily="18" charset="0"/>
                        </a:rPr>
                        <a:t>MAY</a:t>
                      </a:r>
                    </a:p>
                  </a:txBody>
                  <a:tcPr/>
                </a:tc>
                <a:tc>
                  <a:txBody>
                    <a:bodyPr/>
                    <a:lstStyle/>
                    <a:p>
                      <a:pPr algn="ctr"/>
                      <a:r>
                        <a:rPr lang="en-US" dirty="0">
                          <a:latin typeface="Times New Roman" panose="02020603050405020304" pitchFamily="18" charset="0"/>
                          <a:cs typeface="Times New Roman" panose="02020603050405020304" pitchFamily="18" charset="0"/>
                        </a:rPr>
                        <a:t>95</a:t>
                      </a:r>
                    </a:p>
                  </a:txBody>
                  <a:tcPr/>
                </a:tc>
                <a:extLst>
                  <a:ext uri="{0D108BD9-81ED-4DB2-BD59-A6C34878D82A}">
                    <a16:rowId xmlns:a16="http://schemas.microsoft.com/office/drawing/2014/main" val="4120266748"/>
                  </a:ext>
                </a:extLst>
              </a:tr>
              <a:tr h="370840">
                <a:tc>
                  <a:txBody>
                    <a:bodyPr/>
                    <a:lstStyle/>
                    <a:p>
                      <a:pPr algn="ctr"/>
                      <a:r>
                        <a:rPr lang="en-US" dirty="0">
                          <a:latin typeface="Times New Roman" panose="02020603050405020304" pitchFamily="18" charset="0"/>
                          <a:cs typeface="Times New Roman" panose="02020603050405020304" pitchFamily="18" charset="0"/>
                        </a:rPr>
                        <a:t>JUN</a:t>
                      </a:r>
                    </a:p>
                  </a:txBody>
                  <a:tcPr/>
                </a:tc>
                <a:tc>
                  <a:txBody>
                    <a:bodyPr/>
                    <a:lstStyle/>
                    <a:p>
                      <a:pPr algn="ctr"/>
                      <a:r>
                        <a:rPr lang="en-US" dirty="0">
                          <a:latin typeface="Times New Roman" panose="02020603050405020304" pitchFamily="18" charset="0"/>
                          <a:cs typeface="Times New Roman" panose="02020603050405020304" pitchFamily="18" charset="0"/>
                        </a:rPr>
                        <a:t>103</a:t>
                      </a:r>
                    </a:p>
                  </a:txBody>
                  <a:tcPr/>
                </a:tc>
                <a:extLst>
                  <a:ext uri="{0D108BD9-81ED-4DB2-BD59-A6C34878D82A}">
                    <a16:rowId xmlns:a16="http://schemas.microsoft.com/office/drawing/2014/main" val="1859694116"/>
                  </a:ext>
                </a:extLst>
              </a:tr>
              <a:tr h="370840">
                <a:tc>
                  <a:txBody>
                    <a:bodyPr/>
                    <a:lstStyle/>
                    <a:p>
                      <a:pPr algn="ctr"/>
                      <a:r>
                        <a:rPr lang="en-US" dirty="0">
                          <a:latin typeface="Times New Roman" panose="02020603050405020304" pitchFamily="18" charset="0"/>
                          <a:cs typeface="Times New Roman" panose="02020603050405020304" pitchFamily="18" charset="0"/>
                        </a:rPr>
                        <a:t>JUL</a:t>
                      </a:r>
                    </a:p>
                  </a:txBody>
                  <a:tcPr/>
                </a:tc>
                <a:tc>
                  <a:txBody>
                    <a:bodyPr/>
                    <a:lstStyle/>
                    <a:p>
                      <a:pPr algn="ctr"/>
                      <a:r>
                        <a:rPr lang="en-US" dirty="0">
                          <a:latin typeface="Times New Roman" panose="02020603050405020304" pitchFamily="18" charset="0"/>
                          <a:cs typeface="Times New Roman" panose="02020603050405020304" pitchFamily="18" charset="0"/>
                        </a:rPr>
                        <a:t>105</a:t>
                      </a:r>
                    </a:p>
                  </a:txBody>
                  <a:tcPr/>
                </a:tc>
                <a:extLst>
                  <a:ext uri="{0D108BD9-81ED-4DB2-BD59-A6C34878D82A}">
                    <a16:rowId xmlns:a16="http://schemas.microsoft.com/office/drawing/2014/main" val="1295190862"/>
                  </a:ext>
                </a:extLst>
              </a:tr>
              <a:tr h="370840">
                <a:tc>
                  <a:txBody>
                    <a:bodyPr/>
                    <a:lstStyle/>
                    <a:p>
                      <a:pPr algn="ctr"/>
                      <a:r>
                        <a:rPr lang="en-US" dirty="0">
                          <a:latin typeface="Times New Roman" panose="02020603050405020304" pitchFamily="18" charset="0"/>
                          <a:cs typeface="Times New Roman" panose="02020603050405020304" pitchFamily="18" charset="0"/>
                        </a:rPr>
                        <a:t>AUG</a:t>
                      </a:r>
                    </a:p>
                  </a:txBody>
                  <a:tcPr/>
                </a:tc>
                <a:tc>
                  <a:txBody>
                    <a:bodyPr/>
                    <a:lstStyle/>
                    <a:p>
                      <a:pPr algn="ctr"/>
                      <a:r>
                        <a:rPr lang="en-US" dirty="0">
                          <a:latin typeface="Times New Roman" panose="02020603050405020304" pitchFamily="18" charset="0"/>
                          <a:cs typeface="Times New Roman" panose="02020603050405020304" pitchFamily="18" charset="0"/>
                        </a:rPr>
                        <a:t>103</a:t>
                      </a:r>
                    </a:p>
                  </a:txBody>
                  <a:tcPr/>
                </a:tc>
                <a:extLst>
                  <a:ext uri="{0D108BD9-81ED-4DB2-BD59-A6C34878D82A}">
                    <a16:rowId xmlns:a16="http://schemas.microsoft.com/office/drawing/2014/main" val="302022645"/>
                  </a:ext>
                </a:extLst>
              </a:tr>
              <a:tr h="370840">
                <a:tc>
                  <a:txBody>
                    <a:bodyPr/>
                    <a:lstStyle/>
                    <a:p>
                      <a:pPr algn="ctr"/>
                      <a:r>
                        <a:rPr lang="en-US" dirty="0">
                          <a:latin typeface="Times New Roman" panose="02020603050405020304" pitchFamily="18" charset="0"/>
                          <a:cs typeface="Times New Roman" panose="02020603050405020304" pitchFamily="18" charset="0"/>
                        </a:rPr>
                        <a:t>SEP</a:t>
                      </a:r>
                    </a:p>
                  </a:txBody>
                  <a:tcPr/>
                </a:tc>
                <a:tc>
                  <a:txBody>
                    <a:bodyPr/>
                    <a:lstStyle/>
                    <a:p>
                      <a:pPr algn="ctr"/>
                      <a:r>
                        <a:rPr lang="en-US" dirty="0">
                          <a:latin typeface="Times New Roman" panose="02020603050405020304" pitchFamily="18" charset="0"/>
                          <a:cs typeface="Times New Roman" panose="02020603050405020304" pitchFamily="18" charset="0"/>
                        </a:rPr>
                        <a:t>100</a:t>
                      </a:r>
                    </a:p>
                  </a:txBody>
                  <a:tcPr/>
                </a:tc>
                <a:extLst>
                  <a:ext uri="{0D108BD9-81ED-4DB2-BD59-A6C34878D82A}">
                    <a16:rowId xmlns:a16="http://schemas.microsoft.com/office/drawing/2014/main" val="820867800"/>
                  </a:ext>
                </a:extLst>
              </a:tr>
              <a:tr h="370840">
                <a:tc>
                  <a:txBody>
                    <a:bodyPr/>
                    <a:lstStyle/>
                    <a:p>
                      <a:pPr algn="ctr"/>
                      <a:r>
                        <a:rPr lang="en-US" dirty="0">
                          <a:latin typeface="Times New Roman" panose="02020603050405020304" pitchFamily="18" charset="0"/>
                          <a:cs typeface="Times New Roman" panose="02020603050405020304" pitchFamily="18" charset="0"/>
                        </a:rPr>
                        <a:t>OCT</a:t>
                      </a:r>
                    </a:p>
                  </a:txBody>
                  <a:tcPr/>
                </a:tc>
                <a:tc>
                  <a:txBody>
                    <a:bodyPr/>
                    <a:lstStyle/>
                    <a:p>
                      <a:pPr algn="ctr"/>
                      <a:r>
                        <a:rPr lang="en-US" dirty="0">
                          <a:latin typeface="Times New Roman" panose="02020603050405020304" pitchFamily="18" charset="0"/>
                          <a:cs typeface="Times New Roman" panose="02020603050405020304" pitchFamily="18" charset="0"/>
                        </a:rPr>
                        <a:t>89</a:t>
                      </a:r>
                    </a:p>
                  </a:txBody>
                  <a:tcPr/>
                </a:tc>
                <a:extLst>
                  <a:ext uri="{0D108BD9-81ED-4DB2-BD59-A6C34878D82A}">
                    <a16:rowId xmlns:a16="http://schemas.microsoft.com/office/drawing/2014/main" val="2479028342"/>
                  </a:ext>
                </a:extLst>
              </a:tr>
              <a:tr h="370840">
                <a:tc>
                  <a:txBody>
                    <a:bodyPr/>
                    <a:lstStyle/>
                    <a:p>
                      <a:pPr algn="ctr"/>
                      <a:r>
                        <a:rPr lang="en-US" dirty="0">
                          <a:latin typeface="Times New Roman" panose="02020603050405020304" pitchFamily="18" charset="0"/>
                          <a:cs typeface="Times New Roman" panose="02020603050405020304" pitchFamily="18" charset="0"/>
                        </a:rPr>
                        <a:t>NOV</a:t>
                      </a:r>
                    </a:p>
                  </a:txBody>
                  <a:tcPr/>
                </a:tc>
                <a:tc>
                  <a:txBody>
                    <a:bodyPr/>
                    <a:lstStyle/>
                    <a:p>
                      <a:pPr algn="ctr"/>
                      <a:r>
                        <a:rPr lang="en-US" dirty="0">
                          <a:latin typeface="Times New Roman" panose="02020603050405020304" pitchFamily="18" charset="0"/>
                          <a:cs typeface="Times New Roman" panose="02020603050405020304" pitchFamily="18" charset="0"/>
                        </a:rPr>
                        <a:t>78</a:t>
                      </a:r>
                    </a:p>
                  </a:txBody>
                  <a:tcPr/>
                </a:tc>
                <a:extLst>
                  <a:ext uri="{0D108BD9-81ED-4DB2-BD59-A6C34878D82A}">
                    <a16:rowId xmlns:a16="http://schemas.microsoft.com/office/drawing/2014/main" val="97652108"/>
                  </a:ext>
                </a:extLst>
              </a:tr>
              <a:tr h="370840">
                <a:tc>
                  <a:txBody>
                    <a:bodyPr/>
                    <a:lstStyle/>
                    <a:p>
                      <a:pPr algn="ctr"/>
                      <a:r>
                        <a:rPr lang="en-US" dirty="0">
                          <a:latin typeface="Times New Roman" panose="02020603050405020304" pitchFamily="18" charset="0"/>
                          <a:cs typeface="Times New Roman" panose="02020603050405020304" pitchFamily="18" charset="0"/>
                        </a:rPr>
                        <a:t>DEC</a:t>
                      </a:r>
                    </a:p>
                  </a:txBody>
                  <a:tcPr/>
                </a:tc>
                <a:tc>
                  <a:txBody>
                    <a:bodyPr/>
                    <a:lstStyle/>
                    <a:p>
                      <a:pPr algn="ctr"/>
                      <a:r>
                        <a:rPr lang="en-US" dirty="0">
                          <a:latin typeface="Times New Roman" panose="02020603050405020304" pitchFamily="18" charset="0"/>
                          <a:cs typeface="Times New Roman" panose="02020603050405020304" pitchFamily="18" charset="0"/>
                        </a:rPr>
                        <a:t>68</a:t>
                      </a:r>
                    </a:p>
                  </a:txBody>
                  <a:tcPr/>
                </a:tc>
                <a:extLst>
                  <a:ext uri="{0D108BD9-81ED-4DB2-BD59-A6C34878D82A}">
                    <a16:rowId xmlns:a16="http://schemas.microsoft.com/office/drawing/2014/main" val="520203554"/>
                  </a:ext>
                </a:extLst>
              </a:tr>
            </a:tbl>
          </a:graphicData>
        </a:graphic>
      </p:graphicFrame>
      <p:sp>
        <p:nvSpPr>
          <p:cNvPr id="3" name="Subtitle 2">
            <a:extLst>
              <a:ext uri="{FF2B5EF4-FFF2-40B4-BE49-F238E27FC236}">
                <a16:creationId xmlns:a16="http://schemas.microsoft.com/office/drawing/2014/main" id="{BDDD9199-7E7E-AB68-445F-EA390A3E55BA}"/>
              </a:ext>
            </a:extLst>
          </p:cNvPr>
          <p:cNvSpPr txBox="1">
            <a:spLocks/>
          </p:cNvSpPr>
          <p:nvPr/>
        </p:nvSpPr>
        <p:spPr>
          <a:xfrm>
            <a:off x="490330" y="1140291"/>
            <a:ext cx="11211338" cy="313908"/>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dirty="0">
                <a:latin typeface="Times New Roman" panose="02020603050405020304" pitchFamily="18" charset="0"/>
                <a:cs typeface="Times New Roman" panose="02020603050405020304" pitchFamily="18" charset="0"/>
              </a:rPr>
              <a:t>Monthly average high temperature in Scottsdale, Arizona over the course of a year.</a:t>
            </a:r>
          </a:p>
        </p:txBody>
      </p:sp>
      <p:sp>
        <p:nvSpPr>
          <p:cNvPr id="8" name="Subtitle 2">
            <a:extLst>
              <a:ext uri="{FF2B5EF4-FFF2-40B4-BE49-F238E27FC236}">
                <a16:creationId xmlns:a16="http://schemas.microsoft.com/office/drawing/2014/main" id="{6BED05A4-4BDE-FFBE-F0DD-445B9C5C61CA}"/>
              </a:ext>
            </a:extLst>
          </p:cNvPr>
          <p:cNvSpPr txBox="1">
            <a:spLocks/>
          </p:cNvSpPr>
          <p:nvPr/>
        </p:nvSpPr>
        <p:spPr>
          <a:xfrm>
            <a:off x="3941687" y="1556348"/>
            <a:ext cx="6661042" cy="601199"/>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dirty="0">
                <a:latin typeface="Times New Roman" panose="02020603050405020304" pitchFamily="18" charset="0"/>
                <a:cs typeface="Times New Roman" panose="02020603050405020304" pitchFamily="18" charset="0"/>
              </a:rPr>
              <a:t>The historical average high temperature in degrees Fahrenheit is given for each month. If we plot these as a line graph, we get</a:t>
            </a:r>
          </a:p>
        </p:txBody>
      </p:sp>
      <p:grpSp>
        <p:nvGrpSpPr>
          <p:cNvPr id="5" name="Group 4">
            <a:extLst>
              <a:ext uri="{FF2B5EF4-FFF2-40B4-BE49-F238E27FC236}">
                <a16:creationId xmlns:a16="http://schemas.microsoft.com/office/drawing/2014/main" id="{6A8D2FAD-764F-7132-D40E-A152BB6783A5}"/>
              </a:ext>
            </a:extLst>
          </p:cNvPr>
          <p:cNvGrpSpPr/>
          <p:nvPr/>
        </p:nvGrpSpPr>
        <p:grpSpPr>
          <a:xfrm>
            <a:off x="0" y="6544092"/>
            <a:ext cx="12192000" cy="313908"/>
            <a:chOff x="0" y="6544092"/>
            <a:chExt cx="12192000" cy="313908"/>
          </a:xfrm>
        </p:grpSpPr>
        <p:sp>
          <p:nvSpPr>
            <p:cNvPr id="12" name="Rectangle 11">
              <a:extLst>
                <a:ext uri="{FF2B5EF4-FFF2-40B4-BE49-F238E27FC236}">
                  <a16:creationId xmlns:a16="http://schemas.microsoft.com/office/drawing/2014/main" id="{9B4A3A2B-F1E7-C6CD-1D28-E04BBEC32DC0}"/>
                </a:ext>
              </a:extLst>
            </p:cNvPr>
            <p:cNvSpPr/>
            <p:nvPr/>
          </p:nvSpPr>
          <p:spPr>
            <a:xfrm>
              <a:off x="0" y="6544092"/>
              <a:ext cx="12192000" cy="31390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13" name="TextBox 10">
              <a:extLst>
                <a:ext uri="{FF2B5EF4-FFF2-40B4-BE49-F238E27FC236}">
                  <a16:creationId xmlns:a16="http://schemas.microsoft.com/office/drawing/2014/main" id="{EAE6FD62-E11B-8D58-4C8F-1D297C510A31}"/>
                </a:ext>
              </a:extLst>
            </p:cNvPr>
            <p:cNvSpPr txBox="1"/>
            <p:nvPr/>
          </p:nvSpPr>
          <p:spPr>
            <a:xfrm>
              <a:off x="109932" y="6577518"/>
              <a:ext cx="2794997" cy="247055"/>
            </a:xfrm>
            <a:prstGeom prst="rect">
              <a:avLst/>
            </a:prstGeom>
            <a:noFill/>
          </p:spPr>
          <p:txBody>
            <a:bodyPr lIns="0" tIns="0" rIns="0" bIns="0" rtlCol="0" anchor="ctr">
              <a:spAutoFit/>
            </a:bodyPr>
            <a:lstStyle/>
            <a:p>
              <a:pPr algn="just">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ENGR. VIOLDAN E. BAYOCOT</a:t>
              </a:r>
            </a:p>
          </p:txBody>
        </p:sp>
        <p:sp>
          <p:nvSpPr>
            <p:cNvPr id="14" name="TextBox 13">
              <a:extLst>
                <a:ext uri="{FF2B5EF4-FFF2-40B4-BE49-F238E27FC236}">
                  <a16:creationId xmlns:a16="http://schemas.microsoft.com/office/drawing/2014/main" id="{6461190A-3910-2A3B-EE06-CFA6A0C167D3}"/>
                </a:ext>
              </a:extLst>
            </p:cNvPr>
            <p:cNvSpPr txBox="1"/>
            <p:nvPr/>
          </p:nvSpPr>
          <p:spPr>
            <a:xfrm>
              <a:off x="3158929" y="6577518"/>
              <a:ext cx="5433668" cy="248145"/>
            </a:xfrm>
            <a:prstGeom prst="rect">
              <a:avLst/>
            </a:prstGeom>
            <a:noFill/>
          </p:spPr>
          <p:txBody>
            <a:bodyPr wrap="square" lIns="0" tIns="0" rIns="0" bIns="0" rtlCol="0" anchor="t">
              <a:spAutoFit/>
            </a:bodyPr>
            <a:lstStyle/>
            <a:p>
              <a:pPr algn="ct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[Krista K.] BECOME A PROBABILITY &amp; STATISTICS MASTER</a:t>
              </a:r>
            </a:p>
          </p:txBody>
        </p:sp>
        <p:sp>
          <p:nvSpPr>
            <p:cNvPr id="15" name="TextBox 14">
              <a:extLst>
                <a:ext uri="{FF2B5EF4-FFF2-40B4-BE49-F238E27FC236}">
                  <a16:creationId xmlns:a16="http://schemas.microsoft.com/office/drawing/2014/main" id="{C6C12E5D-9F0B-CE8E-65EF-217A7D2256CC}"/>
                </a:ext>
              </a:extLst>
            </p:cNvPr>
            <p:cNvSpPr txBox="1"/>
            <p:nvPr/>
          </p:nvSpPr>
          <p:spPr>
            <a:xfrm>
              <a:off x="8387007" y="6577518"/>
              <a:ext cx="3701763" cy="248145"/>
            </a:xfrm>
            <a:prstGeom prst="rect">
              <a:avLst/>
            </a:prstGeom>
            <a:noFill/>
          </p:spPr>
          <p:txBody>
            <a:bodyPr wrap="square" lIns="0" tIns="0" rIns="0" bIns="0" rtlCol="0" anchor="t">
              <a:spAutoFit/>
            </a:bodyPr>
            <a:lstStyle/>
            <a:p>
              <a:pPr algn="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QUANTITATIVE METHODS</a:t>
              </a:r>
            </a:p>
          </p:txBody>
        </p:sp>
      </p:grpSp>
      <p:pic>
        <p:nvPicPr>
          <p:cNvPr id="10" name="Picture 9">
            <a:extLst>
              <a:ext uri="{FF2B5EF4-FFF2-40B4-BE49-F238E27FC236}">
                <a16:creationId xmlns:a16="http://schemas.microsoft.com/office/drawing/2014/main" id="{654D9498-2222-04E6-D2CA-6A3CA31C38DA}"/>
              </a:ext>
            </a:extLst>
          </p:cNvPr>
          <p:cNvPicPr>
            <a:picLocks noChangeAspect="1"/>
          </p:cNvPicPr>
          <p:nvPr/>
        </p:nvPicPr>
        <p:blipFill>
          <a:blip r:embed="rId3"/>
          <a:stretch>
            <a:fillRect/>
          </a:stretch>
        </p:blipFill>
        <p:spPr>
          <a:xfrm>
            <a:off x="4093007" y="2392907"/>
            <a:ext cx="6345305" cy="3698406"/>
          </a:xfrm>
          <a:prstGeom prst="rect">
            <a:avLst/>
          </a:prstGeom>
        </p:spPr>
      </p:pic>
    </p:spTree>
    <p:extLst>
      <p:ext uri="{BB962C8B-B14F-4D97-AF65-F5344CB8AC3E}">
        <p14:creationId xmlns:p14="http://schemas.microsoft.com/office/powerpoint/2010/main" val="3200098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nodeType="clickEffect">
                                  <p:stCondLst>
                                    <p:cond delay="0"/>
                                  </p:stCondLst>
                                  <p:childTnLst>
                                    <p:animMotion origin="layout" path="M 0 -1.85185E-6 L -0.28737 -1.85185E-6 " pathEditMode="relative" rAng="0" ptsTypes="AA">
                                      <p:cBhvr>
                                        <p:cTn id="14" dur="2000" fill="hold"/>
                                        <p:tgtEl>
                                          <p:spTgt spid="2"/>
                                        </p:tgtEl>
                                        <p:attrNameLst>
                                          <p:attrName>ppt_x</p:attrName>
                                          <p:attrName>ppt_y</p:attrName>
                                        </p:attrNameLst>
                                      </p:cBhvr>
                                      <p:rCtr x="-14375" y="0"/>
                                    </p:animMotion>
                                  </p:childTnLst>
                                </p:cTn>
                              </p:par>
                            </p:childTnLst>
                          </p:cTn>
                        </p:par>
                        <p:par>
                          <p:cTn id="15" fill="hold">
                            <p:stCondLst>
                              <p:cond delay="2000"/>
                            </p:stCondLst>
                            <p:childTnLst>
                              <p:par>
                                <p:cTn id="16" presetID="10" presetClass="entr" presetSubtype="0" fill="hold" grpId="0"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1000"/>
                                        <p:tgtEl>
                                          <p:spTgt spid="8"/>
                                        </p:tgtEl>
                                      </p:cBhvr>
                                    </p:animEffect>
                                  </p:childTnLst>
                                </p:cTn>
                              </p:par>
                            </p:childTnLst>
                          </p:cTn>
                        </p:par>
                        <p:par>
                          <p:cTn id="19" fill="hold">
                            <p:stCondLst>
                              <p:cond delay="3000"/>
                            </p:stCondLst>
                            <p:childTnLst>
                              <p:par>
                                <p:cTn id="20" presetID="10" presetClass="entr" presetSubtype="0" fill="hold" nodeType="after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12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78930-B005-B550-0359-65AB9E4F554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72EA2DD-561E-28AE-A225-5893326B017C}"/>
              </a:ext>
            </a:extLst>
          </p:cNvPr>
          <p:cNvSpPr/>
          <p:nvPr/>
        </p:nvSpPr>
        <p:spPr>
          <a:xfrm>
            <a:off x="0" y="0"/>
            <a:ext cx="12192000" cy="548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sz="3000" b="1" dirty="0">
              <a:solidFill>
                <a:schemeClr val="tx1"/>
              </a:solidFill>
              <a:latin typeface="Times New Roman" panose="02020603050405020304" pitchFamily="18" charset="0"/>
              <a:cs typeface="Times New Roman" panose="02020603050405020304" pitchFamily="18" charset="0"/>
            </a:endParaRPr>
          </a:p>
        </p:txBody>
      </p:sp>
      <p:sp>
        <p:nvSpPr>
          <p:cNvPr id="7" name="Content Placeholder 2">
            <a:extLst>
              <a:ext uri="{FF2B5EF4-FFF2-40B4-BE49-F238E27FC236}">
                <a16:creationId xmlns:a16="http://schemas.microsoft.com/office/drawing/2014/main" id="{9DCC85CD-EB56-249D-C90A-332D544B7FE6}"/>
              </a:ext>
            </a:extLst>
          </p:cNvPr>
          <p:cNvSpPr txBox="1">
            <a:spLocks/>
          </p:cNvSpPr>
          <p:nvPr/>
        </p:nvSpPr>
        <p:spPr>
          <a:xfrm>
            <a:off x="0" y="0"/>
            <a:ext cx="12191998" cy="548641"/>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PH" sz="3000" b="1" dirty="0">
                <a:solidFill>
                  <a:schemeClr val="bg1"/>
                </a:solidFill>
                <a:latin typeface="Times New Roman" panose="02020603050405020304" pitchFamily="18" charset="0"/>
                <a:cs typeface="Times New Roman" panose="02020603050405020304" pitchFamily="18" charset="0"/>
              </a:rPr>
              <a:t>LINE GRAPHS</a:t>
            </a:r>
            <a:endParaRPr lang="en-PH" sz="3000" b="1" dirty="0">
              <a:solidFill>
                <a:schemeClr val="bg1"/>
              </a:solidFill>
              <a:latin typeface="Courier New" panose="02070309020205020404" pitchFamily="49" charset="0"/>
              <a:cs typeface="Courier New" panose="02070309020205020404" pitchFamily="49" charset="0"/>
            </a:endParaRPr>
          </a:p>
        </p:txBody>
      </p:sp>
      <p:sp>
        <p:nvSpPr>
          <p:cNvPr id="29" name="Subtitle 2">
            <a:extLst>
              <a:ext uri="{FF2B5EF4-FFF2-40B4-BE49-F238E27FC236}">
                <a16:creationId xmlns:a16="http://schemas.microsoft.com/office/drawing/2014/main" id="{8678E3E9-5BB3-AC8E-4FD5-1D9EDC2D7BAC}"/>
              </a:ext>
            </a:extLst>
          </p:cNvPr>
          <p:cNvSpPr txBox="1">
            <a:spLocks/>
          </p:cNvSpPr>
          <p:nvPr/>
        </p:nvSpPr>
        <p:spPr>
          <a:xfrm>
            <a:off x="214685" y="1180288"/>
            <a:ext cx="3555619" cy="4497424"/>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sz="2000" dirty="0">
                <a:latin typeface="Times New Roman" panose="02020603050405020304" pitchFamily="18" charset="0"/>
                <a:cs typeface="Times New Roman" panose="02020603050405020304" pitchFamily="18" charset="0"/>
              </a:rPr>
              <a:t>Notice that the slope of each line segment gives us an idea of how much change occurred between two data points. </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A line graph is a fantastic way to display this kind of data, mostly because it shows clearly how a data point changes over time. </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We inherently understand that average high temperature fluctuates over the course of a year</a:t>
            </a:r>
          </a:p>
        </p:txBody>
      </p:sp>
      <p:grpSp>
        <p:nvGrpSpPr>
          <p:cNvPr id="2" name="Group 1">
            <a:extLst>
              <a:ext uri="{FF2B5EF4-FFF2-40B4-BE49-F238E27FC236}">
                <a16:creationId xmlns:a16="http://schemas.microsoft.com/office/drawing/2014/main" id="{A3919790-F4BD-DA70-2F6F-33BA4D97951C}"/>
              </a:ext>
            </a:extLst>
          </p:cNvPr>
          <p:cNvGrpSpPr/>
          <p:nvPr/>
        </p:nvGrpSpPr>
        <p:grpSpPr>
          <a:xfrm>
            <a:off x="0" y="6544092"/>
            <a:ext cx="12192000" cy="313908"/>
            <a:chOff x="0" y="6544092"/>
            <a:chExt cx="12192000" cy="313908"/>
          </a:xfrm>
        </p:grpSpPr>
        <p:sp>
          <p:nvSpPr>
            <p:cNvPr id="3" name="Rectangle 2">
              <a:extLst>
                <a:ext uri="{FF2B5EF4-FFF2-40B4-BE49-F238E27FC236}">
                  <a16:creationId xmlns:a16="http://schemas.microsoft.com/office/drawing/2014/main" id="{9E927636-0906-2B05-D19F-B77584602599}"/>
                </a:ext>
              </a:extLst>
            </p:cNvPr>
            <p:cNvSpPr/>
            <p:nvPr/>
          </p:nvSpPr>
          <p:spPr>
            <a:xfrm>
              <a:off x="0" y="6544092"/>
              <a:ext cx="12192000" cy="31390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5" name="TextBox 10">
              <a:extLst>
                <a:ext uri="{FF2B5EF4-FFF2-40B4-BE49-F238E27FC236}">
                  <a16:creationId xmlns:a16="http://schemas.microsoft.com/office/drawing/2014/main" id="{7BF737AA-4F85-19D1-A8DB-4B2778E00AFA}"/>
                </a:ext>
              </a:extLst>
            </p:cNvPr>
            <p:cNvSpPr txBox="1"/>
            <p:nvPr/>
          </p:nvSpPr>
          <p:spPr>
            <a:xfrm>
              <a:off x="109932" y="6577518"/>
              <a:ext cx="2794997" cy="247055"/>
            </a:xfrm>
            <a:prstGeom prst="rect">
              <a:avLst/>
            </a:prstGeom>
            <a:noFill/>
          </p:spPr>
          <p:txBody>
            <a:bodyPr lIns="0" tIns="0" rIns="0" bIns="0" rtlCol="0" anchor="ctr">
              <a:spAutoFit/>
            </a:bodyPr>
            <a:lstStyle/>
            <a:p>
              <a:pPr algn="just">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ENGR. VIOLDAN E. BAYOCOT</a:t>
              </a:r>
            </a:p>
          </p:txBody>
        </p:sp>
        <p:sp>
          <p:nvSpPr>
            <p:cNvPr id="8" name="TextBox 7">
              <a:extLst>
                <a:ext uri="{FF2B5EF4-FFF2-40B4-BE49-F238E27FC236}">
                  <a16:creationId xmlns:a16="http://schemas.microsoft.com/office/drawing/2014/main" id="{5237E182-A07E-182B-A517-59FDE48DE8F9}"/>
                </a:ext>
              </a:extLst>
            </p:cNvPr>
            <p:cNvSpPr txBox="1"/>
            <p:nvPr/>
          </p:nvSpPr>
          <p:spPr>
            <a:xfrm>
              <a:off x="3158929" y="6577518"/>
              <a:ext cx="5433668" cy="248145"/>
            </a:xfrm>
            <a:prstGeom prst="rect">
              <a:avLst/>
            </a:prstGeom>
            <a:noFill/>
          </p:spPr>
          <p:txBody>
            <a:bodyPr wrap="square" lIns="0" tIns="0" rIns="0" bIns="0" rtlCol="0" anchor="t">
              <a:spAutoFit/>
            </a:bodyPr>
            <a:lstStyle/>
            <a:p>
              <a:pPr algn="ct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[Krista K.] BECOME A PROBABILITY &amp; STATISTICS MASTER</a:t>
              </a:r>
            </a:p>
          </p:txBody>
        </p:sp>
        <p:sp>
          <p:nvSpPr>
            <p:cNvPr id="12" name="TextBox 11">
              <a:extLst>
                <a:ext uri="{FF2B5EF4-FFF2-40B4-BE49-F238E27FC236}">
                  <a16:creationId xmlns:a16="http://schemas.microsoft.com/office/drawing/2014/main" id="{B7D3F91F-3D0E-8AD8-3F9F-4EF68CBB6D54}"/>
                </a:ext>
              </a:extLst>
            </p:cNvPr>
            <p:cNvSpPr txBox="1"/>
            <p:nvPr/>
          </p:nvSpPr>
          <p:spPr>
            <a:xfrm>
              <a:off x="8387007" y="6577518"/>
              <a:ext cx="3701763" cy="248145"/>
            </a:xfrm>
            <a:prstGeom prst="rect">
              <a:avLst/>
            </a:prstGeom>
            <a:noFill/>
          </p:spPr>
          <p:txBody>
            <a:bodyPr wrap="square" lIns="0" tIns="0" rIns="0" bIns="0" rtlCol="0" anchor="t">
              <a:spAutoFit/>
            </a:bodyPr>
            <a:lstStyle/>
            <a:p>
              <a:pPr algn="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QUANTITATIVE METHODS</a:t>
              </a:r>
            </a:p>
          </p:txBody>
        </p:sp>
      </p:grpSp>
      <p:pic>
        <p:nvPicPr>
          <p:cNvPr id="9" name="Picture 8">
            <a:extLst>
              <a:ext uri="{FF2B5EF4-FFF2-40B4-BE49-F238E27FC236}">
                <a16:creationId xmlns:a16="http://schemas.microsoft.com/office/drawing/2014/main" id="{FA32E9B7-4455-737C-EEA6-A07A27EF104F}"/>
              </a:ext>
            </a:extLst>
          </p:cNvPr>
          <p:cNvPicPr>
            <a:picLocks noChangeAspect="1"/>
          </p:cNvPicPr>
          <p:nvPr/>
        </p:nvPicPr>
        <p:blipFill>
          <a:blip r:embed="rId3"/>
          <a:stretch>
            <a:fillRect/>
          </a:stretch>
        </p:blipFill>
        <p:spPr>
          <a:xfrm>
            <a:off x="3944867" y="1247987"/>
            <a:ext cx="7886592" cy="4596756"/>
          </a:xfrm>
          <a:prstGeom prst="rect">
            <a:avLst/>
          </a:prstGeom>
        </p:spPr>
      </p:pic>
    </p:spTree>
    <p:extLst>
      <p:ext uri="{BB962C8B-B14F-4D97-AF65-F5344CB8AC3E}">
        <p14:creationId xmlns:p14="http://schemas.microsoft.com/office/powerpoint/2010/main" val="28097285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Effect transition="in" filter="fade">
                                      <p:cBhvr>
                                        <p:cTn id="7" dur="500"/>
                                        <p:tgtEl>
                                          <p:spTgt spid="29">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9">
                                            <p:txEl>
                                              <p:pRg st="2" end="2"/>
                                            </p:txEl>
                                          </p:spTgt>
                                        </p:tgtEl>
                                        <p:attrNameLst>
                                          <p:attrName>style.visibility</p:attrName>
                                        </p:attrNameLst>
                                      </p:cBhvr>
                                      <p:to>
                                        <p:strVal val="visible"/>
                                      </p:to>
                                    </p:set>
                                    <p:animEffect transition="in" filter="fade">
                                      <p:cBhvr>
                                        <p:cTn id="11" dur="500"/>
                                        <p:tgtEl>
                                          <p:spTgt spid="29">
                                            <p:txEl>
                                              <p:pRg st="2" end="2"/>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9">
                                            <p:txEl>
                                              <p:pRg st="4" end="4"/>
                                            </p:txEl>
                                          </p:spTgt>
                                        </p:tgtEl>
                                        <p:attrNameLst>
                                          <p:attrName>style.visibility</p:attrName>
                                        </p:attrNameLst>
                                      </p:cBhvr>
                                      <p:to>
                                        <p:strVal val="visible"/>
                                      </p:to>
                                    </p:set>
                                    <p:animEffect transition="in" filter="fade">
                                      <p:cBhvr>
                                        <p:cTn id="15" dur="500"/>
                                        <p:tgtEl>
                                          <p:spTgt spid="2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D0E24-D1F8-D444-8943-B87CF857057C}"/>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071C5DC8-09F6-B511-F011-56E46C0EC050}"/>
              </a:ext>
            </a:extLst>
          </p:cNvPr>
          <p:cNvSpPr/>
          <p:nvPr/>
        </p:nvSpPr>
        <p:spPr>
          <a:xfrm>
            <a:off x="0" y="0"/>
            <a:ext cx="12192000" cy="548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sz="3000" b="1" dirty="0">
              <a:solidFill>
                <a:schemeClr val="tx1"/>
              </a:solidFill>
              <a:latin typeface="Times New Roman" panose="02020603050405020304" pitchFamily="18" charset="0"/>
              <a:cs typeface="Times New Roman" panose="02020603050405020304" pitchFamily="18" charset="0"/>
            </a:endParaRPr>
          </a:p>
        </p:txBody>
      </p:sp>
      <p:sp>
        <p:nvSpPr>
          <p:cNvPr id="10" name="Content Placeholder 2">
            <a:extLst>
              <a:ext uri="{FF2B5EF4-FFF2-40B4-BE49-F238E27FC236}">
                <a16:creationId xmlns:a16="http://schemas.microsoft.com/office/drawing/2014/main" id="{63777263-F7DA-BCFA-0CB0-7D0A3E3FB8F4}"/>
              </a:ext>
            </a:extLst>
          </p:cNvPr>
          <p:cNvSpPr txBox="1">
            <a:spLocks/>
          </p:cNvSpPr>
          <p:nvPr/>
        </p:nvSpPr>
        <p:spPr>
          <a:xfrm>
            <a:off x="0" y="0"/>
            <a:ext cx="12191998" cy="548641"/>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PH" sz="3000" b="1" dirty="0">
                <a:solidFill>
                  <a:schemeClr val="bg1"/>
                </a:solidFill>
                <a:latin typeface="Times New Roman" panose="02020603050405020304" pitchFamily="18" charset="0"/>
                <a:cs typeface="Times New Roman" panose="02020603050405020304" pitchFamily="18" charset="0"/>
              </a:rPr>
              <a:t>OGIVES</a:t>
            </a:r>
            <a:endParaRPr lang="en-PH" sz="3000" b="1" dirty="0">
              <a:solidFill>
                <a:schemeClr val="bg1"/>
              </a:solidFill>
              <a:latin typeface="Courier New" panose="02070309020205020404" pitchFamily="49" charset="0"/>
              <a:cs typeface="Courier New" panose="02070309020205020404" pitchFamily="49" charset="0"/>
            </a:endParaRPr>
          </a:p>
        </p:txBody>
      </p:sp>
      <p:sp>
        <p:nvSpPr>
          <p:cNvPr id="18" name="Subtitle 2">
            <a:extLst>
              <a:ext uri="{FF2B5EF4-FFF2-40B4-BE49-F238E27FC236}">
                <a16:creationId xmlns:a16="http://schemas.microsoft.com/office/drawing/2014/main" id="{A84D0396-97A6-A148-EC68-52BAA1A3C176}"/>
              </a:ext>
            </a:extLst>
          </p:cNvPr>
          <p:cNvSpPr txBox="1">
            <a:spLocks/>
          </p:cNvSpPr>
          <p:nvPr/>
        </p:nvSpPr>
        <p:spPr>
          <a:xfrm>
            <a:off x="467359" y="639048"/>
            <a:ext cx="11257279" cy="803672"/>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dirty="0">
                <a:latin typeface="Times New Roman" panose="02020603050405020304" pitchFamily="18" charset="0"/>
                <a:cs typeface="Times New Roman" panose="02020603050405020304" pitchFamily="18" charset="0"/>
              </a:rPr>
              <a:t>An </a:t>
            </a:r>
            <a:r>
              <a:rPr lang="en-US" sz="2000" b="1" dirty="0">
                <a:latin typeface="Times New Roman" panose="02020603050405020304" pitchFamily="18" charset="0"/>
                <a:cs typeface="Times New Roman" panose="02020603050405020304" pitchFamily="18" charset="0"/>
              </a:rPr>
              <a:t>ogive</a:t>
            </a:r>
            <a:r>
              <a:rPr lang="en-US" sz="2000" dirty="0">
                <a:latin typeface="Times New Roman" panose="02020603050405020304" pitchFamily="18" charset="0"/>
                <a:cs typeface="Times New Roman" panose="02020603050405020304" pitchFamily="18" charset="0"/>
              </a:rPr>
              <a:t> is a special kind of line graph. </a:t>
            </a:r>
          </a:p>
          <a:p>
            <a:r>
              <a:rPr lang="en-US" sz="2000" dirty="0">
                <a:latin typeface="Times New Roman" panose="02020603050405020304" pitchFamily="18" charset="0"/>
                <a:cs typeface="Times New Roman" panose="02020603050405020304" pitchFamily="18" charset="0"/>
              </a:rPr>
              <a:t>This kind of graph looks just like a line graph, but think of an ogive as an </a:t>
            </a:r>
            <a:r>
              <a:rPr lang="en-US" sz="2000" i="1" dirty="0">
                <a:latin typeface="Times New Roman" panose="02020603050405020304" pitchFamily="18" charset="0"/>
                <a:cs typeface="Times New Roman" panose="02020603050405020304" pitchFamily="18" charset="0"/>
              </a:rPr>
              <a:t>accumulated</a:t>
            </a:r>
            <a:r>
              <a:rPr lang="en-US" sz="2000" dirty="0">
                <a:latin typeface="Times New Roman" panose="02020603050405020304" pitchFamily="18" charset="0"/>
                <a:cs typeface="Times New Roman" panose="02020603050405020304" pitchFamily="18" charset="0"/>
              </a:rPr>
              <a:t> line graph.</a:t>
            </a:r>
          </a:p>
        </p:txBody>
      </p:sp>
      <p:sp>
        <p:nvSpPr>
          <p:cNvPr id="6" name="Subtitle 2">
            <a:extLst>
              <a:ext uri="{FF2B5EF4-FFF2-40B4-BE49-F238E27FC236}">
                <a16:creationId xmlns:a16="http://schemas.microsoft.com/office/drawing/2014/main" id="{28AC6DF3-952D-B793-2944-3A1CF457FC64}"/>
              </a:ext>
            </a:extLst>
          </p:cNvPr>
          <p:cNvSpPr txBox="1">
            <a:spLocks/>
          </p:cNvSpPr>
          <p:nvPr/>
        </p:nvSpPr>
        <p:spPr>
          <a:xfrm>
            <a:off x="652443" y="1533127"/>
            <a:ext cx="10887109" cy="644642"/>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dirty="0">
                <a:latin typeface="Times New Roman" panose="02020603050405020304" pitchFamily="18" charset="0"/>
                <a:cs typeface="Times New Roman" panose="02020603050405020304" pitchFamily="18" charset="0"/>
              </a:rPr>
              <a:t>Taking the average monthly temperature in Scottsdale, Arizona, we would show the temperature in </a:t>
            </a:r>
            <a:r>
              <a:rPr lang="en-US" sz="2000" b="1" dirty="0">
                <a:latin typeface="Times New Roman" panose="02020603050405020304" pitchFamily="18" charset="0"/>
                <a:cs typeface="Times New Roman" panose="02020603050405020304" pitchFamily="18" charset="0"/>
              </a:rPr>
              <a:t>January</a:t>
            </a:r>
            <a:r>
              <a:rPr lang="en-US" sz="2000" dirty="0">
                <a:latin typeface="Times New Roman" panose="02020603050405020304" pitchFamily="18" charset="0"/>
                <a:cs typeface="Times New Roman" panose="02020603050405020304" pitchFamily="18" charset="0"/>
              </a:rPr>
              <a:t> as </a:t>
            </a:r>
            <a:r>
              <a:rPr lang="en-US" sz="2000" b="1" dirty="0">
                <a:latin typeface="Times New Roman" panose="02020603050405020304" pitchFamily="18" charset="0"/>
                <a:cs typeface="Times New Roman" panose="02020603050405020304" pitchFamily="18" charset="0"/>
              </a:rPr>
              <a:t>69</a:t>
            </a:r>
            <a:r>
              <a:rPr lang="en-US" sz="2000" dirty="0">
                <a:latin typeface="Times New Roman" panose="02020603050405020304" pitchFamily="18" charset="0"/>
                <a:cs typeface="Times New Roman" panose="02020603050405020304" pitchFamily="18" charset="0"/>
              </a:rPr>
              <a:t>, the temperature in </a:t>
            </a:r>
            <a:r>
              <a:rPr lang="en-US" sz="2000" b="1" dirty="0">
                <a:latin typeface="Times New Roman" panose="02020603050405020304" pitchFamily="18" charset="0"/>
                <a:cs typeface="Times New Roman" panose="02020603050405020304" pitchFamily="18" charset="0"/>
              </a:rPr>
              <a:t>February</a:t>
            </a:r>
            <a:r>
              <a:rPr lang="en-US" sz="2000" dirty="0">
                <a:latin typeface="Times New Roman" panose="02020603050405020304" pitchFamily="18" charset="0"/>
                <a:cs typeface="Times New Roman" panose="02020603050405020304" pitchFamily="18" charset="0"/>
              </a:rPr>
              <a:t> as </a:t>
            </a:r>
            <a:r>
              <a:rPr lang="en-US" sz="2000" b="1" dirty="0">
                <a:latin typeface="Times New Roman" panose="02020603050405020304" pitchFamily="18" charset="0"/>
                <a:cs typeface="Times New Roman" panose="02020603050405020304" pitchFamily="18" charset="0"/>
              </a:rPr>
              <a:t>69 + 73</a:t>
            </a:r>
            <a:r>
              <a:rPr lang="en-US" sz="2000" dirty="0">
                <a:latin typeface="Times New Roman" panose="02020603050405020304" pitchFamily="18" charset="0"/>
                <a:cs typeface="Times New Roman" panose="02020603050405020304" pitchFamily="18" charset="0"/>
              </a:rPr>
              <a:t>, the temperature in March as </a:t>
            </a:r>
            <a:r>
              <a:rPr lang="en-US" sz="2000" b="1" dirty="0">
                <a:latin typeface="Times New Roman" panose="02020603050405020304" pitchFamily="18" charset="0"/>
                <a:cs typeface="Times New Roman" panose="02020603050405020304" pitchFamily="18" charset="0"/>
              </a:rPr>
              <a:t>69 + 73 + 78 </a:t>
            </a:r>
            <a:r>
              <a:rPr lang="en-US" sz="2000" dirty="0">
                <a:latin typeface="Times New Roman" panose="02020603050405020304" pitchFamily="18" charset="0"/>
                <a:cs typeface="Times New Roman" panose="02020603050405020304" pitchFamily="18" charset="0"/>
              </a:rPr>
              <a:t>etc.</a:t>
            </a:r>
          </a:p>
        </p:txBody>
      </p:sp>
      <p:pic>
        <p:nvPicPr>
          <p:cNvPr id="11" name="Picture 10">
            <a:extLst>
              <a:ext uri="{FF2B5EF4-FFF2-40B4-BE49-F238E27FC236}">
                <a16:creationId xmlns:a16="http://schemas.microsoft.com/office/drawing/2014/main" id="{C6BAA9B8-E72F-85FA-ABA2-EFE7102DC614}"/>
              </a:ext>
            </a:extLst>
          </p:cNvPr>
          <p:cNvPicPr>
            <a:picLocks noChangeAspect="1"/>
          </p:cNvPicPr>
          <p:nvPr/>
        </p:nvPicPr>
        <p:blipFill>
          <a:blip r:embed="rId3"/>
          <a:stretch>
            <a:fillRect/>
          </a:stretch>
        </p:blipFill>
        <p:spPr>
          <a:xfrm>
            <a:off x="3054100" y="2403735"/>
            <a:ext cx="5643326" cy="3914390"/>
          </a:xfrm>
          <a:prstGeom prst="rect">
            <a:avLst/>
          </a:prstGeom>
        </p:spPr>
      </p:pic>
      <p:sp>
        <p:nvSpPr>
          <p:cNvPr id="13" name="Subtitle 2">
            <a:extLst>
              <a:ext uri="{FF2B5EF4-FFF2-40B4-BE49-F238E27FC236}">
                <a16:creationId xmlns:a16="http://schemas.microsoft.com/office/drawing/2014/main" id="{775CE033-FC66-78D7-E316-8297AD855C76}"/>
              </a:ext>
            </a:extLst>
          </p:cNvPr>
          <p:cNvSpPr txBox="1">
            <a:spLocks/>
          </p:cNvSpPr>
          <p:nvPr/>
        </p:nvSpPr>
        <p:spPr>
          <a:xfrm>
            <a:off x="6637154" y="2475874"/>
            <a:ext cx="4804356" cy="2467129"/>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dirty="0">
                <a:solidFill>
                  <a:srgbClr val="FF0000"/>
                </a:solidFill>
                <a:latin typeface="Times New Roman" panose="02020603050405020304" pitchFamily="18" charset="0"/>
                <a:cs typeface="Times New Roman" panose="02020603050405020304" pitchFamily="18" charset="0"/>
              </a:rPr>
              <a:t>It doesn’t make sense to show accumulated temperature over time!</a:t>
            </a:r>
          </a:p>
          <a:p>
            <a:r>
              <a:rPr lang="en-US" sz="2000" dirty="0">
                <a:solidFill>
                  <a:srgbClr val="FF0000"/>
                </a:solidFill>
                <a:latin typeface="Times New Roman" panose="02020603050405020304" pitchFamily="18" charset="0"/>
                <a:cs typeface="Times New Roman" panose="02020603050405020304" pitchFamily="18" charset="0"/>
              </a:rPr>
              <a:t>It doesn’t make sense to have a temperature of almost 1,000 degrees in December. </a:t>
            </a:r>
          </a:p>
          <a:p>
            <a:endParaRPr lang="en-US" sz="2000" dirty="0">
              <a:solidFill>
                <a:srgbClr val="FF0000"/>
              </a:solidFill>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Temperature</a:t>
            </a:r>
            <a:r>
              <a:rPr lang="en-US" sz="2000" dirty="0">
                <a:latin typeface="Times New Roman" panose="02020603050405020304" pitchFamily="18" charset="0"/>
                <a:cs typeface="Times New Roman" panose="02020603050405020304" pitchFamily="18" charset="0"/>
              </a:rPr>
              <a:t> is not a very good data point to represent with an ogive.</a:t>
            </a:r>
          </a:p>
        </p:txBody>
      </p:sp>
      <p:sp>
        <p:nvSpPr>
          <p:cNvPr id="14" name="Subtitle 2">
            <a:extLst>
              <a:ext uri="{FF2B5EF4-FFF2-40B4-BE49-F238E27FC236}">
                <a16:creationId xmlns:a16="http://schemas.microsoft.com/office/drawing/2014/main" id="{3F130561-32CF-2F99-D40F-4CD24DBB5F64}"/>
              </a:ext>
            </a:extLst>
          </p:cNvPr>
          <p:cNvSpPr txBox="1">
            <a:spLocks/>
          </p:cNvSpPr>
          <p:nvPr/>
        </p:nvSpPr>
        <p:spPr>
          <a:xfrm>
            <a:off x="6588133" y="5224902"/>
            <a:ext cx="4902398" cy="584141"/>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dirty="0">
                <a:latin typeface="Times New Roman" panose="02020603050405020304" pitchFamily="18" charset="0"/>
                <a:cs typeface="Times New Roman" panose="02020603050405020304" pitchFamily="18" charset="0"/>
              </a:rPr>
              <a:t>But an ogive would be perfect for showing something like accumulated savings over time</a:t>
            </a:r>
          </a:p>
        </p:txBody>
      </p:sp>
      <p:grpSp>
        <p:nvGrpSpPr>
          <p:cNvPr id="9" name="Group 8">
            <a:extLst>
              <a:ext uri="{FF2B5EF4-FFF2-40B4-BE49-F238E27FC236}">
                <a16:creationId xmlns:a16="http://schemas.microsoft.com/office/drawing/2014/main" id="{4DDF3A46-438E-6FFE-6F21-02141B9C98E3}"/>
              </a:ext>
            </a:extLst>
          </p:cNvPr>
          <p:cNvGrpSpPr/>
          <p:nvPr/>
        </p:nvGrpSpPr>
        <p:grpSpPr>
          <a:xfrm>
            <a:off x="0" y="6544092"/>
            <a:ext cx="12192000" cy="313908"/>
            <a:chOff x="0" y="6544092"/>
            <a:chExt cx="12192000" cy="313908"/>
          </a:xfrm>
        </p:grpSpPr>
        <p:sp>
          <p:nvSpPr>
            <p:cNvPr id="12" name="Rectangle 11">
              <a:extLst>
                <a:ext uri="{FF2B5EF4-FFF2-40B4-BE49-F238E27FC236}">
                  <a16:creationId xmlns:a16="http://schemas.microsoft.com/office/drawing/2014/main" id="{6F6AC39A-60EF-C5FA-64C6-CB5A8318F52C}"/>
                </a:ext>
              </a:extLst>
            </p:cNvPr>
            <p:cNvSpPr/>
            <p:nvPr/>
          </p:nvSpPr>
          <p:spPr>
            <a:xfrm>
              <a:off x="0" y="6544092"/>
              <a:ext cx="12192000" cy="31390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15" name="TextBox 10">
              <a:extLst>
                <a:ext uri="{FF2B5EF4-FFF2-40B4-BE49-F238E27FC236}">
                  <a16:creationId xmlns:a16="http://schemas.microsoft.com/office/drawing/2014/main" id="{915BA266-C45E-E39E-46CA-3BE845D24EA0}"/>
                </a:ext>
              </a:extLst>
            </p:cNvPr>
            <p:cNvSpPr txBox="1"/>
            <p:nvPr/>
          </p:nvSpPr>
          <p:spPr>
            <a:xfrm>
              <a:off x="109932" y="6577518"/>
              <a:ext cx="2794997" cy="247055"/>
            </a:xfrm>
            <a:prstGeom prst="rect">
              <a:avLst/>
            </a:prstGeom>
            <a:noFill/>
          </p:spPr>
          <p:txBody>
            <a:bodyPr lIns="0" tIns="0" rIns="0" bIns="0" rtlCol="0" anchor="ctr">
              <a:spAutoFit/>
            </a:bodyPr>
            <a:lstStyle/>
            <a:p>
              <a:pPr algn="just">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ENGR. VIOLDAN E. BAYOCOT</a:t>
              </a:r>
            </a:p>
          </p:txBody>
        </p:sp>
        <p:sp>
          <p:nvSpPr>
            <p:cNvPr id="16" name="TextBox 15">
              <a:extLst>
                <a:ext uri="{FF2B5EF4-FFF2-40B4-BE49-F238E27FC236}">
                  <a16:creationId xmlns:a16="http://schemas.microsoft.com/office/drawing/2014/main" id="{96D4E504-F8BD-ADAC-9EC7-044F70DE4850}"/>
                </a:ext>
              </a:extLst>
            </p:cNvPr>
            <p:cNvSpPr txBox="1"/>
            <p:nvPr/>
          </p:nvSpPr>
          <p:spPr>
            <a:xfrm>
              <a:off x="3158929" y="6577518"/>
              <a:ext cx="5433668" cy="248145"/>
            </a:xfrm>
            <a:prstGeom prst="rect">
              <a:avLst/>
            </a:prstGeom>
            <a:noFill/>
          </p:spPr>
          <p:txBody>
            <a:bodyPr wrap="square" lIns="0" tIns="0" rIns="0" bIns="0" rtlCol="0" anchor="t">
              <a:spAutoFit/>
            </a:bodyPr>
            <a:lstStyle/>
            <a:p>
              <a:pPr algn="ct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[Krista K.] BECOME A PROBABILITY &amp; STATISTICS MASTER</a:t>
              </a:r>
            </a:p>
          </p:txBody>
        </p:sp>
        <p:sp>
          <p:nvSpPr>
            <p:cNvPr id="17" name="TextBox 16">
              <a:extLst>
                <a:ext uri="{FF2B5EF4-FFF2-40B4-BE49-F238E27FC236}">
                  <a16:creationId xmlns:a16="http://schemas.microsoft.com/office/drawing/2014/main" id="{2A0A811E-04C8-E202-EA16-CF7BB1EDD5ED}"/>
                </a:ext>
              </a:extLst>
            </p:cNvPr>
            <p:cNvSpPr txBox="1"/>
            <p:nvPr/>
          </p:nvSpPr>
          <p:spPr>
            <a:xfrm>
              <a:off x="8387007" y="6577518"/>
              <a:ext cx="3701763" cy="248145"/>
            </a:xfrm>
            <a:prstGeom prst="rect">
              <a:avLst/>
            </a:prstGeom>
            <a:noFill/>
          </p:spPr>
          <p:txBody>
            <a:bodyPr wrap="square" lIns="0" tIns="0" rIns="0" bIns="0" rtlCol="0" anchor="t">
              <a:spAutoFit/>
            </a:bodyPr>
            <a:lstStyle/>
            <a:p>
              <a:pPr algn="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QUANTITATIVE METHODS</a:t>
              </a:r>
            </a:p>
          </p:txBody>
        </p:sp>
      </p:grpSp>
    </p:spTree>
    <p:extLst>
      <p:ext uri="{BB962C8B-B14F-4D97-AF65-F5344CB8AC3E}">
        <p14:creationId xmlns:p14="http://schemas.microsoft.com/office/powerpoint/2010/main" val="3782992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path" presetSubtype="0" accel="50000" decel="50000" fill="hold" nodeType="clickEffect">
                                  <p:stCondLst>
                                    <p:cond delay="0"/>
                                  </p:stCondLst>
                                  <p:childTnLst>
                                    <p:animMotion origin="layout" path="M -1.04167E-6 3.7037E-7 L -0.17734 -0.00023 " pathEditMode="relative" rAng="0" ptsTypes="AA">
                                      <p:cBhvr>
                                        <p:cTn id="21" dur="2000" fill="hold"/>
                                        <p:tgtEl>
                                          <p:spTgt spid="11"/>
                                        </p:tgtEl>
                                        <p:attrNameLst>
                                          <p:attrName>ppt_x</p:attrName>
                                          <p:attrName>ppt_y</p:attrName>
                                        </p:attrNameLst>
                                      </p:cBhvr>
                                      <p:rCtr x="-8867" y="-23"/>
                                    </p:animMotion>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3">
                                            <p:txEl>
                                              <p:pRg st="0" end="0"/>
                                            </p:txEl>
                                          </p:spTgt>
                                        </p:tgtEl>
                                        <p:attrNameLst>
                                          <p:attrName>style.visibility</p:attrName>
                                        </p:attrNameLst>
                                      </p:cBhvr>
                                      <p:to>
                                        <p:strVal val="visible"/>
                                      </p:to>
                                    </p:set>
                                    <p:animEffect transition="in" filter="fade">
                                      <p:cBhvr>
                                        <p:cTn id="26" dur="500"/>
                                        <p:tgtEl>
                                          <p:spTgt spid="13">
                                            <p:txEl>
                                              <p:pRg st="0" end="0"/>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13">
                                            <p:txEl>
                                              <p:pRg st="1" end="1"/>
                                            </p:txEl>
                                          </p:spTgt>
                                        </p:tgtEl>
                                        <p:attrNameLst>
                                          <p:attrName>style.visibility</p:attrName>
                                        </p:attrNameLst>
                                      </p:cBhvr>
                                      <p:to>
                                        <p:strVal val="visible"/>
                                      </p:to>
                                    </p:set>
                                    <p:animEffect transition="in" filter="fade">
                                      <p:cBhvr>
                                        <p:cTn id="29" dur="500"/>
                                        <p:tgtEl>
                                          <p:spTgt spid="13">
                                            <p:txEl>
                                              <p:pRg st="1" end="1"/>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3">
                                            <p:txEl>
                                              <p:pRg st="3" end="3"/>
                                            </p:txEl>
                                          </p:spTgt>
                                        </p:tgtEl>
                                        <p:attrNameLst>
                                          <p:attrName>style.visibility</p:attrName>
                                        </p:attrNameLst>
                                      </p:cBhvr>
                                      <p:to>
                                        <p:strVal val="visible"/>
                                      </p:to>
                                    </p:set>
                                    <p:animEffect transition="in" filter="fade">
                                      <p:cBhvr>
                                        <p:cTn id="34" dur="500"/>
                                        <p:tgtEl>
                                          <p:spTgt spid="13">
                                            <p:txEl>
                                              <p:pRg st="3" end="3"/>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4">
                                            <p:txEl>
                                              <p:pRg st="0" end="0"/>
                                            </p:txEl>
                                          </p:spTgt>
                                        </p:tgtEl>
                                        <p:attrNameLst>
                                          <p:attrName>style.visibility</p:attrName>
                                        </p:attrNameLst>
                                      </p:cBhvr>
                                      <p:to>
                                        <p:strVal val="visible"/>
                                      </p:to>
                                    </p:set>
                                    <p:animEffect transition="in" filter="fade">
                                      <p:cBhvr>
                                        <p:cTn id="39" dur="5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A7FD0-DCE3-5EE6-A09D-BD9A1FCFC4F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01B1EA7-344E-A33D-D616-55CA64D145BE}"/>
              </a:ext>
            </a:extLst>
          </p:cNvPr>
          <p:cNvSpPr/>
          <p:nvPr/>
        </p:nvSpPr>
        <p:spPr>
          <a:xfrm>
            <a:off x="0" y="0"/>
            <a:ext cx="12192000" cy="548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sz="3000"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019D001-E48B-32C6-DFA0-806CA415F3FB}"/>
              </a:ext>
            </a:extLst>
          </p:cNvPr>
          <p:cNvSpPr txBox="1">
            <a:spLocks/>
          </p:cNvSpPr>
          <p:nvPr/>
        </p:nvSpPr>
        <p:spPr>
          <a:xfrm>
            <a:off x="0" y="0"/>
            <a:ext cx="12191998" cy="548641"/>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PH" sz="3000" b="1" dirty="0">
                <a:solidFill>
                  <a:schemeClr val="bg1"/>
                </a:solidFill>
                <a:latin typeface="Times New Roman" panose="02020603050405020304" pitchFamily="18" charset="0"/>
                <a:cs typeface="Times New Roman" panose="02020603050405020304" pitchFamily="18" charset="0"/>
              </a:rPr>
              <a:t>OGIVES</a:t>
            </a:r>
            <a:endParaRPr lang="en-PH" sz="3000" b="1" dirty="0">
              <a:solidFill>
                <a:schemeClr val="bg1"/>
              </a:solidFill>
              <a:latin typeface="Courier New" panose="02070309020205020404" pitchFamily="49" charset="0"/>
              <a:cs typeface="Courier New" panose="02070309020205020404" pitchFamily="49" charset="0"/>
            </a:endParaRPr>
          </a:p>
        </p:txBody>
      </p:sp>
      <p:sp>
        <p:nvSpPr>
          <p:cNvPr id="19" name="Subtitle 2">
            <a:extLst>
              <a:ext uri="{FF2B5EF4-FFF2-40B4-BE49-F238E27FC236}">
                <a16:creationId xmlns:a16="http://schemas.microsoft.com/office/drawing/2014/main" id="{FC7135B1-B241-3FF0-975F-BCAC85778810}"/>
              </a:ext>
            </a:extLst>
          </p:cNvPr>
          <p:cNvSpPr txBox="1">
            <a:spLocks/>
          </p:cNvSpPr>
          <p:nvPr/>
        </p:nvSpPr>
        <p:spPr>
          <a:xfrm>
            <a:off x="1137913" y="656709"/>
            <a:ext cx="9916173" cy="313908"/>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dirty="0">
                <a:latin typeface="Times New Roman" panose="02020603050405020304" pitchFamily="18" charset="0"/>
                <a:cs typeface="Times New Roman" panose="02020603050405020304" pitchFamily="18" charset="0"/>
              </a:rPr>
              <a:t>But an ogive would be perfect for showing something like accumulated savings over time</a:t>
            </a:r>
          </a:p>
        </p:txBody>
      </p:sp>
      <p:sp>
        <p:nvSpPr>
          <p:cNvPr id="22" name="Subtitle 2">
            <a:extLst>
              <a:ext uri="{FF2B5EF4-FFF2-40B4-BE49-F238E27FC236}">
                <a16:creationId xmlns:a16="http://schemas.microsoft.com/office/drawing/2014/main" id="{42251095-5A1D-E6BE-B813-59F497DCDE2D}"/>
              </a:ext>
            </a:extLst>
          </p:cNvPr>
          <p:cNvSpPr txBox="1">
            <a:spLocks/>
          </p:cNvSpPr>
          <p:nvPr/>
        </p:nvSpPr>
        <p:spPr>
          <a:xfrm>
            <a:off x="836649" y="1210091"/>
            <a:ext cx="10518699" cy="313908"/>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dirty="0">
                <a:latin typeface="Times New Roman" panose="02020603050405020304" pitchFamily="18" charset="0"/>
                <a:cs typeface="Times New Roman" panose="02020603050405020304" pitchFamily="18" charset="0"/>
              </a:rPr>
              <a:t> Let’s say we invest </a:t>
            </a:r>
            <a:r>
              <a:rPr lang="en-US" sz="2000" dirty="0"/>
              <a:t>₱</a:t>
            </a:r>
            <a:r>
              <a:rPr lang="en-US" sz="2000" dirty="0">
                <a:latin typeface="Times New Roman" panose="02020603050405020304" pitchFamily="18" charset="0"/>
                <a:cs typeface="Times New Roman" panose="02020603050405020304" pitchFamily="18" charset="0"/>
              </a:rPr>
              <a:t>5,500 each year into a savings account, from age 30 until age 39</a:t>
            </a:r>
          </a:p>
        </p:txBody>
      </p:sp>
      <p:graphicFrame>
        <p:nvGraphicFramePr>
          <p:cNvPr id="23" name="Table 22">
            <a:extLst>
              <a:ext uri="{FF2B5EF4-FFF2-40B4-BE49-F238E27FC236}">
                <a16:creationId xmlns:a16="http://schemas.microsoft.com/office/drawing/2014/main" id="{E0DA33B5-2B88-5212-9BF2-F2983C786790}"/>
              </a:ext>
            </a:extLst>
          </p:cNvPr>
          <p:cNvGraphicFramePr>
            <a:graphicFrameLocks noGrp="1"/>
          </p:cNvGraphicFramePr>
          <p:nvPr>
            <p:extLst>
              <p:ext uri="{D42A27DB-BD31-4B8C-83A1-F6EECF244321}">
                <p14:modId xmlns:p14="http://schemas.microsoft.com/office/powerpoint/2010/main" val="1976106416"/>
              </p:ext>
            </p:extLst>
          </p:nvPr>
        </p:nvGraphicFramePr>
        <p:xfrm>
          <a:off x="4932899" y="1789022"/>
          <a:ext cx="2326200" cy="4358640"/>
        </p:xfrm>
        <a:graphic>
          <a:graphicData uri="http://schemas.openxmlformats.org/drawingml/2006/table">
            <a:tbl>
              <a:tblPr firstRow="1" bandRow="1">
                <a:tableStyleId>{073A0DAA-6AF3-43AB-8588-CEC1D06C72B9}</a:tableStyleId>
              </a:tblPr>
              <a:tblGrid>
                <a:gridCol w="648882">
                  <a:extLst>
                    <a:ext uri="{9D8B030D-6E8A-4147-A177-3AD203B41FA5}">
                      <a16:colId xmlns:a16="http://schemas.microsoft.com/office/drawing/2014/main" val="1315345077"/>
                    </a:ext>
                  </a:extLst>
                </a:gridCol>
                <a:gridCol w="1677318">
                  <a:extLst>
                    <a:ext uri="{9D8B030D-6E8A-4147-A177-3AD203B41FA5}">
                      <a16:colId xmlns:a16="http://schemas.microsoft.com/office/drawing/2014/main" val="649860315"/>
                    </a:ext>
                  </a:extLst>
                </a:gridCol>
              </a:tblGrid>
              <a:tr h="370840">
                <a:tc>
                  <a:txBody>
                    <a:bodyPr/>
                    <a:lstStyle/>
                    <a:p>
                      <a:pPr algn="ctr"/>
                      <a:r>
                        <a:rPr lang="en-US" sz="2000" dirty="0">
                          <a:latin typeface="Times New Roman" panose="02020603050405020304" pitchFamily="18" charset="0"/>
                          <a:cs typeface="Times New Roman" panose="02020603050405020304" pitchFamily="18" charset="0"/>
                        </a:rPr>
                        <a:t>Age</a:t>
                      </a:r>
                    </a:p>
                  </a:txBody>
                  <a:tcPr/>
                </a:tc>
                <a:tc>
                  <a:txBody>
                    <a:bodyPr/>
                    <a:lstStyle/>
                    <a:p>
                      <a:pPr algn="ctr"/>
                      <a:r>
                        <a:rPr lang="en-US" sz="2000" dirty="0">
                          <a:latin typeface="Times New Roman" panose="02020603050405020304" pitchFamily="18" charset="0"/>
                          <a:cs typeface="Times New Roman" panose="02020603050405020304" pitchFamily="18" charset="0"/>
                        </a:rPr>
                        <a:t>Investment</a:t>
                      </a:r>
                    </a:p>
                  </a:txBody>
                  <a:tcPr/>
                </a:tc>
                <a:extLst>
                  <a:ext uri="{0D108BD9-81ED-4DB2-BD59-A6C34878D82A}">
                    <a16:rowId xmlns:a16="http://schemas.microsoft.com/office/drawing/2014/main" val="1199740041"/>
                  </a:ext>
                </a:extLst>
              </a:tr>
              <a:tr h="370840">
                <a:tc>
                  <a:txBody>
                    <a:bodyPr/>
                    <a:lstStyle/>
                    <a:p>
                      <a:pPr algn="ctr"/>
                      <a:r>
                        <a:rPr lang="en-US" sz="2000" dirty="0">
                          <a:latin typeface="Times New Roman" panose="02020603050405020304" pitchFamily="18" charset="0"/>
                          <a:cs typeface="Times New Roman" panose="02020603050405020304" pitchFamily="18" charset="0"/>
                        </a:rPr>
                        <a:t>30</a:t>
                      </a:r>
                    </a:p>
                  </a:txBody>
                  <a:tcPr/>
                </a:tc>
                <a:tc>
                  <a:txBody>
                    <a:bodyPr/>
                    <a:lstStyle/>
                    <a:p>
                      <a:pPr algn="ctr"/>
                      <a:r>
                        <a:rPr lang="en-US" sz="2000" dirty="0">
                          <a:latin typeface="Times New Roman" panose="02020603050405020304" pitchFamily="18" charset="0"/>
                          <a:cs typeface="Times New Roman" panose="02020603050405020304" pitchFamily="18" charset="0"/>
                        </a:rPr>
                        <a:t>₱5,500</a:t>
                      </a:r>
                    </a:p>
                  </a:txBody>
                  <a:tcPr/>
                </a:tc>
                <a:extLst>
                  <a:ext uri="{0D108BD9-81ED-4DB2-BD59-A6C34878D82A}">
                    <a16:rowId xmlns:a16="http://schemas.microsoft.com/office/drawing/2014/main" val="144572256"/>
                  </a:ext>
                </a:extLst>
              </a:tr>
              <a:tr h="370840">
                <a:tc>
                  <a:txBody>
                    <a:bodyPr/>
                    <a:lstStyle/>
                    <a:p>
                      <a:pPr algn="ctr"/>
                      <a:r>
                        <a:rPr lang="en-US" sz="2000" dirty="0">
                          <a:latin typeface="Times New Roman" panose="02020603050405020304" pitchFamily="18" charset="0"/>
                          <a:cs typeface="Times New Roman" panose="02020603050405020304" pitchFamily="18" charset="0"/>
                        </a:rPr>
                        <a:t>31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₱5,500</a:t>
                      </a:r>
                    </a:p>
                  </a:txBody>
                  <a:tcPr/>
                </a:tc>
                <a:extLst>
                  <a:ext uri="{0D108BD9-81ED-4DB2-BD59-A6C34878D82A}">
                    <a16:rowId xmlns:a16="http://schemas.microsoft.com/office/drawing/2014/main" val="2782602003"/>
                  </a:ext>
                </a:extLst>
              </a:tr>
              <a:tr h="370840">
                <a:tc>
                  <a:txBody>
                    <a:bodyPr/>
                    <a:lstStyle/>
                    <a:p>
                      <a:pPr algn="ctr"/>
                      <a:r>
                        <a:rPr lang="en-US" sz="2000" dirty="0">
                          <a:latin typeface="Times New Roman" panose="02020603050405020304" pitchFamily="18" charset="0"/>
                          <a:cs typeface="Times New Roman" panose="02020603050405020304" pitchFamily="18" charset="0"/>
                        </a:rPr>
                        <a:t>32</a:t>
                      </a:r>
                    </a:p>
                  </a:txBody>
                  <a:tcPr/>
                </a:tc>
                <a:tc>
                  <a:txBody>
                    <a:bodyPr/>
                    <a:lstStyle/>
                    <a:p>
                      <a:pPr algn="ctr"/>
                      <a:r>
                        <a:rPr lang="en-US" sz="2000" dirty="0">
                          <a:latin typeface="Times New Roman" panose="02020603050405020304" pitchFamily="18" charset="0"/>
                          <a:cs typeface="Times New Roman" panose="02020603050405020304" pitchFamily="18" charset="0"/>
                        </a:rPr>
                        <a:t>₱5,500</a:t>
                      </a:r>
                    </a:p>
                  </a:txBody>
                  <a:tcPr/>
                </a:tc>
                <a:extLst>
                  <a:ext uri="{0D108BD9-81ED-4DB2-BD59-A6C34878D82A}">
                    <a16:rowId xmlns:a16="http://schemas.microsoft.com/office/drawing/2014/main" val="3553140564"/>
                  </a:ext>
                </a:extLst>
              </a:tr>
              <a:tr h="370840">
                <a:tc>
                  <a:txBody>
                    <a:bodyPr/>
                    <a:lstStyle/>
                    <a:p>
                      <a:pPr algn="ctr"/>
                      <a:r>
                        <a:rPr lang="en-US" sz="2000" dirty="0">
                          <a:latin typeface="Times New Roman" panose="02020603050405020304" pitchFamily="18" charset="0"/>
                          <a:cs typeface="Times New Roman" panose="02020603050405020304" pitchFamily="18" charset="0"/>
                        </a:rPr>
                        <a:t>33</a:t>
                      </a:r>
                    </a:p>
                  </a:txBody>
                  <a:tcPr/>
                </a:tc>
                <a:tc>
                  <a:txBody>
                    <a:bodyPr/>
                    <a:lstStyle/>
                    <a:p>
                      <a:pPr algn="ctr"/>
                      <a:r>
                        <a:rPr lang="en-US" sz="2000" dirty="0">
                          <a:latin typeface="Times New Roman" panose="02020603050405020304" pitchFamily="18" charset="0"/>
                          <a:cs typeface="Times New Roman" panose="02020603050405020304" pitchFamily="18" charset="0"/>
                        </a:rPr>
                        <a:t>₱5,500</a:t>
                      </a:r>
                    </a:p>
                  </a:txBody>
                  <a:tcPr/>
                </a:tc>
                <a:extLst>
                  <a:ext uri="{0D108BD9-81ED-4DB2-BD59-A6C34878D82A}">
                    <a16:rowId xmlns:a16="http://schemas.microsoft.com/office/drawing/2014/main" val="312982527"/>
                  </a:ext>
                </a:extLst>
              </a:tr>
              <a:tr h="370840">
                <a:tc>
                  <a:txBody>
                    <a:bodyPr/>
                    <a:lstStyle/>
                    <a:p>
                      <a:pPr algn="ctr"/>
                      <a:r>
                        <a:rPr lang="en-US" sz="2000" dirty="0">
                          <a:latin typeface="Times New Roman" panose="02020603050405020304" pitchFamily="18" charset="0"/>
                          <a:cs typeface="Times New Roman" panose="02020603050405020304" pitchFamily="18" charset="0"/>
                        </a:rPr>
                        <a:t>34</a:t>
                      </a:r>
                    </a:p>
                  </a:txBody>
                  <a:tcPr/>
                </a:tc>
                <a:tc>
                  <a:txBody>
                    <a:bodyPr/>
                    <a:lstStyle/>
                    <a:p>
                      <a:pPr algn="ctr"/>
                      <a:r>
                        <a:rPr lang="en-US" sz="2000" dirty="0">
                          <a:latin typeface="Times New Roman" panose="02020603050405020304" pitchFamily="18" charset="0"/>
                          <a:cs typeface="Times New Roman" panose="02020603050405020304" pitchFamily="18" charset="0"/>
                        </a:rPr>
                        <a:t>₱5,500</a:t>
                      </a:r>
                    </a:p>
                  </a:txBody>
                  <a:tcPr/>
                </a:tc>
                <a:extLst>
                  <a:ext uri="{0D108BD9-81ED-4DB2-BD59-A6C34878D82A}">
                    <a16:rowId xmlns:a16="http://schemas.microsoft.com/office/drawing/2014/main" val="3432853718"/>
                  </a:ext>
                </a:extLst>
              </a:tr>
              <a:tr h="370840">
                <a:tc>
                  <a:txBody>
                    <a:bodyPr/>
                    <a:lstStyle/>
                    <a:p>
                      <a:pPr algn="ctr"/>
                      <a:r>
                        <a:rPr lang="en-US" sz="2000" dirty="0">
                          <a:latin typeface="Times New Roman" panose="02020603050405020304" pitchFamily="18" charset="0"/>
                          <a:cs typeface="Times New Roman" panose="02020603050405020304" pitchFamily="18" charset="0"/>
                        </a:rPr>
                        <a:t>35</a:t>
                      </a:r>
                    </a:p>
                  </a:txBody>
                  <a:tcPr/>
                </a:tc>
                <a:tc>
                  <a:txBody>
                    <a:bodyPr/>
                    <a:lstStyle/>
                    <a:p>
                      <a:pPr algn="ctr"/>
                      <a:r>
                        <a:rPr lang="en-US" sz="2000" dirty="0">
                          <a:latin typeface="Times New Roman" panose="02020603050405020304" pitchFamily="18" charset="0"/>
                          <a:cs typeface="Times New Roman" panose="02020603050405020304" pitchFamily="18" charset="0"/>
                        </a:rPr>
                        <a:t>₱5,500</a:t>
                      </a:r>
                    </a:p>
                  </a:txBody>
                  <a:tcPr/>
                </a:tc>
                <a:extLst>
                  <a:ext uri="{0D108BD9-81ED-4DB2-BD59-A6C34878D82A}">
                    <a16:rowId xmlns:a16="http://schemas.microsoft.com/office/drawing/2014/main" val="3129224690"/>
                  </a:ext>
                </a:extLst>
              </a:tr>
              <a:tr h="370840">
                <a:tc>
                  <a:txBody>
                    <a:bodyPr/>
                    <a:lstStyle/>
                    <a:p>
                      <a:pPr algn="ctr"/>
                      <a:r>
                        <a:rPr lang="en-US" sz="2000" dirty="0">
                          <a:latin typeface="Times New Roman" panose="02020603050405020304" pitchFamily="18" charset="0"/>
                          <a:cs typeface="Times New Roman" panose="02020603050405020304" pitchFamily="18" charset="0"/>
                        </a:rPr>
                        <a:t>36</a:t>
                      </a:r>
                    </a:p>
                  </a:txBody>
                  <a:tcPr/>
                </a:tc>
                <a:tc>
                  <a:txBody>
                    <a:bodyPr/>
                    <a:lstStyle/>
                    <a:p>
                      <a:pPr algn="ctr"/>
                      <a:r>
                        <a:rPr lang="en-US" sz="2000" dirty="0">
                          <a:latin typeface="Times New Roman" panose="02020603050405020304" pitchFamily="18" charset="0"/>
                          <a:cs typeface="Times New Roman" panose="02020603050405020304" pitchFamily="18" charset="0"/>
                        </a:rPr>
                        <a:t>₱5,500</a:t>
                      </a:r>
                    </a:p>
                  </a:txBody>
                  <a:tcPr/>
                </a:tc>
                <a:extLst>
                  <a:ext uri="{0D108BD9-81ED-4DB2-BD59-A6C34878D82A}">
                    <a16:rowId xmlns:a16="http://schemas.microsoft.com/office/drawing/2014/main" val="3756746830"/>
                  </a:ext>
                </a:extLst>
              </a:tr>
              <a:tr h="370840">
                <a:tc>
                  <a:txBody>
                    <a:bodyPr/>
                    <a:lstStyle/>
                    <a:p>
                      <a:pPr algn="ctr"/>
                      <a:r>
                        <a:rPr lang="en-US" sz="2000" dirty="0">
                          <a:latin typeface="Times New Roman" panose="02020603050405020304" pitchFamily="18" charset="0"/>
                          <a:cs typeface="Times New Roman" panose="02020603050405020304" pitchFamily="18" charset="0"/>
                        </a:rPr>
                        <a:t>37</a:t>
                      </a:r>
                    </a:p>
                  </a:txBody>
                  <a:tcPr/>
                </a:tc>
                <a:tc>
                  <a:txBody>
                    <a:bodyPr/>
                    <a:lstStyle/>
                    <a:p>
                      <a:pPr algn="ctr"/>
                      <a:r>
                        <a:rPr lang="en-US" sz="2000" dirty="0">
                          <a:latin typeface="Times New Roman" panose="02020603050405020304" pitchFamily="18" charset="0"/>
                          <a:cs typeface="Times New Roman" panose="02020603050405020304" pitchFamily="18" charset="0"/>
                        </a:rPr>
                        <a:t>₱5,500</a:t>
                      </a:r>
                    </a:p>
                  </a:txBody>
                  <a:tcPr/>
                </a:tc>
                <a:extLst>
                  <a:ext uri="{0D108BD9-81ED-4DB2-BD59-A6C34878D82A}">
                    <a16:rowId xmlns:a16="http://schemas.microsoft.com/office/drawing/2014/main" val="2120535154"/>
                  </a:ext>
                </a:extLst>
              </a:tr>
              <a:tr h="370840">
                <a:tc>
                  <a:txBody>
                    <a:bodyPr/>
                    <a:lstStyle/>
                    <a:p>
                      <a:pPr algn="ctr"/>
                      <a:r>
                        <a:rPr lang="en-US" sz="2000" dirty="0">
                          <a:latin typeface="Times New Roman" panose="02020603050405020304" pitchFamily="18" charset="0"/>
                          <a:cs typeface="Times New Roman" panose="02020603050405020304" pitchFamily="18" charset="0"/>
                        </a:rPr>
                        <a:t>38</a:t>
                      </a:r>
                    </a:p>
                  </a:txBody>
                  <a:tcPr/>
                </a:tc>
                <a:tc>
                  <a:txBody>
                    <a:bodyPr/>
                    <a:lstStyle/>
                    <a:p>
                      <a:pPr algn="ctr"/>
                      <a:r>
                        <a:rPr lang="en-US" sz="2000" dirty="0">
                          <a:latin typeface="Times New Roman" panose="02020603050405020304" pitchFamily="18" charset="0"/>
                          <a:cs typeface="Times New Roman" panose="02020603050405020304" pitchFamily="18" charset="0"/>
                        </a:rPr>
                        <a:t>₱5,500</a:t>
                      </a:r>
                    </a:p>
                  </a:txBody>
                  <a:tcPr/>
                </a:tc>
                <a:extLst>
                  <a:ext uri="{0D108BD9-81ED-4DB2-BD59-A6C34878D82A}">
                    <a16:rowId xmlns:a16="http://schemas.microsoft.com/office/drawing/2014/main" val="959900502"/>
                  </a:ext>
                </a:extLst>
              </a:tr>
              <a:tr h="370840">
                <a:tc>
                  <a:txBody>
                    <a:bodyPr/>
                    <a:lstStyle/>
                    <a:p>
                      <a:pPr algn="ctr"/>
                      <a:r>
                        <a:rPr lang="en-US" sz="2000" dirty="0">
                          <a:latin typeface="Times New Roman" panose="02020603050405020304" pitchFamily="18" charset="0"/>
                          <a:cs typeface="Times New Roman" panose="02020603050405020304" pitchFamily="18" charset="0"/>
                        </a:rPr>
                        <a:t>39</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₱5,500</a:t>
                      </a:r>
                    </a:p>
                  </a:txBody>
                  <a:tcPr/>
                </a:tc>
                <a:extLst>
                  <a:ext uri="{0D108BD9-81ED-4DB2-BD59-A6C34878D82A}">
                    <a16:rowId xmlns:a16="http://schemas.microsoft.com/office/drawing/2014/main" val="1771368811"/>
                  </a:ext>
                </a:extLst>
              </a:tr>
            </a:tbl>
          </a:graphicData>
        </a:graphic>
      </p:graphicFrame>
      <p:sp>
        <p:nvSpPr>
          <p:cNvPr id="24" name="Subtitle 2">
            <a:extLst>
              <a:ext uri="{FF2B5EF4-FFF2-40B4-BE49-F238E27FC236}">
                <a16:creationId xmlns:a16="http://schemas.microsoft.com/office/drawing/2014/main" id="{8682E013-F9B0-1DFF-5CBC-9C6D85A6AB18}"/>
              </a:ext>
            </a:extLst>
          </p:cNvPr>
          <p:cNvSpPr txBox="1">
            <a:spLocks/>
          </p:cNvSpPr>
          <p:nvPr/>
        </p:nvSpPr>
        <p:spPr>
          <a:xfrm>
            <a:off x="4770478" y="1756685"/>
            <a:ext cx="5912683" cy="313908"/>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dirty="0">
                <a:latin typeface="Times New Roman" panose="02020603050405020304" pitchFamily="18" charset="0"/>
                <a:cs typeface="Times New Roman" panose="02020603050405020304" pitchFamily="18" charset="0"/>
              </a:rPr>
              <a:t>Graphing the invested amount each year in a line graph</a:t>
            </a:r>
          </a:p>
        </p:txBody>
      </p:sp>
      <p:sp>
        <p:nvSpPr>
          <p:cNvPr id="27" name="Subtitle 2">
            <a:extLst>
              <a:ext uri="{FF2B5EF4-FFF2-40B4-BE49-F238E27FC236}">
                <a16:creationId xmlns:a16="http://schemas.microsoft.com/office/drawing/2014/main" id="{59BF2F86-9469-253C-B9BF-C3AB31A72D9C}"/>
              </a:ext>
            </a:extLst>
          </p:cNvPr>
          <p:cNvSpPr txBox="1">
            <a:spLocks/>
          </p:cNvSpPr>
          <p:nvPr/>
        </p:nvSpPr>
        <p:spPr>
          <a:xfrm>
            <a:off x="485467" y="1219053"/>
            <a:ext cx="11221061" cy="313908"/>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dirty="0">
                <a:latin typeface="Times New Roman" panose="02020603050405020304" pitchFamily="18" charset="0"/>
                <a:cs typeface="Times New Roman" panose="02020603050405020304" pitchFamily="18" charset="0"/>
              </a:rPr>
              <a:t>While this is valuable information, we might be even more interested in the  accumulated amount over time.</a:t>
            </a:r>
          </a:p>
        </p:txBody>
      </p:sp>
      <p:graphicFrame>
        <p:nvGraphicFramePr>
          <p:cNvPr id="28" name="Table 27">
            <a:extLst>
              <a:ext uri="{FF2B5EF4-FFF2-40B4-BE49-F238E27FC236}">
                <a16:creationId xmlns:a16="http://schemas.microsoft.com/office/drawing/2014/main" id="{B1EC35B6-F9F3-F38E-68B1-89F516B9B160}"/>
              </a:ext>
            </a:extLst>
          </p:cNvPr>
          <p:cNvGraphicFramePr>
            <a:graphicFrameLocks noGrp="1"/>
          </p:cNvGraphicFramePr>
          <p:nvPr>
            <p:extLst>
              <p:ext uri="{D42A27DB-BD31-4B8C-83A1-F6EECF244321}">
                <p14:modId xmlns:p14="http://schemas.microsoft.com/office/powerpoint/2010/main" val="1706193065"/>
              </p:ext>
            </p:extLst>
          </p:nvPr>
        </p:nvGraphicFramePr>
        <p:xfrm>
          <a:off x="3332915" y="1789022"/>
          <a:ext cx="1117381" cy="4358640"/>
        </p:xfrm>
        <a:graphic>
          <a:graphicData uri="http://schemas.openxmlformats.org/drawingml/2006/table">
            <a:tbl>
              <a:tblPr firstRow="1" bandRow="1">
                <a:tableStyleId>{073A0DAA-6AF3-43AB-8588-CEC1D06C72B9}</a:tableStyleId>
              </a:tblPr>
              <a:tblGrid>
                <a:gridCol w="1117381">
                  <a:extLst>
                    <a:ext uri="{9D8B030D-6E8A-4147-A177-3AD203B41FA5}">
                      <a16:colId xmlns:a16="http://schemas.microsoft.com/office/drawing/2014/main" val="649860315"/>
                    </a:ext>
                  </a:extLst>
                </a:gridCol>
              </a:tblGrid>
              <a:tr h="370840">
                <a:tc>
                  <a:txBody>
                    <a:bodyPr/>
                    <a:lstStyle/>
                    <a:p>
                      <a:pPr algn="ctr"/>
                      <a:r>
                        <a:rPr lang="en-US" sz="2000" dirty="0">
                          <a:latin typeface="Times New Roman" panose="02020603050405020304" pitchFamily="18" charset="0"/>
                          <a:cs typeface="Times New Roman" panose="02020603050405020304" pitchFamily="18" charset="0"/>
                        </a:rPr>
                        <a:t>Total</a:t>
                      </a:r>
                    </a:p>
                  </a:txBody>
                  <a:tcPr/>
                </a:tc>
                <a:extLst>
                  <a:ext uri="{0D108BD9-81ED-4DB2-BD59-A6C34878D82A}">
                    <a16:rowId xmlns:a16="http://schemas.microsoft.com/office/drawing/2014/main" val="1199740041"/>
                  </a:ext>
                </a:extLst>
              </a:tr>
              <a:tr h="370840">
                <a:tc>
                  <a:txBody>
                    <a:bodyPr/>
                    <a:lstStyle/>
                    <a:p>
                      <a:pPr algn="ctr"/>
                      <a:r>
                        <a:rPr lang="en-US" sz="2000" dirty="0">
                          <a:latin typeface="Times New Roman" panose="02020603050405020304" pitchFamily="18" charset="0"/>
                          <a:cs typeface="Times New Roman" panose="02020603050405020304" pitchFamily="18" charset="0"/>
                        </a:rPr>
                        <a:t>₱5,500</a:t>
                      </a:r>
                    </a:p>
                  </a:txBody>
                  <a:tcPr/>
                </a:tc>
                <a:extLst>
                  <a:ext uri="{0D108BD9-81ED-4DB2-BD59-A6C34878D82A}">
                    <a16:rowId xmlns:a16="http://schemas.microsoft.com/office/drawing/2014/main" val="14457225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₱11,000</a:t>
                      </a:r>
                    </a:p>
                  </a:txBody>
                  <a:tcPr/>
                </a:tc>
                <a:extLst>
                  <a:ext uri="{0D108BD9-81ED-4DB2-BD59-A6C34878D82A}">
                    <a16:rowId xmlns:a16="http://schemas.microsoft.com/office/drawing/2014/main" val="2782602003"/>
                  </a:ext>
                </a:extLst>
              </a:tr>
              <a:tr h="370840">
                <a:tc>
                  <a:txBody>
                    <a:bodyPr/>
                    <a:lstStyle/>
                    <a:p>
                      <a:pPr algn="ctr"/>
                      <a:r>
                        <a:rPr lang="en-US" sz="2000" dirty="0">
                          <a:latin typeface="Times New Roman" panose="02020603050405020304" pitchFamily="18" charset="0"/>
                          <a:cs typeface="Times New Roman" panose="02020603050405020304" pitchFamily="18" charset="0"/>
                        </a:rPr>
                        <a:t>₱16,500</a:t>
                      </a:r>
                    </a:p>
                  </a:txBody>
                  <a:tcPr/>
                </a:tc>
                <a:extLst>
                  <a:ext uri="{0D108BD9-81ED-4DB2-BD59-A6C34878D82A}">
                    <a16:rowId xmlns:a16="http://schemas.microsoft.com/office/drawing/2014/main" val="3553140564"/>
                  </a:ext>
                </a:extLst>
              </a:tr>
              <a:tr h="370840">
                <a:tc>
                  <a:txBody>
                    <a:bodyPr/>
                    <a:lstStyle/>
                    <a:p>
                      <a:pPr algn="ctr"/>
                      <a:r>
                        <a:rPr lang="en-US" sz="2000" dirty="0">
                          <a:latin typeface="Times New Roman" panose="02020603050405020304" pitchFamily="18" charset="0"/>
                          <a:cs typeface="Times New Roman" panose="02020603050405020304" pitchFamily="18" charset="0"/>
                        </a:rPr>
                        <a:t>₱22,000</a:t>
                      </a:r>
                    </a:p>
                  </a:txBody>
                  <a:tcPr/>
                </a:tc>
                <a:extLst>
                  <a:ext uri="{0D108BD9-81ED-4DB2-BD59-A6C34878D82A}">
                    <a16:rowId xmlns:a16="http://schemas.microsoft.com/office/drawing/2014/main" val="312982527"/>
                  </a:ext>
                </a:extLst>
              </a:tr>
              <a:tr h="370840">
                <a:tc>
                  <a:txBody>
                    <a:bodyPr/>
                    <a:lstStyle/>
                    <a:p>
                      <a:pPr algn="ctr"/>
                      <a:r>
                        <a:rPr lang="en-US" sz="2000" dirty="0">
                          <a:latin typeface="Times New Roman" panose="02020603050405020304" pitchFamily="18" charset="0"/>
                          <a:cs typeface="Times New Roman" panose="02020603050405020304" pitchFamily="18" charset="0"/>
                        </a:rPr>
                        <a:t>₱27,500</a:t>
                      </a:r>
                    </a:p>
                  </a:txBody>
                  <a:tcPr/>
                </a:tc>
                <a:extLst>
                  <a:ext uri="{0D108BD9-81ED-4DB2-BD59-A6C34878D82A}">
                    <a16:rowId xmlns:a16="http://schemas.microsoft.com/office/drawing/2014/main" val="3432853718"/>
                  </a:ext>
                </a:extLst>
              </a:tr>
              <a:tr h="370840">
                <a:tc>
                  <a:txBody>
                    <a:bodyPr/>
                    <a:lstStyle/>
                    <a:p>
                      <a:pPr algn="ctr"/>
                      <a:r>
                        <a:rPr lang="en-US" sz="2000" dirty="0">
                          <a:latin typeface="Times New Roman" panose="02020603050405020304" pitchFamily="18" charset="0"/>
                          <a:cs typeface="Times New Roman" panose="02020603050405020304" pitchFamily="18" charset="0"/>
                        </a:rPr>
                        <a:t>₱33,000</a:t>
                      </a:r>
                    </a:p>
                  </a:txBody>
                  <a:tcPr/>
                </a:tc>
                <a:extLst>
                  <a:ext uri="{0D108BD9-81ED-4DB2-BD59-A6C34878D82A}">
                    <a16:rowId xmlns:a16="http://schemas.microsoft.com/office/drawing/2014/main" val="3129224690"/>
                  </a:ext>
                </a:extLst>
              </a:tr>
              <a:tr h="370840">
                <a:tc>
                  <a:txBody>
                    <a:bodyPr/>
                    <a:lstStyle/>
                    <a:p>
                      <a:pPr algn="ctr"/>
                      <a:r>
                        <a:rPr lang="en-US" sz="2000" dirty="0">
                          <a:latin typeface="Times New Roman" panose="02020603050405020304" pitchFamily="18" charset="0"/>
                          <a:cs typeface="Times New Roman" panose="02020603050405020304" pitchFamily="18" charset="0"/>
                        </a:rPr>
                        <a:t>₱38,500</a:t>
                      </a:r>
                    </a:p>
                  </a:txBody>
                  <a:tcPr/>
                </a:tc>
                <a:extLst>
                  <a:ext uri="{0D108BD9-81ED-4DB2-BD59-A6C34878D82A}">
                    <a16:rowId xmlns:a16="http://schemas.microsoft.com/office/drawing/2014/main" val="3756746830"/>
                  </a:ext>
                </a:extLst>
              </a:tr>
              <a:tr h="370840">
                <a:tc>
                  <a:txBody>
                    <a:bodyPr/>
                    <a:lstStyle/>
                    <a:p>
                      <a:pPr algn="ctr"/>
                      <a:r>
                        <a:rPr lang="en-US" sz="2000" dirty="0">
                          <a:latin typeface="Times New Roman" panose="02020603050405020304" pitchFamily="18" charset="0"/>
                          <a:cs typeface="Times New Roman" panose="02020603050405020304" pitchFamily="18" charset="0"/>
                        </a:rPr>
                        <a:t>₱44,00</a:t>
                      </a:r>
                    </a:p>
                  </a:txBody>
                  <a:tcPr/>
                </a:tc>
                <a:extLst>
                  <a:ext uri="{0D108BD9-81ED-4DB2-BD59-A6C34878D82A}">
                    <a16:rowId xmlns:a16="http://schemas.microsoft.com/office/drawing/2014/main" val="2120535154"/>
                  </a:ext>
                </a:extLst>
              </a:tr>
              <a:tr h="370840">
                <a:tc>
                  <a:txBody>
                    <a:bodyPr/>
                    <a:lstStyle/>
                    <a:p>
                      <a:pPr algn="ctr"/>
                      <a:r>
                        <a:rPr lang="en-US" sz="2000" dirty="0">
                          <a:latin typeface="Times New Roman" panose="02020603050405020304" pitchFamily="18" charset="0"/>
                          <a:cs typeface="Times New Roman" panose="02020603050405020304" pitchFamily="18" charset="0"/>
                        </a:rPr>
                        <a:t>₱49,500</a:t>
                      </a:r>
                    </a:p>
                  </a:txBody>
                  <a:tcPr/>
                </a:tc>
                <a:extLst>
                  <a:ext uri="{0D108BD9-81ED-4DB2-BD59-A6C34878D82A}">
                    <a16:rowId xmlns:a16="http://schemas.microsoft.com/office/drawing/2014/main" val="95990050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₱55,000</a:t>
                      </a:r>
                    </a:p>
                  </a:txBody>
                  <a:tcPr/>
                </a:tc>
                <a:extLst>
                  <a:ext uri="{0D108BD9-81ED-4DB2-BD59-A6C34878D82A}">
                    <a16:rowId xmlns:a16="http://schemas.microsoft.com/office/drawing/2014/main" val="1771368811"/>
                  </a:ext>
                </a:extLst>
              </a:tr>
            </a:tbl>
          </a:graphicData>
        </a:graphic>
      </p:graphicFrame>
      <p:sp>
        <p:nvSpPr>
          <p:cNvPr id="30" name="Subtitle 2">
            <a:extLst>
              <a:ext uri="{FF2B5EF4-FFF2-40B4-BE49-F238E27FC236}">
                <a16:creationId xmlns:a16="http://schemas.microsoft.com/office/drawing/2014/main" id="{BE25CF76-4405-33E4-66EE-874B9B821D61}"/>
              </a:ext>
            </a:extLst>
          </p:cNvPr>
          <p:cNvSpPr txBox="1">
            <a:spLocks/>
          </p:cNvSpPr>
          <p:nvPr/>
        </p:nvSpPr>
        <p:spPr>
          <a:xfrm>
            <a:off x="4611164" y="1605958"/>
            <a:ext cx="6953720" cy="615362"/>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800" dirty="0">
                <a:latin typeface="Times New Roman" panose="02020603050405020304" pitchFamily="18" charset="0"/>
                <a:cs typeface="Times New Roman" panose="02020603050405020304" pitchFamily="18" charset="0"/>
              </a:rPr>
              <a:t>Graphing the accumulated total each year could be much more valuable, because it gives us visibility into how our savings will grow over time</a:t>
            </a:r>
          </a:p>
        </p:txBody>
      </p:sp>
      <p:grpSp>
        <p:nvGrpSpPr>
          <p:cNvPr id="4" name="Group 3">
            <a:extLst>
              <a:ext uri="{FF2B5EF4-FFF2-40B4-BE49-F238E27FC236}">
                <a16:creationId xmlns:a16="http://schemas.microsoft.com/office/drawing/2014/main" id="{BCA62225-615D-6ED2-1057-8FD993CC925A}"/>
              </a:ext>
            </a:extLst>
          </p:cNvPr>
          <p:cNvGrpSpPr/>
          <p:nvPr/>
        </p:nvGrpSpPr>
        <p:grpSpPr>
          <a:xfrm>
            <a:off x="0" y="6544092"/>
            <a:ext cx="12192000" cy="313908"/>
            <a:chOff x="0" y="6544092"/>
            <a:chExt cx="12192000" cy="313908"/>
          </a:xfrm>
        </p:grpSpPr>
        <p:sp>
          <p:nvSpPr>
            <p:cNvPr id="5" name="Rectangle 4">
              <a:extLst>
                <a:ext uri="{FF2B5EF4-FFF2-40B4-BE49-F238E27FC236}">
                  <a16:creationId xmlns:a16="http://schemas.microsoft.com/office/drawing/2014/main" id="{5361256D-E82B-EDC5-A32C-FB7CFDB711F1}"/>
                </a:ext>
              </a:extLst>
            </p:cNvPr>
            <p:cNvSpPr/>
            <p:nvPr/>
          </p:nvSpPr>
          <p:spPr>
            <a:xfrm>
              <a:off x="0" y="6544092"/>
              <a:ext cx="12192000" cy="31390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6" name="TextBox 10">
              <a:extLst>
                <a:ext uri="{FF2B5EF4-FFF2-40B4-BE49-F238E27FC236}">
                  <a16:creationId xmlns:a16="http://schemas.microsoft.com/office/drawing/2014/main" id="{D296A9BB-3133-2103-DBFD-123779F71404}"/>
                </a:ext>
              </a:extLst>
            </p:cNvPr>
            <p:cNvSpPr txBox="1"/>
            <p:nvPr/>
          </p:nvSpPr>
          <p:spPr>
            <a:xfrm>
              <a:off x="109932" y="6577518"/>
              <a:ext cx="2794997" cy="247055"/>
            </a:xfrm>
            <a:prstGeom prst="rect">
              <a:avLst/>
            </a:prstGeom>
            <a:noFill/>
          </p:spPr>
          <p:txBody>
            <a:bodyPr lIns="0" tIns="0" rIns="0" bIns="0" rtlCol="0" anchor="ctr">
              <a:spAutoFit/>
            </a:bodyPr>
            <a:lstStyle/>
            <a:p>
              <a:pPr algn="just">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ENGR. VIOLDAN E. BAYOCOT</a:t>
              </a:r>
            </a:p>
          </p:txBody>
        </p:sp>
        <p:sp>
          <p:nvSpPr>
            <p:cNvPr id="7" name="TextBox 6">
              <a:extLst>
                <a:ext uri="{FF2B5EF4-FFF2-40B4-BE49-F238E27FC236}">
                  <a16:creationId xmlns:a16="http://schemas.microsoft.com/office/drawing/2014/main" id="{0BAF1871-89D0-4AD0-0990-FF56C2FB7C37}"/>
                </a:ext>
              </a:extLst>
            </p:cNvPr>
            <p:cNvSpPr txBox="1"/>
            <p:nvPr/>
          </p:nvSpPr>
          <p:spPr>
            <a:xfrm>
              <a:off x="3158929" y="6577518"/>
              <a:ext cx="5433668" cy="248145"/>
            </a:xfrm>
            <a:prstGeom prst="rect">
              <a:avLst/>
            </a:prstGeom>
            <a:noFill/>
          </p:spPr>
          <p:txBody>
            <a:bodyPr wrap="square" lIns="0" tIns="0" rIns="0" bIns="0" rtlCol="0" anchor="t">
              <a:spAutoFit/>
            </a:bodyPr>
            <a:lstStyle/>
            <a:p>
              <a:pPr algn="ct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[Krista K.] BECOME A PROBABILITY &amp; STATISTICS MASTER</a:t>
              </a:r>
            </a:p>
          </p:txBody>
        </p:sp>
        <p:sp>
          <p:nvSpPr>
            <p:cNvPr id="9" name="TextBox 8">
              <a:extLst>
                <a:ext uri="{FF2B5EF4-FFF2-40B4-BE49-F238E27FC236}">
                  <a16:creationId xmlns:a16="http://schemas.microsoft.com/office/drawing/2014/main" id="{D0A22247-5E91-B8C7-316D-788B48EFC823}"/>
                </a:ext>
              </a:extLst>
            </p:cNvPr>
            <p:cNvSpPr txBox="1"/>
            <p:nvPr/>
          </p:nvSpPr>
          <p:spPr>
            <a:xfrm>
              <a:off x="8387007" y="6577518"/>
              <a:ext cx="3701763" cy="248145"/>
            </a:xfrm>
            <a:prstGeom prst="rect">
              <a:avLst/>
            </a:prstGeom>
            <a:noFill/>
          </p:spPr>
          <p:txBody>
            <a:bodyPr wrap="square" lIns="0" tIns="0" rIns="0" bIns="0" rtlCol="0" anchor="t">
              <a:spAutoFit/>
            </a:bodyPr>
            <a:lstStyle/>
            <a:p>
              <a:pPr algn="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QUANTITATIVE METHODS</a:t>
              </a:r>
            </a:p>
          </p:txBody>
        </p:sp>
      </p:grpSp>
      <p:pic>
        <p:nvPicPr>
          <p:cNvPr id="10" name="Picture 9">
            <a:extLst>
              <a:ext uri="{FF2B5EF4-FFF2-40B4-BE49-F238E27FC236}">
                <a16:creationId xmlns:a16="http://schemas.microsoft.com/office/drawing/2014/main" id="{3ACE76B3-FCA2-66DE-6161-8A403E52C8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95924" y="2262304"/>
            <a:ext cx="6784200" cy="4012551"/>
          </a:xfrm>
          <a:prstGeom prst="rect">
            <a:avLst/>
          </a:prstGeom>
        </p:spPr>
      </p:pic>
      <p:pic>
        <p:nvPicPr>
          <p:cNvPr id="12" name="Picture 11">
            <a:extLst>
              <a:ext uri="{FF2B5EF4-FFF2-40B4-BE49-F238E27FC236}">
                <a16:creationId xmlns:a16="http://schemas.microsoft.com/office/drawing/2014/main" id="{FBBCF069-FE70-3258-DA1F-FB314F9EA7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95925" y="2262304"/>
            <a:ext cx="6686096" cy="4012551"/>
          </a:xfrm>
          <a:prstGeom prst="rect">
            <a:avLst/>
          </a:prstGeom>
        </p:spPr>
      </p:pic>
    </p:spTree>
    <p:extLst>
      <p:ext uri="{BB962C8B-B14F-4D97-AF65-F5344CB8AC3E}">
        <p14:creationId xmlns:p14="http://schemas.microsoft.com/office/powerpoint/2010/main" val="35513175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par>
                                <p:cTn id="8" presetID="10" presetClass="entr" presetSubtype="0" fill="hold"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500"/>
                                        <p:tgtEl>
                                          <p:spTgt spid="23"/>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nodeType="clickEffect">
                                  <p:stCondLst>
                                    <p:cond delay="0"/>
                                  </p:stCondLst>
                                  <p:childTnLst>
                                    <p:animMotion origin="layout" path="M 0 -3.7037E-6 L -0.24089 -3.7037E-6 " pathEditMode="relative" rAng="0" ptsTypes="AA">
                                      <p:cBhvr>
                                        <p:cTn id="14" dur="2000" fill="hold"/>
                                        <p:tgtEl>
                                          <p:spTgt spid="23"/>
                                        </p:tgtEl>
                                        <p:attrNameLst>
                                          <p:attrName>ppt_x</p:attrName>
                                          <p:attrName>ppt_y</p:attrName>
                                        </p:attrNameLst>
                                      </p:cBhvr>
                                      <p:rCtr x="-12044" y="0"/>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500"/>
                                        <p:tgtEl>
                                          <p:spTgt spid="24"/>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fade">
                                      <p:cBhvr>
                                        <p:cTn id="29" dur="500"/>
                                        <p:tgtEl>
                                          <p:spTgt spid="27"/>
                                        </p:tgtEl>
                                      </p:cBhvr>
                                    </p:animEffect>
                                  </p:childTnLst>
                                </p:cTn>
                              </p:par>
                              <p:par>
                                <p:cTn id="30" presetID="10" presetClass="exit" presetSubtype="0" fill="hold" grpId="1" nodeType="withEffect">
                                  <p:stCondLst>
                                    <p:cond delay="0"/>
                                  </p:stCondLst>
                                  <p:childTnLst>
                                    <p:animEffect transition="out" filter="fade">
                                      <p:cBhvr>
                                        <p:cTn id="31" dur="500"/>
                                        <p:tgtEl>
                                          <p:spTgt spid="22"/>
                                        </p:tgtEl>
                                      </p:cBhvr>
                                    </p:animEffect>
                                    <p:set>
                                      <p:cBhvr>
                                        <p:cTn id="32" dur="1" fill="hold">
                                          <p:stCondLst>
                                            <p:cond delay="499"/>
                                          </p:stCondLst>
                                        </p:cTn>
                                        <p:tgtEl>
                                          <p:spTgt spid="22"/>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42" presetClass="path" presetSubtype="0" accel="50000" decel="50000" fill="hold" nodeType="clickEffect">
                                  <p:stCondLst>
                                    <p:cond delay="0"/>
                                  </p:stCondLst>
                                  <p:childTnLst>
                                    <p:animMotion origin="layout" path="M -0.24089 -3.7037E-6 L -0.32201 -3.7037E-6 " pathEditMode="relative" rAng="0" ptsTypes="AA">
                                      <p:cBhvr>
                                        <p:cTn id="36" dur="2000" fill="hold"/>
                                        <p:tgtEl>
                                          <p:spTgt spid="23"/>
                                        </p:tgtEl>
                                        <p:attrNameLst>
                                          <p:attrName>ppt_x</p:attrName>
                                          <p:attrName>ppt_y</p:attrName>
                                        </p:attrNameLst>
                                      </p:cBhvr>
                                      <p:rCtr x="-4062" y="0"/>
                                    </p:animMotion>
                                  </p:childTnLst>
                                </p:cTn>
                              </p:par>
                            </p:childTnLst>
                          </p:cTn>
                        </p:par>
                        <p:par>
                          <p:cTn id="37" fill="hold">
                            <p:stCondLst>
                              <p:cond delay="2000"/>
                            </p:stCondLst>
                            <p:childTnLst>
                              <p:par>
                                <p:cTn id="38" presetID="22" presetClass="entr" presetSubtype="8" fill="hold" nodeType="after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wipe(left)">
                                      <p:cBhvr>
                                        <p:cTn id="40" dur="500"/>
                                        <p:tgtEl>
                                          <p:spTgt spid="28"/>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xit" presetSubtype="0" fill="hold" grpId="1" nodeType="clickEffect">
                                  <p:stCondLst>
                                    <p:cond delay="0"/>
                                  </p:stCondLst>
                                  <p:childTnLst>
                                    <p:animEffect transition="out" filter="fade">
                                      <p:cBhvr>
                                        <p:cTn id="44" dur="500"/>
                                        <p:tgtEl>
                                          <p:spTgt spid="24"/>
                                        </p:tgtEl>
                                      </p:cBhvr>
                                    </p:animEffect>
                                    <p:set>
                                      <p:cBhvr>
                                        <p:cTn id="45" dur="1" fill="hold">
                                          <p:stCondLst>
                                            <p:cond delay="499"/>
                                          </p:stCondLst>
                                        </p:cTn>
                                        <p:tgtEl>
                                          <p:spTgt spid="24"/>
                                        </p:tgtEl>
                                        <p:attrNameLst>
                                          <p:attrName>style.visibility</p:attrName>
                                        </p:attrNameLst>
                                      </p:cBhvr>
                                      <p:to>
                                        <p:strVal val="hidden"/>
                                      </p:to>
                                    </p:se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0"/>
                                        </p:tgtEl>
                                        <p:attrNameLst>
                                          <p:attrName>style.visibility</p:attrName>
                                        </p:attrNameLst>
                                      </p:cBhvr>
                                      <p:to>
                                        <p:strVal val="visible"/>
                                      </p:to>
                                    </p:set>
                                    <p:animEffect transition="in" filter="fade">
                                      <p:cBhvr>
                                        <p:cTn id="50" dur="500"/>
                                        <p:tgtEl>
                                          <p:spTgt spid="30"/>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xit" presetSubtype="0" fill="hold" nodeType="clickEffect">
                                  <p:stCondLst>
                                    <p:cond delay="0"/>
                                  </p:stCondLst>
                                  <p:childTnLst>
                                    <p:animEffect transition="out" filter="fade">
                                      <p:cBhvr>
                                        <p:cTn id="54" dur="500"/>
                                        <p:tgtEl>
                                          <p:spTgt spid="10"/>
                                        </p:tgtEl>
                                      </p:cBhvr>
                                    </p:animEffect>
                                    <p:set>
                                      <p:cBhvr>
                                        <p:cTn id="55" dur="1" fill="hold">
                                          <p:stCondLst>
                                            <p:cond delay="499"/>
                                          </p:stCondLst>
                                        </p:cTn>
                                        <p:tgtEl>
                                          <p:spTgt spid="10"/>
                                        </p:tgtEl>
                                        <p:attrNameLst>
                                          <p:attrName>style.visibility</p:attrName>
                                        </p:attrNameLst>
                                      </p:cBhvr>
                                      <p:to>
                                        <p:strVal val="hidden"/>
                                      </p:to>
                                    </p:set>
                                  </p:childTnLst>
                                </p:cTn>
                              </p:par>
                            </p:childTnLst>
                          </p:cTn>
                        </p:par>
                        <p:par>
                          <p:cTn id="56" fill="hold">
                            <p:stCondLst>
                              <p:cond delay="500"/>
                            </p:stCondLst>
                            <p:childTnLst>
                              <p:par>
                                <p:cTn id="57" presetID="10" presetClass="entr" presetSubtype="0" fill="hold" nodeType="afterEffect">
                                  <p:stCondLst>
                                    <p:cond delay="0"/>
                                  </p:stCondLst>
                                  <p:childTnLst>
                                    <p:set>
                                      <p:cBhvr>
                                        <p:cTn id="58" dur="1" fill="hold">
                                          <p:stCondLst>
                                            <p:cond delay="0"/>
                                          </p:stCondLst>
                                        </p:cTn>
                                        <p:tgtEl>
                                          <p:spTgt spid="12"/>
                                        </p:tgtEl>
                                        <p:attrNameLst>
                                          <p:attrName>style.visibility</p:attrName>
                                        </p:attrNameLst>
                                      </p:cBhvr>
                                      <p:to>
                                        <p:strVal val="visible"/>
                                      </p:to>
                                    </p:set>
                                    <p:animEffect transition="in" filter="fade">
                                      <p:cBhvr>
                                        <p:cTn id="5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2" grpId="1"/>
      <p:bldP spid="24" grpId="0"/>
      <p:bldP spid="24" grpId="1"/>
      <p:bldP spid="27" grpId="0"/>
      <p:bldP spid="3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F7A7B-B05D-393E-11E8-B1369F69464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D677B1D-AE6B-469A-B703-E59AB9F3D7B9}"/>
              </a:ext>
            </a:extLst>
          </p:cNvPr>
          <p:cNvSpPr/>
          <p:nvPr/>
        </p:nvSpPr>
        <p:spPr>
          <a:xfrm>
            <a:off x="0" y="0"/>
            <a:ext cx="12192000" cy="548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sz="3000" b="1" dirty="0">
              <a:solidFill>
                <a:schemeClr val="tx1"/>
              </a:solidFill>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64D747D5-DE79-1840-17A0-C7385F912760}"/>
              </a:ext>
            </a:extLst>
          </p:cNvPr>
          <p:cNvSpPr txBox="1">
            <a:spLocks/>
          </p:cNvSpPr>
          <p:nvPr/>
        </p:nvSpPr>
        <p:spPr>
          <a:xfrm>
            <a:off x="0" y="0"/>
            <a:ext cx="12191998" cy="548641"/>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PH" sz="3000" b="1" dirty="0">
                <a:solidFill>
                  <a:schemeClr val="bg1"/>
                </a:solidFill>
                <a:latin typeface="Times New Roman" panose="02020603050405020304" pitchFamily="18" charset="0"/>
                <a:cs typeface="Times New Roman" panose="02020603050405020304" pitchFamily="18" charset="0"/>
              </a:rPr>
              <a:t>OGIVES</a:t>
            </a:r>
            <a:endParaRPr lang="en-PH" sz="3000" b="1" dirty="0">
              <a:solidFill>
                <a:schemeClr val="bg1"/>
              </a:solidFill>
              <a:latin typeface="Courier New" panose="02070309020205020404" pitchFamily="49" charset="0"/>
              <a:cs typeface="Courier New" panose="02070309020205020404" pitchFamily="49" charset="0"/>
            </a:endParaRPr>
          </a:p>
        </p:txBody>
      </p:sp>
      <p:sp>
        <p:nvSpPr>
          <p:cNvPr id="16" name="Subtitle 2">
            <a:extLst>
              <a:ext uri="{FF2B5EF4-FFF2-40B4-BE49-F238E27FC236}">
                <a16:creationId xmlns:a16="http://schemas.microsoft.com/office/drawing/2014/main" id="{29E7E33E-52D1-DD7B-6A03-F98E829BEB19}"/>
              </a:ext>
            </a:extLst>
          </p:cNvPr>
          <p:cNvSpPr txBox="1">
            <a:spLocks/>
          </p:cNvSpPr>
          <p:nvPr/>
        </p:nvSpPr>
        <p:spPr>
          <a:xfrm>
            <a:off x="156375" y="639709"/>
            <a:ext cx="11879248" cy="671159"/>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900" dirty="0">
                <a:latin typeface="Times New Roman" panose="02020603050405020304" pitchFamily="18" charset="0"/>
                <a:cs typeface="Times New Roman" panose="02020603050405020304" pitchFamily="18" charset="0"/>
              </a:rPr>
              <a:t>From this </a:t>
            </a:r>
            <a:r>
              <a:rPr lang="en-US" sz="1900" b="1" dirty="0">
                <a:latin typeface="Times New Roman" panose="02020603050405020304" pitchFamily="18" charset="0"/>
                <a:cs typeface="Times New Roman" panose="02020603050405020304" pitchFamily="18" charset="0"/>
              </a:rPr>
              <a:t>ogive</a:t>
            </a:r>
            <a:r>
              <a:rPr lang="en-US" sz="1900" dirty="0">
                <a:latin typeface="Times New Roman" panose="02020603050405020304" pitchFamily="18" charset="0"/>
                <a:cs typeface="Times New Roman" panose="02020603050405020304" pitchFamily="18" charset="0"/>
              </a:rPr>
              <a:t>, we can quickly see that we’ll have something </a:t>
            </a:r>
            <a:r>
              <a:rPr lang="en-US" sz="1900" b="1" dirty="0">
                <a:latin typeface="Times New Roman" panose="02020603050405020304" pitchFamily="18" charset="0"/>
                <a:cs typeface="Times New Roman" panose="02020603050405020304" pitchFamily="18" charset="0"/>
              </a:rPr>
              <a:t>between </a:t>
            </a:r>
            <a:r>
              <a:rPr lang="en-US" sz="1900" b="1" dirty="0"/>
              <a:t>₱</a:t>
            </a:r>
            <a:r>
              <a:rPr lang="en-US" sz="1900" b="1" dirty="0">
                <a:latin typeface="Times New Roman" panose="02020603050405020304" pitchFamily="18" charset="0"/>
                <a:cs typeface="Times New Roman" panose="02020603050405020304" pitchFamily="18" charset="0"/>
              </a:rPr>
              <a:t>50,000 and </a:t>
            </a:r>
            <a:r>
              <a:rPr lang="en-US" sz="1900" b="1" dirty="0"/>
              <a:t>₱</a:t>
            </a:r>
            <a:r>
              <a:rPr lang="en-US" sz="1900" b="1" dirty="0">
                <a:latin typeface="Times New Roman" panose="02020603050405020304" pitchFamily="18" charset="0"/>
                <a:cs typeface="Times New Roman" panose="02020603050405020304" pitchFamily="18" charset="0"/>
              </a:rPr>
              <a:t>60,000 </a:t>
            </a:r>
            <a:r>
              <a:rPr lang="en-US" sz="1900" dirty="0">
                <a:latin typeface="Times New Roman" panose="02020603050405020304" pitchFamily="18" charset="0"/>
                <a:cs typeface="Times New Roman" panose="02020603050405020304" pitchFamily="18" charset="0"/>
              </a:rPr>
              <a:t>once we’ve made our investment at </a:t>
            </a:r>
            <a:r>
              <a:rPr lang="en-US" sz="1900" b="1" dirty="0">
                <a:latin typeface="Times New Roman" panose="02020603050405020304" pitchFamily="18" charset="0"/>
                <a:cs typeface="Times New Roman" panose="02020603050405020304" pitchFamily="18" charset="0"/>
              </a:rPr>
              <a:t>age 39</a:t>
            </a:r>
            <a:r>
              <a:rPr lang="en-US" sz="1900" dirty="0">
                <a:latin typeface="Times New Roman" panose="02020603050405020304" pitchFamily="18" charset="0"/>
                <a:cs typeface="Times New Roman" panose="02020603050405020304" pitchFamily="18" charset="0"/>
              </a:rPr>
              <a:t>. Or we can see that </a:t>
            </a:r>
            <a:r>
              <a:rPr lang="en-US" sz="1900" b="1" dirty="0">
                <a:latin typeface="Times New Roman" panose="02020603050405020304" pitchFamily="18" charset="0"/>
                <a:cs typeface="Times New Roman" panose="02020603050405020304" pitchFamily="18" charset="0"/>
              </a:rPr>
              <a:t>we’ll cross the </a:t>
            </a:r>
            <a:r>
              <a:rPr lang="en-US" sz="1900" b="1" dirty="0"/>
              <a:t>₱</a:t>
            </a:r>
            <a:r>
              <a:rPr lang="en-US" sz="1900" b="1" dirty="0">
                <a:latin typeface="Times New Roman" panose="02020603050405020304" pitchFamily="18" charset="0"/>
                <a:cs typeface="Times New Roman" panose="02020603050405020304" pitchFamily="18" charset="0"/>
              </a:rPr>
              <a:t>30,000 mark once we make our investment at age 35</a:t>
            </a:r>
            <a:r>
              <a:rPr lang="en-US" sz="1900" dirty="0">
                <a:latin typeface="Times New Roman" panose="02020603050405020304" pitchFamily="18" charset="0"/>
                <a:cs typeface="Times New Roman" panose="02020603050405020304" pitchFamily="18" charset="0"/>
              </a:rPr>
              <a:t>.</a:t>
            </a:r>
          </a:p>
        </p:txBody>
      </p:sp>
      <p:grpSp>
        <p:nvGrpSpPr>
          <p:cNvPr id="2" name="Group 1">
            <a:extLst>
              <a:ext uri="{FF2B5EF4-FFF2-40B4-BE49-F238E27FC236}">
                <a16:creationId xmlns:a16="http://schemas.microsoft.com/office/drawing/2014/main" id="{780433FA-D6FD-B238-C8D7-581A7A5776E1}"/>
              </a:ext>
            </a:extLst>
          </p:cNvPr>
          <p:cNvGrpSpPr/>
          <p:nvPr/>
        </p:nvGrpSpPr>
        <p:grpSpPr>
          <a:xfrm>
            <a:off x="0" y="6544092"/>
            <a:ext cx="12192000" cy="313908"/>
            <a:chOff x="0" y="6544092"/>
            <a:chExt cx="12192000" cy="313908"/>
          </a:xfrm>
        </p:grpSpPr>
        <p:sp>
          <p:nvSpPr>
            <p:cNvPr id="3" name="Rectangle 2">
              <a:extLst>
                <a:ext uri="{FF2B5EF4-FFF2-40B4-BE49-F238E27FC236}">
                  <a16:creationId xmlns:a16="http://schemas.microsoft.com/office/drawing/2014/main" id="{1DA1C4BB-F760-F940-5C90-9AF285B9CB68}"/>
                </a:ext>
              </a:extLst>
            </p:cNvPr>
            <p:cNvSpPr/>
            <p:nvPr/>
          </p:nvSpPr>
          <p:spPr>
            <a:xfrm>
              <a:off x="0" y="6544092"/>
              <a:ext cx="12192000" cy="31390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8" name="TextBox 10">
              <a:extLst>
                <a:ext uri="{FF2B5EF4-FFF2-40B4-BE49-F238E27FC236}">
                  <a16:creationId xmlns:a16="http://schemas.microsoft.com/office/drawing/2014/main" id="{71AF50CA-5BFE-724A-3277-76CFED0BA542}"/>
                </a:ext>
              </a:extLst>
            </p:cNvPr>
            <p:cNvSpPr txBox="1"/>
            <p:nvPr/>
          </p:nvSpPr>
          <p:spPr>
            <a:xfrm>
              <a:off x="109932" y="6577518"/>
              <a:ext cx="2794997" cy="247055"/>
            </a:xfrm>
            <a:prstGeom prst="rect">
              <a:avLst/>
            </a:prstGeom>
            <a:noFill/>
          </p:spPr>
          <p:txBody>
            <a:bodyPr lIns="0" tIns="0" rIns="0" bIns="0" rtlCol="0" anchor="ctr">
              <a:spAutoFit/>
            </a:bodyPr>
            <a:lstStyle/>
            <a:p>
              <a:pPr algn="just">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ENGR. VIOLDAN E. BAYOCOT</a:t>
              </a:r>
            </a:p>
          </p:txBody>
        </p:sp>
        <p:sp>
          <p:nvSpPr>
            <p:cNvPr id="12" name="TextBox 11">
              <a:extLst>
                <a:ext uri="{FF2B5EF4-FFF2-40B4-BE49-F238E27FC236}">
                  <a16:creationId xmlns:a16="http://schemas.microsoft.com/office/drawing/2014/main" id="{E37B159C-0833-F4F3-AB25-740B18A1ED48}"/>
                </a:ext>
              </a:extLst>
            </p:cNvPr>
            <p:cNvSpPr txBox="1"/>
            <p:nvPr/>
          </p:nvSpPr>
          <p:spPr>
            <a:xfrm>
              <a:off x="3158929" y="6577518"/>
              <a:ext cx="5433668" cy="248145"/>
            </a:xfrm>
            <a:prstGeom prst="rect">
              <a:avLst/>
            </a:prstGeom>
            <a:noFill/>
          </p:spPr>
          <p:txBody>
            <a:bodyPr wrap="square" lIns="0" tIns="0" rIns="0" bIns="0" rtlCol="0" anchor="t">
              <a:spAutoFit/>
            </a:bodyPr>
            <a:lstStyle/>
            <a:p>
              <a:pPr algn="ct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[Krista K.] BECOME A PROBABILITY &amp; STATISTICS MASTER</a:t>
              </a:r>
            </a:p>
          </p:txBody>
        </p:sp>
        <p:sp>
          <p:nvSpPr>
            <p:cNvPr id="13" name="TextBox 12">
              <a:extLst>
                <a:ext uri="{FF2B5EF4-FFF2-40B4-BE49-F238E27FC236}">
                  <a16:creationId xmlns:a16="http://schemas.microsoft.com/office/drawing/2014/main" id="{3CE4618F-672A-4485-93E1-41E0D88B3D75}"/>
                </a:ext>
              </a:extLst>
            </p:cNvPr>
            <p:cNvSpPr txBox="1"/>
            <p:nvPr/>
          </p:nvSpPr>
          <p:spPr>
            <a:xfrm>
              <a:off x="8387007" y="6577518"/>
              <a:ext cx="3701763" cy="248145"/>
            </a:xfrm>
            <a:prstGeom prst="rect">
              <a:avLst/>
            </a:prstGeom>
            <a:noFill/>
          </p:spPr>
          <p:txBody>
            <a:bodyPr wrap="square" lIns="0" tIns="0" rIns="0" bIns="0" rtlCol="0" anchor="t">
              <a:spAutoFit/>
            </a:bodyPr>
            <a:lstStyle/>
            <a:p>
              <a:pPr algn="r">
                <a:lnSpc>
                  <a:spcPts val="2100"/>
                </a:lnSpc>
              </a:pPr>
              <a:r>
                <a:rPr lang="en-US" sz="1200" b="1" dirty="0">
                  <a:solidFill>
                    <a:schemeClr val="bg1"/>
                  </a:solidFill>
                  <a:latin typeface="Courier New" panose="02070309020205020404" pitchFamily="49" charset="0"/>
                  <a:ea typeface="Gotham Bold"/>
                  <a:cs typeface="Courier New" panose="02070309020205020404" pitchFamily="49" charset="0"/>
                  <a:sym typeface="Gotham Bold"/>
                </a:rPr>
                <a:t>QUANTITATIVE METHODS</a:t>
              </a:r>
            </a:p>
          </p:txBody>
        </p:sp>
      </p:grpSp>
      <p:pic>
        <p:nvPicPr>
          <p:cNvPr id="6" name="Picture 5">
            <a:extLst>
              <a:ext uri="{FF2B5EF4-FFF2-40B4-BE49-F238E27FC236}">
                <a16:creationId xmlns:a16="http://schemas.microsoft.com/office/drawing/2014/main" id="{BCD1182C-012E-58DC-ABEA-B45A991FAB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0167" y="1475435"/>
            <a:ext cx="8171664" cy="4904090"/>
          </a:xfrm>
          <a:prstGeom prst="rect">
            <a:avLst/>
          </a:prstGeom>
        </p:spPr>
      </p:pic>
    </p:spTree>
    <p:extLst>
      <p:ext uri="{BB962C8B-B14F-4D97-AF65-F5344CB8AC3E}">
        <p14:creationId xmlns:p14="http://schemas.microsoft.com/office/powerpoint/2010/main" val="19889289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5250B27-C965-953B-B018-76856F2EC733}"/>
              </a:ext>
            </a:extLst>
          </p:cNvPr>
          <p:cNvSpPr/>
          <p:nvPr/>
        </p:nvSpPr>
        <p:spPr>
          <a:xfrm>
            <a:off x="482334" y="5613400"/>
            <a:ext cx="11224297" cy="57283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6" name="Freeform 6"/>
          <p:cNvSpPr/>
          <p:nvPr/>
        </p:nvSpPr>
        <p:spPr>
          <a:xfrm>
            <a:off x="706839" y="5743367"/>
            <a:ext cx="279671" cy="279671"/>
          </a:xfrm>
          <a:custGeom>
            <a:avLst/>
            <a:gdLst/>
            <a:ahLst/>
            <a:cxnLst/>
            <a:rect l="l" t="t" r="r" b="b"/>
            <a:pathLst>
              <a:path w="559342" h="559342">
                <a:moveTo>
                  <a:pt x="0" y="0"/>
                </a:moveTo>
                <a:lnTo>
                  <a:pt x="559342" y="0"/>
                </a:lnTo>
                <a:lnTo>
                  <a:pt x="559342" y="559342"/>
                </a:lnTo>
                <a:lnTo>
                  <a:pt x="0" y="559342"/>
                </a:lnTo>
                <a:lnTo>
                  <a:pt x="0" y="0"/>
                </a:lnTo>
                <a:close/>
              </a:path>
            </a:pathLst>
          </a:custGeom>
          <a:solidFill>
            <a:schemeClr val="tx1"/>
          </a:solidFill>
        </p:spPr>
      </p:sp>
      <p:sp>
        <p:nvSpPr>
          <p:cNvPr id="7" name="TextBox 7"/>
          <p:cNvSpPr txBox="1"/>
          <p:nvPr/>
        </p:nvSpPr>
        <p:spPr>
          <a:xfrm>
            <a:off x="7460367" y="5779175"/>
            <a:ext cx="4024794" cy="241285"/>
          </a:xfrm>
          <a:prstGeom prst="rect">
            <a:avLst/>
          </a:prstGeom>
          <a:noFill/>
        </p:spPr>
        <p:txBody>
          <a:bodyPr lIns="0" tIns="0" rIns="0" bIns="0" rtlCol="0" anchor="t">
            <a:spAutoFit/>
          </a:bodyPr>
          <a:lstStyle/>
          <a:p>
            <a:pPr algn="r">
              <a:lnSpc>
                <a:spcPts val="2053"/>
              </a:lnSpc>
            </a:pPr>
            <a:r>
              <a:rPr lang="en-US" sz="1400" b="1" dirty="0">
                <a:solidFill>
                  <a:srgbClr val="FEFEFE"/>
                </a:solidFill>
                <a:latin typeface="Century Schoolbook" panose="02040604050505020304" pitchFamily="18" charset="0"/>
                <a:ea typeface="Gotham Bold"/>
                <a:cs typeface="Courier New" panose="02070309020205020404" pitchFamily="49" charset="0"/>
                <a:sym typeface="Gotham Bold"/>
              </a:rPr>
              <a:t>SCHOOL OF COMPUTER STUDIES</a:t>
            </a:r>
          </a:p>
        </p:txBody>
      </p:sp>
      <p:sp>
        <p:nvSpPr>
          <p:cNvPr id="8" name="TextBox 8"/>
          <p:cNvSpPr txBox="1"/>
          <p:nvPr/>
        </p:nvSpPr>
        <p:spPr>
          <a:xfrm>
            <a:off x="679083" y="5779176"/>
            <a:ext cx="4024795" cy="241285"/>
          </a:xfrm>
          <a:prstGeom prst="rect">
            <a:avLst/>
          </a:prstGeom>
          <a:noFill/>
        </p:spPr>
        <p:txBody>
          <a:bodyPr wrap="square" lIns="0" tIns="0" rIns="0" bIns="0" rtlCol="0" anchor="t">
            <a:spAutoFit/>
          </a:bodyPr>
          <a:lstStyle/>
          <a:p>
            <a:pPr algn="just">
              <a:lnSpc>
                <a:spcPts val="2053"/>
              </a:lnSpc>
            </a:pPr>
            <a:r>
              <a:rPr lang="en-US" sz="1400" b="1" dirty="0">
                <a:solidFill>
                  <a:srgbClr val="FEFEFE"/>
                </a:solidFill>
                <a:latin typeface="Century Schoolbook" panose="02040604050505020304" pitchFamily="18" charset="0"/>
                <a:ea typeface="Gotham Bold"/>
                <a:cs typeface="Courier New" panose="02070309020205020404" pitchFamily="49" charset="0"/>
                <a:sym typeface="Gotham Bold"/>
              </a:rPr>
              <a:t>ENGR. VIOLDAN E. BAYOCOT</a:t>
            </a:r>
          </a:p>
        </p:txBody>
      </p:sp>
      <p:sp>
        <p:nvSpPr>
          <p:cNvPr id="13" name="TextBox 13"/>
          <p:cNvSpPr txBox="1"/>
          <p:nvPr/>
        </p:nvSpPr>
        <p:spPr>
          <a:xfrm>
            <a:off x="1543778" y="3650478"/>
            <a:ext cx="9104443" cy="592726"/>
          </a:xfrm>
          <a:prstGeom prst="rect">
            <a:avLst/>
          </a:prstGeom>
        </p:spPr>
        <p:txBody>
          <a:bodyPr lIns="0" tIns="0" rIns="0" bIns="0" rtlCol="0" anchor="t">
            <a:spAutoFit/>
          </a:bodyPr>
          <a:lstStyle/>
          <a:p>
            <a:pPr algn="ctr">
              <a:lnSpc>
                <a:spcPts val="2426"/>
              </a:lnSpc>
            </a:pPr>
            <a:r>
              <a:rPr lang="en-US" b="1" i="1" dirty="0">
                <a:latin typeface="Times New Roman" panose="02020603050405020304" pitchFamily="18" charset="0"/>
                <a:ea typeface="Roboto Bold Italics"/>
                <a:cs typeface="Times New Roman" panose="02020603050405020304" pitchFamily="18" charset="0"/>
                <a:sym typeface="Roboto Bold Italics"/>
              </a:rPr>
              <a:t>“The greatest value of a picture is when it forces us to notice what we never expected to see.”</a:t>
            </a:r>
          </a:p>
          <a:p>
            <a:pPr algn="ctr">
              <a:lnSpc>
                <a:spcPts val="2426"/>
              </a:lnSpc>
              <a:spcBef>
                <a:spcPct val="0"/>
              </a:spcBef>
            </a:pPr>
            <a:r>
              <a:rPr lang="en-US" b="1" i="1" dirty="0">
                <a:latin typeface="Times New Roman" panose="02020603050405020304" pitchFamily="18" charset="0"/>
                <a:ea typeface="Roboto Bold Italics"/>
                <a:cs typeface="Times New Roman" panose="02020603050405020304" pitchFamily="18" charset="0"/>
                <a:sym typeface="Roboto Bold Italics"/>
              </a:rPr>
              <a:t> </a:t>
            </a:r>
            <a:r>
              <a:rPr lang="en-US" i="1" dirty="0">
                <a:latin typeface="Times New Roman" panose="02020603050405020304" pitchFamily="18" charset="0"/>
                <a:ea typeface="Roboto Italics"/>
                <a:cs typeface="Times New Roman" panose="02020603050405020304" pitchFamily="18" charset="0"/>
                <a:sym typeface="Roboto Italics"/>
              </a:rPr>
              <a:t>— John W. Tukey</a:t>
            </a:r>
          </a:p>
        </p:txBody>
      </p:sp>
      <p:sp>
        <p:nvSpPr>
          <p:cNvPr id="14" name="AutoShape 14"/>
          <p:cNvSpPr/>
          <p:nvPr/>
        </p:nvSpPr>
        <p:spPr>
          <a:xfrm flipV="1">
            <a:off x="5425441" y="698500"/>
            <a:ext cx="6282709" cy="0"/>
          </a:xfrm>
          <a:prstGeom prst="line">
            <a:avLst/>
          </a:prstGeom>
          <a:ln w="38100" cap="flat">
            <a:solidFill>
              <a:schemeClr val="tx1"/>
            </a:solidFill>
            <a:prstDash val="solid"/>
            <a:headEnd type="none" w="sm" len="sm"/>
            <a:tailEnd type="none" w="sm" len="sm"/>
          </a:ln>
        </p:spPr>
      </p:sp>
      <p:sp>
        <p:nvSpPr>
          <p:cNvPr id="15" name="TextBox 15"/>
          <p:cNvSpPr txBox="1"/>
          <p:nvPr/>
        </p:nvSpPr>
        <p:spPr>
          <a:xfrm>
            <a:off x="1096913" y="550136"/>
            <a:ext cx="4225985" cy="243143"/>
          </a:xfrm>
          <a:prstGeom prst="rect">
            <a:avLst/>
          </a:prstGeom>
        </p:spPr>
        <p:txBody>
          <a:bodyPr lIns="0" tIns="0" rIns="0" bIns="0" rtlCol="0" anchor="t">
            <a:spAutoFit/>
          </a:bodyPr>
          <a:lstStyle/>
          <a:p>
            <a:pPr>
              <a:lnSpc>
                <a:spcPts val="2055"/>
              </a:lnSpc>
              <a:spcBef>
                <a:spcPct val="0"/>
              </a:spcBef>
            </a:pPr>
            <a:r>
              <a:rPr lang="en-US" sz="1467" b="1" dirty="0">
                <a:latin typeface="Century Schoolbook" panose="02040604050505020304" pitchFamily="18" charset="0"/>
                <a:ea typeface="Hagrid Ultra-Bold"/>
                <a:cs typeface="Courier New" panose="02070309020205020404" pitchFamily="49" charset="0"/>
                <a:sym typeface="Hagrid Ultra-Bold"/>
              </a:rPr>
              <a:t>UNIVERSITY OF SAN JOSE - RECOLETOS</a:t>
            </a:r>
          </a:p>
        </p:txBody>
      </p:sp>
      <p:grpSp>
        <p:nvGrpSpPr>
          <p:cNvPr id="16" name="Group 16"/>
          <p:cNvGrpSpPr/>
          <p:nvPr/>
        </p:nvGrpSpPr>
        <p:grpSpPr>
          <a:xfrm>
            <a:off x="483853" y="442979"/>
            <a:ext cx="511045" cy="511045"/>
            <a:chOff x="0" y="0"/>
            <a:chExt cx="812800" cy="812800"/>
          </a:xfrm>
        </p:grpSpPr>
        <p:sp>
          <p:nvSpPr>
            <p:cNvPr id="17" name="Freeform 17"/>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2"/>
              <a:stretch>
                <a:fillRect t="-2173" b="-2173"/>
              </a:stretch>
            </a:blipFill>
          </p:spPr>
        </p:sp>
      </p:grpSp>
      <p:sp>
        <p:nvSpPr>
          <p:cNvPr id="2" name="Rectangle 1">
            <a:extLst>
              <a:ext uri="{FF2B5EF4-FFF2-40B4-BE49-F238E27FC236}">
                <a16:creationId xmlns:a16="http://schemas.microsoft.com/office/drawing/2014/main" id="{5F05A356-EEFE-EF51-C398-90E7CC543D14}"/>
              </a:ext>
            </a:extLst>
          </p:cNvPr>
          <p:cNvSpPr/>
          <p:nvPr/>
        </p:nvSpPr>
        <p:spPr>
          <a:xfrm>
            <a:off x="1543778" y="1787546"/>
            <a:ext cx="9104443" cy="172694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600" b="1" dirty="0">
              <a:solidFill>
                <a:srgbClr val="F3E4C8"/>
              </a:solidFill>
              <a:latin typeface="Century Schoolbook" panose="02040604050505020304" pitchFamily="18" charset="0"/>
            </a:endParaRPr>
          </a:p>
        </p:txBody>
      </p:sp>
      <p:sp>
        <p:nvSpPr>
          <p:cNvPr id="18" name="Content Placeholder 2">
            <a:extLst>
              <a:ext uri="{FF2B5EF4-FFF2-40B4-BE49-F238E27FC236}">
                <a16:creationId xmlns:a16="http://schemas.microsoft.com/office/drawing/2014/main" id="{DFF8AD98-40E6-415C-AD9A-DD77DEDAEE00}"/>
              </a:ext>
            </a:extLst>
          </p:cNvPr>
          <p:cNvSpPr txBox="1">
            <a:spLocks/>
          </p:cNvSpPr>
          <p:nvPr/>
        </p:nvSpPr>
        <p:spPr>
          <a:xfrm>
            <a:off x="1543777" y="1787547"/>
            <a:ext cx="9104443" cy="1726944"/>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PH" sz="10000" b="1" dirty="0">
                <a:solidFill>
                  <a:schemeClr val="bg1"/>
                </a:solidFill>
                <a:latin typeface="Times New Roman" panose="02020603050405020304" pitchFamily="18" charset="0"/>
                <a:cs typeface="Times New Roman" panose="02020603050405020304" pitchFamily="18" charset="0"/>
              </a:rPr>
              <a:t>THANK YOU!</a:t>
            </a:r>
            <a:endParaRPr lang="en-PH" sz="10000" b="1" dirty="0">
              <a:solidFill>
                <a:schemeClr val="bg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78054357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9806</TotalTime>
  <Words>4078</Words>
  <Application>Microsoft Office PowerPoint</Application>
  <PresentationFormat>Widescreen</PresentationFormat>
  <Paragraphs>1043</Paragraphs>
  <Slides>30</Slides>
  <Notes>26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Calibri</vt:lpstr>
      <vt:lpstr>Calibri Light</vt:lpstr>
      <vt:lpstr>Century Schoolbook</vt:lpstr>
      <vt:lpstr>Courier New</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OPERATING SYSTEMS</dc:title>
  <dc:creator>SCS</dc:creator>
  <cp:lastModifiedBy>Decr0zeath</cp:lastModifiedBy>
  <cp:revision>878</cp:revision>
  <dcterms:created xsi:type="dcterms:W3CDTF">2025-06-13T17:52:43Z</dcterms:created>
  <dcterms:modified xsi:type="dcterms:W3CDTF">2026-02-26T14:49:48Z</dcterms:modified>
</cp:coreProperties>
</file>